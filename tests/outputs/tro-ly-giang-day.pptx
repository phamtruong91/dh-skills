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uổi học" id="{1e094256-af77-1d9f-d83e-601ac9bd0ff1}">
          <p14:sldIdLst>
            <p14:sldId id="256"/>
            <p14:sldId id="257"/>
            <p14:sldId id="258"/>
          </p14:sldIdLst>
        </p14:section>
        <p14:section name="Nội dung" id="{3e832712-9523-3a5a-d526-d131f0bf3f8c}">
          <p14:sldIdLst>
            <p14:sldId id="259"/>
            <p14:sldId id="260"/>
          </p14:sldIdLst>
        </p14:section>
        <p14:section name="Hoạt động" id="{7c9de7ce-c1f2-4045-435d-f038d549ef9a}">
          <p14:sldIdLst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Chào lớp, nêu chủ đề và thời lượng buổi học 90 phút. Lưu ý cho giảng viên: tổng thời gian các hoạt động đề xuất là 100 phút, vượt 10 phút so với thời lượng; cần quyết định bớt hoạt động nào trước khi dạy.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Mục tiêu bám chuẩn đầu ra trong đề cương học phần. Không thêm mục tiêu ngoài đề cương.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Tiến trình theo thời gian. Thời lượng hiển thị đúng như đề xuất: 10, 25, 35, 20, 10 phút, tổng 100 phút. Cần giảng viên quyết định bớt 10 phút.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Khái niệm rủi ro: xác suất và tác động. Phân biệt rủi ro với vấn đề đã xảy ra. Hỏi sinh viên một ví dụ trong dự án tốt nghiệp của họ.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cách đọc ma trận ba nhân ba. Ô góc trên bên phải là rủi ro cần ứng phó trước.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Nhóm 4 người, 35 phút. Mỗi nhóm nêu ít nhất 5 rủi ro, xếp vào ma trận và đề xuất một biện pháp ứng phó cho rủi ro cao nhất.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Nhắc lại ba mục tiêu. Bài tập: hoàn thiện ma trận của nhóm. Nội dung ngoài đề cương học phần không đưa vào buổi này.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Dành thời gian còn lại cho câu hỏi. Nhắc hạn nộp bài tập theo thông báo của giảng viên.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TITLE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CLOSING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uy hiệu mẫu (thay bằng logo của trườn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Trường Đại học Mẫu A (tên mẫu)</a:t>
            </a: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1417320"/>
            <a:ext cx="60350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3154680"/>
            <a:ext cx="60350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uy hiệu mẫu (thay bằng logo của trườn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Trường Đại học Mẫu A (tên mẫu)</a:t>
            </a: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1417320"/>
            <a:ext cx="60350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3154680"/>
            <a:ext cx="60350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097280"/>
            <a:ext cx="22860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b="1" dirty="0">
                <a:solidFill>
                  <a:srgbClr val="B89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926080" y="109728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B2A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47274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Quản trị dự án · Quản trị rủi ro dự án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141732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Quản trị rủi ro dự án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31546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Học phần Quản trị dự án · Buổi học 90 phút · Sinh viên năm thứ ba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4A"/>
                </a:solidFill>
              </a:rPr>
              <a:t>Cuối buổi, bạn làm được ba việc</a:t>
            </a:r>
            <a:endParaRPr lang="en-US" sz="2800" dirty="0"/>
          </a:p>
        </p:txBody>
      </p:sp>
      <p:sp>
        <p:nvSpPr>
          <p:cNvPr id="4" name="the"/>
          <p:cNvSpPr/>
          <p:nvPr/>
        </p:nvSpPr>
        <p:spPr>
          <a:xfrm>
            <a:off x="548640" y="132588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5" name="so-thu-tu"/>
          <p:cNvSpPr/>
          <p:nvPr/>
        </p:nvSpPr>
        <p:spPr>
          <a:xfrm>
            <a:off x="777240" y="1463040"/>
            <a:ext cx="594360" cy="59436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6" name="so-thu-tu-chu"/>
          <p:cNvSpPr txBox="1"/>
          <p:nvPr/>
        </p:nvSpPr>
        <p:spPr>
          <a:xfrm>
            <a:off x="77724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he-chu"/>
          <p:cNvSpPr txBox="1"/>
          <p:nvPr/>
        </p:nvSpPr>
        <p:spPr>
          <a:xfrm>
            <a:off x="1600200" y="1399032"/>
            <a:ext cx="6766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</a:rPr>
              <a:t>Nhận diện được rủi ro của dự án</a:t>
            </a:r>
            <a:endParaRPr lang="en-US" sz="1800" dirty="0"/>
          </a:p>
        </p:txBody>
      </p:sp>
      <p:sp>
        <p:nvSpPr>
          <p:cNvPr id="8" name="the"/>
          <p:cNvSpPr/>
          <p:nvPr/>
        </p:nvSpPr>
        <p:spPr>
          <a:xfrm>
            <a:off x="548640" y="233172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so-thu-tu"/>
          <p:cNvSpPr/>
          <p:nvPr/>
        </p:nvSpPr>
        <p:spPr>
          <a:xfrm>
            <a:off x="777240" y="2468880"/>
            <a:ext cx="594360" cy="59436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0" name="so-thu-tu-chu"/>
          <p:cNvSpPr txBox="1"/>
          <p:nvPr/>
        </p:nvSpPr>
        <p:spPr>
          <a:xfrm>
            <a:off x="777240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he-chu"/>
          <p:cNvSpPr txBox="1"/>
          <p:nvPr/>
        </p:nvSpPr>
        <p:spPr>
          <a:xfrm>
            <a:off x="1600200" y="2404872"/>
            <a:ext cx="6766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</a:rPr>
              <a:t>Đánh giá được mức độ rủi ro bằng ma trận xác suất – tác động</a:t>
            </a:r>
            <a:endParaRPr lang="en-US" sz="1800" dirty="0"/>
          </a:p>
        </p:txBody>
      </p:sp>
      <p:sp>
        <p:nvSpPr>
          <p:cNvPr id="12" name="the"/>
          <p:cNvSpPr/>
          <p:nvPr/>
        </p:nvSpPr>
        <p:spPr>
          <a:xfrm>
            <a:off x="548640" y="333756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3" name="so-thu-tu"/>
          <p:cNvSpPr/>
          <p:nvPr/>
        </p:nvSpPr>
        <p:spPr>
          <a:xfrm>
            <a:off x="777240" y="3474720"/>
            <a:ext cx="594360" cy="59436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4" name="so-thu-tu-chu"/>
          <p:cNvSpPr txBox="1"/>
          <p:nvPr/>
        </p:nvSpPr>
        <p:spPr>
          <a:xfrm>
            <a:off x="777240" y="3474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he-chu"/>
          <p:cNvSpPr txBox="1"/>
          <p:nvPr/>
        </p:nvSpPr>
        <p:spPr>
          <a:xfrm>
            <a:off x="1600200" y="3410712"/>
            <a:ext cx="6766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</a:rPr>
              <a:t>Đề xuất được biện pháp ứng phó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4A"/>
                </a:solidFill>
              </a:rPr>
              <a:t>Buổi học gồm năm hoạt động</a:t>
            </a:r>
            <a:endParaRPr lang="en-US" sz="2800" dirty="0"/>
          </a:p>
        </p:txBody>
      </p:sp>
      <p:sp>
        <p:nvSpPr>
          <p:cNvPr id="4" name="thanh-thoi-gian"/>
          <p:cNvSpPr/>
          <p:nvPr/>
        </p:nvSpPr>
        <p:spPr>
          <a:xfrm>
            <a:off x="548640" y="1325880"/>
            <a:ext cx="758952" cy="59436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5" name="thanh-thoi-gian-chu"/>
          <p:cNvSpPr txBox="1"/>
          <p:nvPr/>
        </p:nvSpPr>
        <p:spPr>
          <a:xfrm>
            <a:off x="548640" y="1325880"/>
            <a:ext cx="758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10'</a:t>
            </a:r>
            <a:endParaRPr lang="en-US" sz="1600" dirty="0"/>
          </a:p>
        </p:txBody>
      </p:sp>
      <p:sp>
        <p:nvSpPr>
          <p:cNvPr id="6" name="cham-mau"/>
          <p:cNvSpPr/>
          <p:nvPr/>
        </p:nvSpPr>
        <p:spPr>
          <a:xfrm>
            <a:off x="548640" y="2194560"/>
            <a:ext cx="237744" cy="237744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7" name="hoat-dong"/>
          <p:cNvSpPr txBox="1"/>
          <p:nvPr/>
        </p:nvSpPr>
        <p:spPr>
          <a:xfrm>
            <a:off x="960120" y="214884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3"/>
                </a:solidFill>
              </a:rPr>
              <a:t>Khởi động: tình huống dự án trễ hạn (10 phút)</a:t>
            </a:r>
            <a:endParaRPr lang="en-US" sz="1600" dirty="0"/>
          </a:p>
        </p:txBody>
      </p:sp>
      <p:sp>
        <p:nvSpPr>
          <p:cNvPr id="8" name="thanh-thoi-gian"/>
          <p:cNvSpPr/>
          <p:nvPr/>
        </p:nvSpPr>
        <p:spPr>
          <a:xfrm>
            <a:off x="1353312" y="1325880"/>
            <a:ext cx="1965960" cy="594360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9" name="thanh-thoi-gian-chu"/>
          <p:cNvSpPr txBox="1"/>
          <p:nvPr/>
        </p:nvSpPr>
        <p:spPr>
          <a:xfrm>
            <a:off x="1353312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25'</a:t>
            </a:r>
            <a:endParaRPr lang="en-US" sz="1600" dirty="0"/>
          </a:p>
        </p:txBody>
      </p:sp>
      <p:sp>
        <p:nvSpPr>
          <p:cNvPr id="10" name="cham-mau"/>
          <p:cNvSpPr/>
          <p:nvPr/>
        </p:nvSpPr>
        <p:spPr>
          <a:xfrm>
            <a:off x="548640" y="2615184"/>
            <a:ext cx="237744" cy="237744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hoat-dong"/>
          <p:cNvSpPr txBox="1"/>
          <p:nvPr/>
        </p:nvSpPr>
        <p:spPr>
          <a:xfrm>
            <a:off x="960120" y="2569464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3"/>
                </a:solidFill>
              </a:rPr>
              <a:t>Giảng: nhận diện và phân loại rủi ro (25 phút)</a:t>
            </a:r>
            <a:endParaRPr lang="en-US" sz="1600" dirty="0"/>
          </a:p>
        </p:txBody>
      </p:sp>
      <p:sp>
        <p:nvSpPr>
          <p:cNvPr id="12" name="thanh-thoi-gian"/>
          <p:cNvSpPr/>
          <p:nvPr/>
        </p:nvSpPr>
        <p:spPr>
          <a:xfrm>
            <a:off x="3364992" y="1325880"/>
            <a:ext cx="2770632" cy="594360"/>
          </a:xfrm>
          <a:prstGeom prst="rect">
            <a:avLst/>
          </a:prstGeom>
          <a:solidFill>
            <a:srgbClr val="B8902B"/>
          </a:solidFill>
          <a:ln w="12700">
            <a:solidFill>
              <a:srgbClr val="B8902B"/>
            </a:solidFill>
            <a:prstDash val="solid"/>
          </a:ln>
        </p:spPr>
      </p:sp>
      <p:sp>
        <p:nvSpPr>
          <p:cNvPr id="13" name="thanh-thoi-gian-chu"/>
          <p:cNvSpPr txBox="1"/>
          <p:nvPr/>
        </p:nvSpPr>
        <p:spPr>
          <a:xfrm>
            <a:off x="3364992" y="1325880"/>
            <a:ext cx="2770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35'</a:t>
            </a:r>
            <a:endParaRPr lang="en-US" sz="1600" dirty="0"/>
          </a:p>
        </p:txBody>
      </p:sp>
      <p:sp>
        <p:nvSpPr>
          <p:cNvPr id="14" name="cham-mau"/>
          <p:cNvSpPr/>
          <p:nvPr/>
        </p:nvSpPr>
        <p:spPr>
          <a:xfrm>
            <a:off x="548640" y="3035808"/>
            <a:ext cx="237744" cy="237744"/>
          </a:xfrm>
          <a:prstGeom prst="ellipse">
            <a:avLst/>
          </a:prstGeom>
          <a:solidFill>
            <a:srgbClr val="B8902B"/>
          </a:solidFill>
          <a:ln w="12700">
            <a:solidFill>
              <a:srgbClr val="B8902B"/>
            </a:solidFill>
            <a:prstDash val="solid"/>
          </a:ln>
        </p:spPr>
      </p:sp>
      <p:sp>
        <p:nvSpPr>
          <p:cNvPr id="15" name="hoat-dong"/>
          <p:cNvSpPr txBox="1"/>
          <p:nvPr/>
        </p:nvSpPr>
        <p:spPr>
          <a:xfrm>
            <a:off x="960120" y="299008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3"/>
                </a:solidFill>
              </a:rPr>
              <a:t>Thực hành: lập ma trận rủi ro theo nhóm (35 phút)</a:t>
            </a:r>
            <a:endParaRPr lang="en-US" sz="1600" dirty="0"/>
          </a:p>
        </p:txBody>
      </p:sp>
      <p:sp>
        <p:nvSpPr>
          <p:cNvPr id="16" name="thanh-thoi-gian"/>
          <p:cNvSpPr/>
          <p:nvPr/>
        </p:nvSpPr>
        <p:spPr>
          <a:xfrm>
            <a:off x="6181344" y="1325880"/>
            <a:ext cx="1563624" cy="59436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7" name="thanh-thoi-gian-chu"/>
          <p:cNvSpPr txBox="1"/>
          <p:nvPr/>
        </p:nvSpPr>
        <p:spPr>
          <a:xfrm>
            <a:off x="6181344" y="1325880"/>
            <a:ext cx="1563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20'</a:t>
            </a:r>
            <a:endParaRPr lang="en-US" sz="1600" dirty="0"/>
          </a:p>
        </p:txBody>
      </p:sp>
      <p:sp>
        <p:nvSpPr>
          <p:cNvPr id="18" name="cham-mau"/>
          <p:cNvSpPr/>
          <p:nvPr/>
        </p:nvSpPr>
        <p:spPr>
          <a:xfrm>
            <a:off x="548640" y="3456432"/>
            <a:ext cx="237744" cy="237744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9" name="hoat-dong"/>
          <p:cNvSpPr txBox="1"/>
          <p:nvPr/>
        </p:nvSpPr>
        <p:spPr>
          <a:xfrm>
            <a:off x="960120" y="3410712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3"/>
                </a:solidFill>
              </a:rPr>
              <a:t>Thảo luận và phản hồi (20 phút)</a:t>
            </a:r>
            <a:endParaRPr lang="en-US" sz="1600" dirty="0"/>
          </a:p>
        </p:txBody>
      </p:sp>
      <p:sp>
        <p:nvSpPr>
          <p:cNvPr id="20" name="thanh-thoi-gian"/>
          <p:cNvSpPr/>
          <p:nvPr/>
        </p:nvSpPr>
        <p:spPr>
          <a:xfrm>
            <a:off x="7790688" y="1325880"/>
            <a:ext cx="758952" cy="594360"/>
          </a:xfrm>
          <a:prstGeom prst="rect">
            <a:avLst/>
          </a:prstGeom>
          <a:solidFill>
            <a:srgbClr val="6B7A90"/>
          </a:solidFill>
          <a:ln w="12700">
            <a:solidFill>
              <a:srgbClr val="6B7A90"/>
            </a:solidFill>
            <a:prstDash val="solid"/>
          </a:ln>
        </p:spPr>
      </p:sp>
      <p:sp>
        <p:nvSpPr>
          <p:cNvPr id="21" name="thanh-thoi-gian-chu"/>
          <p:cNvSpPr txBox="1"/>
          <p:nvPr/>
        </p:nvSpPr>
        <p:spPr>
          <a:xfrm>
            <a:off x="7790688" y="1325880"/>
            <a:ext cx="758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10'</a:t>
            </a:r>
            <a:endParaRPr lang="en-US" sz="1600" dirty="0"/>
          </a:p>
        </p:txBody>
      </p:sp>
      <p:sp>
        <p:nvSpPr>
          <p:cNvPr id="22" name="cham-mau"/>
          <p:cNvSpPr/>
          <p:nvPr/>
        </p:nvSpPr>
        <p:spPr>
          <a:xfrm>
            <a:off x="548640" y="3877056"/>
            <a:ext cx="237744" cy="237744"/>
          </a:xfrm>
          <a:prstGeom prst="ellipse">
            <a:avLst/>
          </a:prstGeom>
          <a:solidFill>
            <a:srgbClr val="6B7A90"/>
          </a:solidFill>
          <a:ln w="12700">
            <a:solidFill>
              <a:srgbClr val="6B7A90"/>
            </a:solidFill>
            <a:prstDash val="solid"/>
          </a:ln>
        </p:spPr>
      </p:sp>
      <p:sp>
        <p:nvSpPr>
          <p:cNvPr id="23" name="hoat-dong"/>
          <p:cNvSpPr txBox="1"/>
          <p:nvPr/>
        </p:nvSpPr>
        <p:spPr>
          <a:xfrm>
            <a:off x="960120" y="3831336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3"/>
                </a:solidFill>
              </a:rPr>
              <a:t>Tổng kết và bài tập (10 phút)</a:t>
            </a:r>
            <a:endParaRPr lang="en-US" sz="1600" dirty="0"/>
          </a:p>
        </p:txBody>
      </p:sp>
      <p:sp>
        <p:nvSpPr>
          <p:cNvPr id="24" name="nguon"/>
          <p:cNvSpPr txBox="1"/>
          <p:nvPr/>
        </p:nvSpPr>
        <p:spPr>
          <a:xfrm>
            <a:off x="548640" y="44165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0"/>
                </a:solidFill>
              </a:rPr>
              <a:t>Tổng các hoạt động: 100 phút; thời lượng buổi học: 90 phút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4A"/>
                </a:solidFill>
              </a:rPr>
              <a:t>Rủi ro là sự kiện có thể xảy ra và ảnh hưởng đến mục tiêu</a:t>
            </a:r>
            <a:endParaRPr lang="en-US" sz="2800" dirty="0"/>
          </a:p>
        </p:txBody>
      </p:sp>
      <p:sp>
        <p:nvSpPr>
          <p:cNvPr id="4" name="nhan-xet"/>
          <p:cNvSpPr/>
          <p:nvPr/>
        </p:nvSpPr>
        <p:spPr>
          <a:xfrm>
            <a:off x="548640" y="1463040"/>
            <a:ext cx="3840480" cy="2103120"/>
          </a:xfrm>
          <a:prstGeom prst="roundRect">
            <a:avLst>
              <a:gd name="adj" fmla="val 347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pic>
        <p:nvPicPr>
          <p:cNvPr id="5" name="bieu-tuong" descr="Biểu tượ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64208"/>
            <a:ext cx="274320" cy="274320"/>
          </a:xfrm>
          <a:prstGeom prst="rect">
            <a:avLst/>
          </a:prstGeom>
        </p:spPr>
      </p:pic>
      <p:sp>
        <p:nvSpPr>
          <p:cNvPr id="6" name="nhan-xet-tieu-de"/>
          <p:cNvSpPr txBox="1"/>
          <p:nvPr/>
        </p:nvSpPr>
        <p:spPr>
          <a:xfrm>
            <a:off x="1097280" y="16459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</a:rPr>
              <a:t>Rủi ro</a:t>
            </a:r>
            <a:endParaRPr lang="en-US" sz="1800" dirty="0"/>
          </a:p>
        </p:txBody>
      </p:sp>
      <p:sp>
        <p:nvSpPr>
          <p:cNvPr id="7" name="nhan-xet-chu"/>
          <p:cNvSpPr txBox="1"/>
          <p:nvPr/>
        </p:nvSpPr>
        <p:spPr>
          <a:xfrm>
            <a:off x="731520" y="21031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</a:rPr>
              <a:t>Chưa xảy ra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</a:rPr>
              <a:t>Có xác suất và tác động</a:t>
            </a:r>
            <a:endParaRPr lang="en-US" sz="1600" dirty="0"/>
          </a:p>
        </p:txBody>
      </p:sp>
      <p:sp>
        <p:nvSpPr>
          <p:cNvPr id="8" name="luu-y"/>
          <p:cNvSpPr/>
          <p:nvPr/>
        </p:nvSpPr>
        <p:spPr>
          <a:xfrm>
            <a:off x="4754880" y="1463040"/>
            <a:ext cx="3840480" cy="2103120"/>
          </a:xfrm>
          <a:prstGeom prst="roundRect">
            <a:avLst>
              <a:gd name="adj" fmla="val 3478"/>
            </a:avLst>
          </a:prstGeom>
          <a:solidFill>
            <a:srgbClr val="FBF1E1"/>
          </a:solidFill>
          <a:ln w="12700">
            <a:solidFill>
              <a:srgbClr val="B8902B"/>
            </a:solidFill>
            <a:prstDash val="solid"/>
          </a:ln>
        </p:spPr>
      </p:sp>
      <p:pic>
        <p:nvPicPr>
          <p:cNvPr id="9" name="bieu-tuong" descr="Biểu tượ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64208"/>
            <a:ext cx="274320" cy="274320"/>
          </a:xfrm>
          <a:prstGeom prst="rect">
            <a:avLst/>
          </a:prstGeom>
        </p:spPr>
      </p:pic>
      <p:sp>
        <p:nvSpPr>
          <p:cNvPr id="10" name="nhan-xet-tieu-de"/>
          <p:cNvSpPr txBox="1"/>
          <p:nvPr/>
        </p:nvSpPr>
        <p:spPr>
          <a:xfrm>
            <a:off x="5303520" y="16459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3B3B"/>
                </a:solidFill>
              </a:rPr>
              <a:t>Vấn đề</a:t>
            </a:r>
            <a:endParaRPr lang="en-US" sz="1800" dirty="0"/>
          </a:p>
        </p:txBody>
      </p:sp>
      <p:sp>
        <p:nvSpPr>
          <p:cNvPr id="11" name="nhan-xet-chu"/>
          <p:cNvSpPr txBox="1"/>
          <p:nvPr/>
        </p:nvSpPr>
        <p:spPr>
          <a:xfrm>
            <a:off x="4937760" y="21031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</a:rPr>
              <a:t>Đã xảy ra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</a:rPr>
              <a:t>Cần xử lý ngay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4A"/>
                </a:solidFill>
              </a:rPr>
              <a:t>Ma trận rủi ro: xác suất nhân với tác động</a:t>
            </a:r>
            <a:endParaRPr lang="en-US" sz="2800" dirty="0"/>
          </a:p>
        </p:txBody>
      </p:sp>
      <p:sp>
        <p:nvSpPr>
          <p:cNvPr id="4" name="truc-y-nhan"/>
          <p:cNvSpPr txBox="1"/>
          <p:nvPr/>
        </p:nvSpPr>
        <p:spPr>
          <a:xfrm>
            <a:off x="54864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</a:rPr>
              <a:t>Xác suất ↑</a:t>
            </a:r>
            <a:endParaRPr lang="en-US" sz="1400" dirty="0"/>
          </a:p>
        </p:txBody>
      </p:sp>
      <p:sp>
        <p:nvSpPr>
          <p:cNvPr id="5" name="truc-y"/>
          <p:cNvSpPr txBox="1"/>
          <p:nvPr/>
        </p:nvSpPr>
        <p:spPr>
          <a:xfrm>
            <a:off x="548640" y="15087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</a:rPr>
              <a:t>Cao</a:t>
            </a:r>
            <a:endParaRPr lang="en-US" sz="1400" dirty="0"/>
          </a:p>
        </p:txBody>
      </p:sp>
      <p:sp>
        <p:nvSpPr>
          <p:cNvPr id="6" name="o-ma-tran"/>
          <p:cNvSpPr/>
          <p:nvPr/>
        </p:nvSpPr>
        <p:spPr>
          <a:xfrm>
            <a:off x="1554480" y="1508760"/>
            <a:ext cx="2286000" cy="822960"/>
          </a:xfrm>
          <a:prstGeom prst="rect">
            <a:avLst/>
          </a:prstGeom>
          <a:solidFill>
            <a:srgbClr val="E6C3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o-ma-tran-chu"/>
          <p:cNvSpPr txBox="1"/>
          <p:nvPr/>
        </p:nvSpPr>
        <p:spPr>
          <a:xfrm>
            <a:off x="1554480" y="1508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33"/>
                </a:solidFill>
              </a:rPr>
              <a:t>Trung bình</a:t>
            </a:r>
            <a:endParaRPr lang="en-US" sz="1800" dirty="0"/>
          </a:p>
        </p:txBody>
      </p:sp>
      <p:sp>
        <p:nvSpPr>
          <p:cNvPr id="8" name="o-ma-tran"/>
          <p:cNvSpPr/>
          <p:nvPr/>
        </p:nvSpPr>
        <p:spPr>
          <a:xfrm>
            <a:off x="3931920" y="1508760"/>
            <a:ext cx="2286000" cy="822960"/>
          </a:xfrm>
          <a:prstGeom prst="rect">
            <a:avLst/>
          </a:prstGeom>
          <a:solidFill>
            <a:srgbClr val="D982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o-ma-tran-chu"/>
          <p:cNvSpPr txBox="1"/>
          <p:nvPr/>
        </p:nvSpPr>
        <p:spPr>
          <a:xfrm>
            <a:off x="3931920" y="1508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33"/>
                </a:solidFill>
              </a:rPr>
              <a:t>Cao</a:t>
            </a:r>
            <a:endParaRPr lang="en-US" sz="1800" dirty="0"/>
          </a:p>
        </p:txBody>
      </p:sp>
      <p:sp>
        <p:nvSpPr>
          <p:cNvPr id="10" name="o-ma-tran"/>
          <p:cNvSpPr/>
          <p:nvPr/>
        </p:nvSpPr>
        <p:spPr>
          <a:xfrm>
            <a:off x="6309360" y="1508760"/>
            <a:ext cx="2286000" cy="822960"/>
          </a:xfrm>
          <a:prstGeom prst="rect">
            <a:avLst/>
          </a:prstGeom>
          <a:solidFill>
            <a:srgbClr val="A23B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o-ma-tran-chu"/>
          <p:cNvSpPr txBox="1"/>
          <p:nvPr/>
        </p:nvSpPr>
        <p:spPr>
          <a:xfrm>
            <a:off x="6309360" y="1508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Rất cao</a:t>
            </a:r>
            <a:endParaRPr lang="en-US" sz="1800" dirty="0"/>
          </a:p>
        </p:txBody>
      </p:sp>
      <p:sp>
        <p:nvSpPr>
          <p:cNvPr id="12" name="truc-y"/>
          <p:cNvSpPr txBox="1"/>
          <p:nvPr/>
        </p:nvSpPr>
        <p:spPr>
          <a:xfrm>
            <a:off x="548640" y="23774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</a:rPr>
              <a:t>Vừa</a:t>
            </a:r>
            <a:endParaRPr lang="en-US" sz="1400" dirty="0"/>
          </a:p>
        </p:txBody>
      </p:sp>
      <p:sp>
        <p:nvSpPr>
          <p:cNvPr id="13" name="o-ma-tran"/>
          <p:cNvSpPr/>
          <p:nvPr/>
        </p:nvSpPr>
        <p:spPr>
          <a:xfrm>
            <a:off x="1554480" y="2377440"/>
            <a:ext cx="2286000" cy="822960"/>
          </a:xfrm>
          <a:prstGeom prst="rect">
            <a:avLst/>
          </a:prstGeom>
          <a:solidFill>
            <a:srgbClr val="9CC3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o-ma-tran-chu"/>
          <p:cNvSpPr txBox="1"/>
          <p:nvPr/>
        </p:nvSpPr>
        <p:spPr>
          <a:xfrm>
            <a:off x="1554480" y="2377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33"/>
                </a:solidFill>
              </a:rPr>
              <a:t>Thấp</a:t>
            </a:r>
            <a:endParaRPr lang="en-US" sz="1800" dirty="0"/>
          </a:p>
        </p:txBody>
      </p:sp>
      <p:sp>
        <p:nvSpPr>
          <p:cNvPr id="15" name="o-ma-tran"/>
          <p:cNvSpPr/>
          <p:nvPr/>
        </p:nvSpPr>
        <p:spPr>
          <a:xfrm>
            <a:off x="3931920" y="2377440"/>
            <a:ext cx="2286000" cy="822960"/>
          </a:xfrm>
          <a:prstGeom prst="rect">
            <a:avLst/>
          </a:prstGeom>
          <a:solidFill>
            <a:srgbClr val="E6C3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o-ma-tran-chu"/>
          <p:cNvSpPr txBox="1"/>
          <p:nvPr/>
        </p:nvSpPr>
        <p:spPr>
          <a:xfrm>
            <a:off x="3931920" y="2377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33"/>
                </a:solidFill>
              </a:rPr>
              <a:t>Trung bình</a:t>
            </a:r>
            <a:endParaRPr lang="en-US" sz="1800" dirty="0"/>
          </a:p>
        </p:txBody>
      </p:sp>
      <p:sp>
        <p:nvSpPr>
          <p:cNvPr id="17" name="o-ma-tran"/>
          <p:cNvSpPr/>
          <p:nvPr/>
        </p:nvSpPr>
        <p:spPr>
          <a:xfrm>
            <a:off x="6309360" y="2377440"/>
            <a:ext cx="2286000" cy="822960"/>
          </a:xfrm>
          <a:prstGeom prst="rect">
            <a:avLst/>
          </a:prstGeom>
          <a:solidFill>
            <a:srgbClr val="D982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o-ma-tran-chu"/>
          <p:cNvSpPr txBox="1"/>
          <p:nvPr/>
        </p:nvSpPr>
        <p:spPr>
          <a:xfrm>
            <a:off x="6309360" y="2377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33"/>
                </a:solidFill>
              </a:rPr>
              <a:t>Cao</a:t>
            </a:r>
            <a:endParaRPr lang="en-US" sz="1800" dirty="0"/>
          </a:p>
        </p:txBody>
      </p:sp>
      <p:sp>
        <p:nvSpPr>
          <p:cNvPr id="19" name="truc-y"/>
          <p:cNvSpPr txBox="1"/>
          <p:nvPr/>
        </p:nvSpPr>
        <p:spPr>
          <a:xfrm>
            <a:off x="548640" y="32461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</a:rPr>
              <a:t>Thấp</a:t>
            </a:r>
            <a:endParaRPr lang="en-US" sz="1400" dirty="0"/>
          </a:p>
        </p:txBody>
      </p:sp>
      <p:sp>
        <p:nvSpPr>
          <p:cNvPr id="20" name="o-ma-tran"/>
          <p:cNvSpPr/>
          <p:nvPr/>
        </p:nvSpPr>
        <p:spPr>
          <a:xfrm>
            <a:off x="1554480" y="3246120"/>
            <a:ext cx="2286000" cy="822960"/>
          </a:xfrm>
          <a:prstGeom prst="rect">
            <a:avLst/>
          </a:prstGeom>
          <a:solidFill>
            <a:srgbClr val="9CC3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o-ma-tran-chu"/>
          <p:cNvSpPr txBox="1"/>
          <p:nvPr/>
        </p:nvSpPr>
        <p:spPr>
          <a:xfrm>
            <a:off x="1554480" y="3246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33"/>
                </a:solidFill>
              </a:rPr>
              <a:t>Thấp</a:t>
            </a:r>
            <a:endParaRPr lang="en-US" sz="1800" dirty="0"/>
          </a:p>
        </p:txBody>
      </p:sp>
      <p:sp>
        <p:nvSpPr>
          <p:cNvPr id="22" name="o-ma-tran"/>
          <p:cNvSpPr/>
          <p:nvPr/>
        </p:nvSpPr>
        <p:spPr>
          <a:xfrm>
            <a:off x="3931920" y="3246120"/>
            <a:ext cx="2286000" cy="822960"/>
          </a:xfrm>
          <a:prstGeom prst="rect">
            <a:avLst/>
          </a:prstGeom>
          <a:solidFill>
            <a:srgbClr val="9CC3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o-ma-tran-chu"/>
          <p:cNvSpPr txBox="1"/>
          <p:nvPr/>
        </p:nvSpPr>
        <p:spPr>
          <a:xfrm>
            <a:off x="3931920" y="3246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33"/>
                </a:solidFill>
              </a:rPr>
              <a:t>Thấp</a:t>
            </a:r>
            <a:endParaRPr lang="en-US" sz="1800" dirty="0"/>
          </a:p>
        </p:txBody>
      </p:sp>
      <p:sp>
        <p:nvSpPr>
          <p:cNvPr id="24" name="o-ma-tran"/>
          <p:cNvSpPr/>
          <p:nvPr/>
        </p:nvSpPr>
        <p:spPr>
          <a:xfrm>
            <a:off x="6309360" y="3246120"/>
            <a:ext cx="2286000" cy="822960"/>
          </a:xfrm>
          <a:prstGeom prst="rect">
            <a:avLst/>
          </a:prstGeom>
          <a:solidFill>
            <a:srgbClr val="E6C3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o-ma-tran-chu"/>
          <p:cNvSpPr txBox="1"/>
          <p:nvPr/>
        </p:nvSpPr>
        <p:spPr>
          <a:xfrm>
            <a:off x="6309360" y="3246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33"/>
                </a:solidFill>
              </a:rPr>
              <a:t>Trung bình</a:t>
            </a:r>
            <a:endParaRPr lang="en-US" sz="1800" dirty="0"/>
          </a:p>
        </p:txBody>
      </p:sp>
      <p:sp>
        <p:nvSpPr>
          <p:cNvPr id="26" name="truc-x-nhan"/>
          <p:cNvSpPr txBox="1"/>
          <p:nvPr/>
        </p:nvSpPr>
        <p:spPr>
          <a:xfrm>
            <a:off x="1554480" y="4133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90"/>
                </a:solidFill>
              </a:rPr>
              <a:t>Thấp</a:t>
            </a:r>
            <a:endParaRPr lang="en-US" sz="1400" dirty="0"/>
          </a:p>
        </p:txBody>
      </p:sp>
      <p:sp>
        <p:nvSpPr>
          <p:cNvPr id="27" name="truc-x-nhan"/>
          <p:cNvSpPr txBox="1"/>
          <p:nvPr/>
        </p:nvSpPr>
        <p:spPr>
          <a:xfrm>
            <a:off x="3931920" y="4133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90"/>
                </a:solidFill>
              </a:rPr>
              <a:t>Vừa</a:t>
            </a:r>
            <a:endParaRPr lang="en-US" sz="1400" dirty="0"/>
          </a:p>
        </p:txBody>
      </p:sp>
      <p:sp>
        <p:nvSpPr>
          <p:cNvPr id="28" name="truc-x-nhan"/>
          <p:cNvSpPr txBox="1"/>
          <p:nvPr/>
        </p:nvSpPr>
        <p:spPr>
          <a:xfrm>
            <a:off x="6309360" y="4133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90"/>
                </a:solidFill>
              </a:rPr>
              <a:t>Cao</a:t>
            </a:r>
            <a:endParaRPr lang="en-US" sz="1400" dirty="0"/>
          </a:p>
        </p:txBody>
      </p:sp>
      <p:sp>
        <p:nvSpPr>
          <p:cNvPr id="29" name="truc-x"/>
          <p:cNvSpPr txBox="1"/>
          <p:nvPr/>
        </p:nvSpPr>
        <p:spPr>
          <a:xfrm>
            <a:off x="1554480" y="440740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90"/>
                </a:solidFill>
              </a:rPr>
              <a:t>Tác động →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4A"/>
                </a:solidFill>
              </a:rPr>
              <a:t>Nhóm lập ma trận rủi ro cho dự án tốt nghiệp</a:t>
            </a:r>
            <a:endParaRPr lang="en-US" sz="2800" dirty="0"/>
          </a:p>
        </p:txBody>
      </p:sp>
      <p:sp>
        <p:nvSpPr>
          <p:cNvPr id="4" name="the"/>
          <p:cNvSpPr/>
          <p:nvPr/>
        </p:nvSpPr>
        <p:spPr>
          <a:xfrm>
            <a:off x="548640" y="132588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5" name="so-thu-tu"/>
          <p:cNvSpPr/>
          <p:nvPr/>
        </p:nvSpPr>
        <p:spPr>
          <a:xfrm>
            <a:off x="777240" y="1463040"/>
            <a:ext cx="594360" cy="5943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so-thu-tu-chu"/>
          <p:cNvSpPr txBox="1"/>
          <p:nvPr/>
        </p:nvSpPr>
        <p:spPr>
          <a:xfrm>
            <a:off x="77724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he-chu"/>
          <p:cNvSpPr txBox="1"/>
          <p:nvPr/>
        </p:nvSpPr>
        <p:spPr>
          <a:xfrm>
            <a:off x="1600200" y="1399032"/>
            <a:ext cx="6766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</a:rPr>
              <a:t>Nêu ít nhất 5 rủi ro của dự án</a:t>
            </a:r>
            <a:endParaRPr lang="en-US" sz="1800" dirty="0"/>
          </a:p>
        </p:txBody>
      </p:sp>
      <p:sp>
        <p:nvSpPr>
          <p:cNvPr id="8" name="the"/>
          <p:cNvSpPr/>
          <p:nvPr/>
        </p:nvSpPr>
        <p:spPr>
          <a:xfrm>
            <a:off x="548640" y="233172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so-thu-tu"/>
          <p:cNvSpPr/>
          <p:nvPr/>
        </p:nvSpPr>
        <p:spPr>
          <a:xfrm>
            <a:off x="777240" y="2468880"/>
            <a:ext cx="594360" cy="5943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so-thu-tu-chu"/>
          <p:cNvSpPr txBox="1"/>
          <p:nvPr/>
        </p:nvSpPr>
        <p:spPr>
          <a:xfrm>
            <a:off x="777240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he-chu"/>
          <p:cNvSpPr txBox="1"/>
          <p:nvPr/>
        </p:nvSpPr>
        <p:spPr>
          <a:xfrm>
            <a:off x="1600200" y="2404872"/>
            <a:ext cx="6766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</a:rPr>
              <a:t>Xếp mỗi rủi ro vào ma trận</a:t>
            </a:r>
            <a:endParaRPr lang="en-US" sz="1800" dirty="0"/>
          </a:p>
        </p:txBody>
      </p:sp>
      <p:sp>
        <p:nvSpPr>
          <p:cNvPr id="12" name="the"/>
          <p:cNvSpPr/>
          <p:nvPr/>
        </p:nvSpPr>
        <p:spPr>
          <a:xfrm>
            <a:off x="548640" y="333756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3" name="so-thu-tu"/>
          <p:cNvSpPr/>
          <p:nvPr/>
        </p:nvSpPr>
        <p:spPr>
          <a:xfrm>
            <a:off x="777240" y="3474720"/>
            <a:ext cx="594360" cy="5943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so-thu-tu-chu"/>
          <p:cNvSpPr txBox="1"/>
          <p:nvPr/>
        </p:nvSpPr>
        <p:spPr>
          <a:xfrm>
            <a:off x="777240" y="3474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he-chu"/>
          <p:cNvSpPr txBox="1"/>
          <p:nvPr/>
        </p:nvSpPr>
        <p:spPr>
          <a:xfrm>
            <a:off x="1600200" y="3410712"/>
            <a:ext cx="6766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</a:rPr>
              <a:t>Chọn rủi ro cao nhất, đề xuất biện pháp ứng phó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4A"/>
                </a:solidFill>
              </a:rPr>
              <a:t>Ba điều cần nhớ và bài tập về nhà</a:t>
            </a:r>
            <a:endParaRPr lang="en-US" sz="2800" dirty="0"/>
          </a:p>
        </p:txBody>
      </p:sp>
      <p:sp>
        <p:nvSpPr>
          <p:cNvPr id="4" name="nhan-xet"/>
          <p:cNvSpPr/>
          <p:nvPr/>
        </p:nvSpPr>
        <p:spPr>
          <a:xfrm>
            <a:off x="548640" y="146304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pic>
        <p:nvPicPr>
          <p:cNvPr id="5" name="bieu-tuong" descr="Biểu tượ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64208"/>
            <a:ext cx="274320" cy="274320"/>
          </a:xfrm>
          <a:prstGeom prst="rect">
            <a:avLst/>
          </a:prstGeom>
        </p:spPr>
      </p:pic>
      <p:sp>
        <p:nvSpPr>
          <p:cNvPr id="6" name="nhan-xet-tieu-de"/>
          <p:cNvSpPr txBox="1"/>
          <p:nvPr/>
        </p:nvSpPr>
        <p:spPr>
          <a:xfrm>
            <a:off x="1097280" y="16459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</a:rPr>
              <a:t>Ba bước</a:t>
            </a:r>
            <a:endParaRPr lang="en-US" sz="1800" dirty="0"/>
          </a:p>
        </p:txBody>
      </p:sp>
      <p:sp>
        <p:nvSpPr>
          <p:cNvPr id="7" name="nhan-xet-chu"/>
          <p:cNvSpPr txBox="1"/>
          <p:nvPr/>
        </p:nvSpPr>
        <p:spPr>
          <a:xfrm>
            <a:off x="731520" y="21031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</a:rPr>
              <a:t>Nhận diện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</a:rPr>
              <a:t>Đánh giá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</a:rPr>
              <a:t>Ứng phó</a:t>
            </a:r>
            <a:endParaRPr lang="en-US" sz="1600" dirty="0"/>
          </a:p>
        </p:txBody>
      </p:sp>
      <p:sp>
        <p:nvSpPr>
          <p:cNvPr id="8" name="nhan-xet"/>
          <p:cNvSpPr/>
          <p:nvPr/>
        </p:nvSpPr>
        <p:spPr>
          <a:xfrm>
            <a:off x="3291840" y="146304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pic>
        <p:nvPicPr>
          <p:cNvPr id="9" name="bieu-tuong" descr="Biểu tượ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664208"/>
            <a:ext cx="274320" cy="274320"/>
          </a:xfrm>
          <a:prstGeom prst="rect">
            <a:avLst/>
          </a:prstGeom>
        </p:spPr>
      </p:pic>
      <p:sp>
        <p:nvSpPr>
          <p:cNvPr id="10" name="nhan-xet-tieu-de"/>
          <p:cNvSpPr txBox="1"/>
          <p:nvPr/>
        </p:nvSpPr>
        <p:spPr>
          <a:xfrm>
            <a:off x="3840480" y="16459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</a:rPr>
              <a:t>Bài tập</a:t>
            </a:r>
            <a:endParaRPr lang="en-US" sz="1800" dirty="0"/>
          </a:p>
        </p:txBody>
      </p:sp>
      <p:sp>
        <p:nvSpPr>
          <p:cNvPr id="11" name="nhan-xet-chu"/>
          <p:cNvSpPr txBox="1"/>
          <p:nvPr/>
        </p:nvSpPr>
        <p:spPr>
          <a:xfrm>
            <a:off x="3474720" y="21031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A2433"/>
                </a:solidFill>
              </a:rPr>
              <a:t>Hoàn thiện ma trận rủi ro của nhóm</a:t>
            </a:r>
            <a:endParaRPr lang="en-US" sz="1600" dirty="0"/>
          </a:p>
        </p:txBody>
      </p:sp>
      <p:sp>
        <p:nvSpPr>
          <p:cNvPr id="12" name="nhan-xet"/>
          <p:cNvSpPr/>
          <p:nvPr/>
        </p:nvSpPr>
        <p:spPr>
          <a:xfrm>
            <a:off x="6035040" y="146304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pic>
        <p:nvPicPr>
          <p:cNvPr id="13" name="bieu-tuong" descr="Biểu tượ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64208"/>
            <a:ext cx="274320" cy="274320"/>
          </a:xfrm>
          <a:prstGeom prst="rect">
            <a:avLst/>
          </a:prstGeom>
        </p:spPr>
      </p:pic>
      <p:sp>
        <p:nvSpPr>
          <p:cNvPr id="14" name="nhan-xet-tieu-de"/>
          <p:cNvSpPr txBox="1"/>
          <p:nvPr/>
        </p:nvSpPr>
        <p:spPr>
          <a:xfrm>
            <a:off x="6583680" y="16459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</a:rPr>
              <a:t>Học liệu</a:t>
            </a:r>
            <a:endParaRPr lang="en-US" sz="1800" dirty="0"/>
          </a:p>
        </p:txBody>
      </p:sp>
      <p:sp>
        <p:nvSpPr>
          <p:cNvPr id="15" name="nhan-xet-chu"/>
          <p:cNvSpPr txBox="1"/>
          <p:nvPr/>
        </p:nvSpPr>
        <p:spPr>
          <a:xfrm>
            <a:off x="6217920" y="21031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A2433"/>
                </a:solidFill>
              </a:rPr>
              <a:t>Giáo trình học phần, chương rủi ro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141732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Hỏi và đáp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31546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Câu hỏi của lớp trước khi kết thúc buổi học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i hoc">
  <a:themeElements>
    <a:clrScheme name="Dai hoc">
      <a:dk1>
        <a:srgbClr val="1A2433"/>
      </a:dk1>
      <a:lt1>
        <a:srgbClr val="FFFFFF"/>
      </a:lt1>
      <a:dk2>
        <a:srgbClr val="0B2A4A"/>
      </a:dk2>
      <a:lt2>
        <a:srgbClr val="F1F4F8"/>
      </a:lt2>
      <a:accent1>
        <a:srgbClr val="1F4E8C"/>
      </a:accent1>
      <a:accent2>
        <a:srgbClr val="B8902B"/>
      </a:accent2>
      <a:accent3>
        <a:srgbClr val="2E7D6B"/>
      </a:accent3>
      <a:accent4>
        <a:srgbClr val="6B7A90"/>
      </a:accent4>
      <a:accent5>
        <a:srgbClr val="A23B3B"/>
      </a:accent5>
      <a:accent6>
        <a:srgbClr val="5B8DB8"/>
      </a:accent6>
      <a:hlink>
        <a:srgbClr val="1F4E8C"/>
      </a:hlink>
      <a:folHlink>
        <a:srgbClr val="6B7A90"/>
      </a:folHlink>
    </a:clrScheme>
    <a:fontScheme name="Dai ho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Quản trị rủi ro dự án</dc:title>
  <dc:subject>PptxGenJS Presentation</dc:subject>
  <dc:creator>Trường Đại học Mẫu A (tên mẫu)</dc:creator>
  <cp:lastModifiedBy>Trường Đại học Mẫu A (tên mẫu)</cp:lastModifiedBy>
  <cp:revision>1</cp:revision>
  <dcterms:created xsi:type="dcterms:W3CDTF">2026-10-10T11:36:14Z</dcterms:created>
  <dcterms:modified xsi:type="dcterms:W3CDTF">2026-10-10T11:36:14Z</dcterms:modified>
</cp:coreProperties>
</file>