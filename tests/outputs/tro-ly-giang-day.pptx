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uổi học" id="{8bb6a7dc-acf6-4d31-cc13-6f99a11c2b52}">
          <p14:sldIdLst>
            <p14:sldId id="256"/>
            <p14:sldId id="257"/>
            <p14:sldId id="258"/>
          </p14:sldIdLst>
        </p14:section>
        <p14:section name="Nội dung" id="{7d7a6c15-e152-66cb-2cd0-1b551228e014}">
          <p14:sldIdLst>
            <p14:sldId id="259"/>
            <p14:sldId id="260"/>
          </p14:sldIdLst>
        </p14:section>
        <p14:section name="Hoạt động" id="{cefa93fd-b01e-895c-490d-ca0c29030e56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lớp, nêu chủ đề và thời lượng buổi học 90 phút. Lưu ý cho giảng viên: tổng thời gian các hoạt động đề xuất là 100 phút, vượt 10 phút so với thời lượng; cần quyết định bớt hoạt động nào trước khi dạy.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Mục tiêu bám chuẩn đầu ra trong đề cương học phần. Không thêm mục tiêu ngoài đề cương.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Tiến trình theo thời gian. Thời lượng hiển thị đúng như đề xuất: 10, 25, 35, 20, 10 phút, tổng 100 phút. Cần giảng viên quyết định bớt 10 phút.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Khái niệm rủi ro: xác suất và tác động. Phân biệt rủi ro với vấn đề đã xảy ra. Hỏi sinh viên một ví dụ trong dự án tốt nghiệp của họ.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thích cách đọc ma trận ba nhân ba. Ô góc trên bên phải là rủi ro cần ứng phó trước.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Nhóm 4 người, 35 phút. Mỗi nhóm nêu ít nhất 5 rủi ro, xếp vào ma trận và đề xuất một biện pháp ứng phó cho rủi ro cao nhất.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Nhắc lại ba mục tiêu. Bài tập: hoàn thiện ma trận của nhóm. Nội dung ngoài đề cương học phần không đưa vào buổi này.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FE3E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3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Quản trị rủi ro dự án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3E1"/>
                </a:solidFill>
              </a:rPr>
              <a:t>Quản trị dự án · Buổi học 90 phút · Sinh viên năm thứ ba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3E"/>
                </a:solidFill>
              </a:rPr>
              <a:t>Cuối buổi, bạn làm được ba việc</a:t>
            </a:r>
            <a:endParaRPr lang="en-US" sz="2800" dirty="0"/>
          </a:p>
        </p:txBody>
      </p:sp>
      <p:sp>
        <p:nvSpPr>
          <p:cNvPr id="4" name="so-thu-tu"/>
          <p:cNvSpPr/>
          <p:nvPr/>
        </p:nvSpPr>
        <p:spPr>
          <a:xfrm>
            <a:off x="457200" y="1371600"/>
            <a:ext cx="685800" cy="685800"/>
          </a:xfrm>
          <a:prstGeom prst="ellipse">
            <a:avLst/>
          </a:prstGeom>
          <a:solidFill>
            <a:srgbClr val="0F6E6E"/>
          </a:solidFill>
          <a:ln w="12700">
            <a:solidFill>
              <a:srgbClr val="0F6E6E"/>
            </a:solidFill>
            <a:prstDash val="solid"/>
          </a:ln>
        </p:spPr>
      </p:sp>
      <p:sp>
        <p:nvSpPr>
          <p:cNvPr id="5" name="so-thu-tu-chu"/>
          <p:cNvSpPr txBox="1"/>
          <p:nvPr/>
        </p:nvSpPr>
        <p:spPr>
          <a:xfrm>
            <a:off x="457200" y="1371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muc-tieu"/>
          <p:cNvSpPr txBox="1"/>
          <p:nvPr/>
        </p:nvSpPr>
        <p:spPr>
          <a:xfrm>
            <a:off x="1371600" y="13258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A"/>
                </a:solidFill>
              </a:rPr>
              <a:t>Nhận diện được rủi ro của dự án</a:t>
            </a:r>
            <a:endParaRPr lang="en-US" sz="2000" dirty="0"/>
          </a:p>
        </p:txBody>
      </p:sp>
      <p:sp>
        <p:nvSpPr>
          <p:cNvPr id="7" name="so-thu-tu"/>
          <p:cNvSpPr/>
          <p:nvPr/>
        </p:nvSpPr>
        <p:spPr>
          <a:xfrm>
            <a:off x="457200" y="2468880"/>
            <a:ext cx="685800" cy="685800"/>
          </a:xfrm>
          <a:prstGeom prst="ellipse">
            <a:avLst/>
          </a:prstGeom>
          <a:solidFill>
            <a:srgbClr val="0F6E6E"/>
          </a:solidFill>
          <a:ln w="12700">
            <a:solidFill>
              <a:srgbClr val="0F6E6E"/>
            </a:solidFill>
            <a:prstDash val="solid"/>
          </a:ln>
        </p:spPr>
      </p:sp>
      <p:sp>
        <p:nvSpPr>
          <p:cNvPr id="8" name="so-thu-tu-chu"/>
          <p:cNvSpPr txBox="1"/>
          <p:nvPr/>
        </p:nvSpPr>
        <p:spPr>
          <a:xfrm>
            <a:off x="457200" y="2468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muc-tieu"/>
          <p:cNvSpPr txBox="1"/>
          <p:nvPr/>
        </p:nvSpPr>
        <p:spPr>
          <a:xfrm>
            <a:off x="1371600" y="24231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A"/>
                </a:solidFill>
              </a:rPr>
              <a:t>Đánh giá được mức độ rủi ro bằng ma trận xác suất – tác động</a:t>
            </a:r>
            <a:endParaRPr lang="en-US" sz="2000" dirty="0"/>
          </a:p>
        </p:txBody>
      </p:sp>
      <p:sp>
        <p:nvSpPr>
          <p:cNvPr id="10" name="so-thu-tu"/>
          <p:cNvSpPr/>
          <p:nvPr/>
        </p:nvSpPr>
        <p:spPr>
          <a:xfrm>
            <a:off x="457200" y="3566160"/>
            <a:ext cx="685800" cy="685800"/>
          </a:xfrm>
          <a:prstGeom prst="ellipse">
            <a:avLst/>
          </a:prstGeom>
          <a:solidFill>
            <a:srgbClr val="0F6E6E"/>
          </a:solidFill>
          <a:ln w="12700">
            <a:solidFill>
              <a:srgbClr val="0F6E6E"/>
            </a:solidFill>
            <a:prstDash val="solid"/>
          </a:ln>
        </p:spPr>
      </p:sp>
      <p:sp>
        <p:nvSpPr>
          <p:cNvPr id="11" name="so-thu-tu-chu"/>
          <p:cNvSpPr txBox="1"/>
          <p:nvPr/>
        </p:nvSpPr>
        <p:spPr>
          <a:xfrm>
            <a:off x="457200" y="3566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2" name="muc-tieu"/>
          <p:cNvSpPr txBox="1"/>
          <p:nvPr/>
        </p:nvSpPr>
        <p:spPr>
          <a:xfrm>
            <a:off x="1371600" y="35204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A"/>
                </a:solidFill>
              </a:rPr>
              <a:t>Đề xuất được biện pháp ứng phó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3E"/>
                </a:solidFill>
              </a:rPr>
              <a:t>Buổi học gồm năm hoạt động</a:t>
            </a:r>
            <a:endParaRPr lang="en-US" sz="2800" dirty="0"/>
          </a:p>
        </p:txBody>
      </p:sp>
      <p:sp>
        <p:nvSpPr>
          <p:cNvPr id="4" name="thanh-thoi-gian"/>
          <p:cNvSpPr/>
          <p:nvPr/>
        </p:nvSpPr>
        <p:spPr>
          <a:xfrm>
            <a:off x="457200" y="1417320"/>
            <a:ext cx="786384" cy="64008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5" name="thanh-thoi-gian-chu"/>
          <p:cNvSpPr txBox="1"/>
          <p:nvPr/>
        </p:nvSpPr>
        <p:spPr>
          <a:xfrm>
            <a:off x="457200" y="1417320"/>
            <a:ext cx="786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10'</a:t>
            </a:r>
            <a:endParaRPr lang="en-US" sz="1600" dirty="0"/>
          </a:p>
        </p:txBody>
      </p:sp>
      <p:sp>
        <p:nvSpPr>
          <p:cNvPr id="6" name="thanh-thoi-gian"/>
          <p:cNvSpPr/>
          <p:nvPr/>
        </p:nvSpPr>
        <p:spPr>
          <a:xfrm>
            <a:off x="1280160" y="1417320"/>
            <a:ext cx="2020824" cy="640080"/>
          </a:xfrm>
          <a:prstGeom prst="rect">
            <a:avLst/>
          </a:prstGeom>
          <a:solidFill>
            <a:srgbClr val="0F6E6E"/>
          </a:solidFill>
          <a:ln w="12700">
            <a:solidFill>
              <a:srgbClr val="0F6E6E"/>
            </a:solidFill>
            <a:prstDash val="solid"/>
          </a:ln>
        </p:spPr>
      </p:sp>
      <p:sp>
        <p:nvSpPr>
          <p:cNvPr id="7" name="thanh-thoi-gian-chu"/>
          <p:cNvSpPr txBox="1"/>
          <p:nvPr/>
        </p:nvSpPr>
        <p:spPr>
          <a:xfrm>
            <a:off x="1280160" y="1417320"/>
            <a:ext cx="2020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25'</a:t>
            </a:r>
            <a:endParaRPr lang="en-US" sz="1600" dirty="0"/>
          </a:p>
        </p:txBody>
      </p:sp>
      <p:sp>
        <p:nvSpPr>
          <p:cNvPr id="8" name="thanh-thoi-gian"/>
          <p:cNvSpPr/>
          <p:nvPr/>
        </p:nvSpPr>
        <p:spPr>
          <a:xfrm>
            <a:off x="3337560" y="1417320"/>
            <a:ext cx="2843784" cy="640080"/>
          </a:xfrm>
          <a:prstGeom prst="rect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9" name="thanh-thoi-gian-chu"/>
          <p:cNvSpPr txBox="1"/>
          <p:nvPr/>
        </p:nvSpPr>
        <p:spPr>
          <a:xfrm>
            <a:off x="3337560" y="1417320"/>
            <a:ext cx="2843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35'</a:t>
            </a:r>
            <a:endParaRPr lang="en-US" sz="1600" dirty="0"/>
          </a:p>
        </p:txBody>
      </p:sp>
      <p:sp>
        <p:nvSpPr>
          <p:cNvPr id="10" name="thanh-thoi-gian"/>
          <p:cNvSpPr/>
          <p:nvPr/>
        </p:nvSpPr>
        <p:spPr>
          <a:xfrm>
            <a:off x="6217920" y="1417320"/>
            <a:ext cx="1609344" cy="640080"/>
          </a:xfrm>
          <a:prstGeom prst="rect">
            <a:avLst/>
          </a:prstGeom>
          <a:solidFill>
            <a:srgbClr val="3E7C4F"/>
          </a:solidFill>
          <a:ln w="12700">
            <a:solidFill>
              <a:srgbClr val="3E7C4F"/>
            </a:solidFill>
            <a:prstDash val="solid"/>
          </a:ln>
        </p:spPr>
      </p:sp>
      <p:sp>
        <p:nvSpPr>
          <p:cNvPr id="11" name="thanh-thoi-gian-chu"/>
          <p:cNvSpPr txBox="1"/>
          <p:nvPr/>
        </p:nvSpPr>
        <p:spPr>
          <a:xfrm>
            <a:off x="6217920" y="1417320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20'</a:t>
            </a:r>
            <a:endParaRPr lang="en-US" sz="1600" dirty="0"/>
          </a:p>
        </p:txBody>
      </p:sp>
      <p:sp>
        <p:nvSpPr>
          <p:cNvPr id="12" name="thanh-thoi-gian"/>
          <p:cNvSpPr/>
          <p:nvPr/>
        </p:nvSpPr>
        <p:spPr>
          <a:xfrm>
            <a:off x="7863840" y="1417320"/>
            <a:ext cx="786384" cy="640080"/>
          </a:xfrm>
          <a:prstGeom prst="rect">
            <a:avLst/>
          </a:prstGeom>
          <a:solidFill>
            <a:srgbClr val="7A8B8B"/>
          </a:solidFill>
          <a:ln w="12700">
            <a:solidFill>
              <a:srgbClr val="7A8B8B"/>
            </a:solidFill>
            <a:prstDash val="solid"/>
          </a:ln>
        </p:spPr>
      </p:sp>
      <p:sp>
        <p:nvSpPr>
          <p:cNvPr id="13" name="thanh-thoi-gian-chu"/>
          <p:cNvSpPr txBox="1"/>
          <p:nvPr/>
        </p:nvSpPr>
        <p:spPr>
          <a:xfrm>
            <a:off x="7863840" y="1417320"/>
            <a:ext cx="786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10'</a:t>
            </a:r>
            <a:endParaRPr lang="en-US" sz="1600" dirty="0"/>
          </a:p>
        </p:txBody>
      </p:sp>
      <p:sp>
        <p:nvSpPr>
          <p:cNvPr id="14" name="noi-dung"/>
          <p:cNvSpPr txBox="1"/>
          <p:nvPr/>
        </p:nvSpPr>
        <p:spPr>
          <a:xfrm>
            <a:off x="457200" y="2331720"/>
            <a:ext cx="8229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Khởi động: tình huống dự án trễ hạn (10 phút)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Giảng: nhận diện và phân loại rủi ro (25 phút)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Thực hành: lập ma trận rủi ro theo nhóm (35 phút)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Thảo luận và phản hồi (20 phút)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Tổng kết và bài tập (10 phút)</a:t>
            </a:r>
            <a:endParaRPr lang="en-US" sz="1600" dirty="0"/>
          </a:p>
        </p:txBody>
      </p:sp>
      <p:sp>
        <p:nvSpPr>
          <p:cNvPr id="15" name="nguon"/>
          <p:cNvSpPr txBox="1"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666"/>
                </a:solidFill>
              </a:rPr>
              <a:t>Tổng các hoạt động: 100 phút; thời lượng buổi học: 90 phút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3E"/>
                </a:solidFill>
              </a:rPr>
              <a:t>Rủi ro là sự kiện có thể xảy ra và ảnh hưởng đến mục tiêu</a:t>
            </a:r>
            <a:endParaRPr lang="en-US" sz="2800" dirty="0"/>
          </a:p>
        </p:txBody>
      </p:sp>
      <p:sp>
        <p:nvSpPr>
          <p:cNvPr id="4" name="the"/>
          <p:cNvSpPr/>
          <p:nvPr/>
        </p:nvSpPr>
        <p:spPr>
          <a:xfrm>
            <a:off x="457200" y="1463040"/>
            <a:ext cx="3931920" cy="2194560"/>
          </a:xfrm>
          <a:prstGeom prst="roundRect">
            <a:avLst>
              <a:gd name="adj" fmla="val 4167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5" name="the-chu"/>
          <p:cNvSpPr txBox="1"/>
          <p:nvPr/>
        </p:nvSpPr>
        <p:spPr>
          <a:xfrm>
            <a:off x="640080" y="164592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6E6E"/>
                </a:solidFill>
              </a:rPr>
              <a:t>Rủi ro</a:t>
            </a:r>
            <a:endParaRPr lang="en-US" sz="2600" dirty="0"/>
          </a:p>
          <a:p>
            <a:pPr indent="0" marL="0">
              <a:buNone/>
            </a:pPr>
            <a:r>
              <a:rPr lang="en-US" sz="2000" dirty="0">
                <a:solidFill>
                  <a:srgbClr val="1B1F2A"/>
                </a:solidFill>
              </a:rPr>
              <a:t>Chưa xảy ra</a:t>
            </a:r>
            <a:endParaRPr lang="en-US" sz="2600" dirty="0"/>
          </a:p>
          <a:p>
            <a:pPr indent="0" marL="0">
              <a:buNone/>
            </a:pPr>
            <a:r>
              <a:rPr lang="en-US" sz="2000" dirty="0">
                <a:solidFill>
                  <a:srgbClr val="1B1F2A"/>
                </a:solidFill>
              </a:rPr>
              <a:t>Có xác suất và tác động</a:t>
            </a:r>
            <a:endParaRPr lang="en-US" sz="2600" dirty="0"/>
          </a:p>
        </p:txBody>
      </p:sp>
      <p:sp>
        <p:nvSpPr>
          <p:cNvPr id="6" name="the"/>
          <p:cNvSpPr/>
          <p:nvPr/>
        </p:nvSpPr>
        <p:spPr>
          <a:xfrm>
            <a:off x="4754880" y="1463040"/>
            <a:ext cx="3931920" cy="2194560"/>
          </a:xfrm>
          <a:prstGeom prst="roundRect">
            <a:avLst>
              <a:gd name="adj" fmla="val 4167"/>
            </a:avLst>
          </a:prstGeom>
          <a:solidFill>
            <a:srgbClr val="FBEEDD"/>
          </a:solidFill>
          <a:ln w="12700">
            <a:solidFill>
              <a:srgbClr val="FBEEDD"/>
            </a:solidFill>
            <a:prstDash val="solid"/>
          </a:ln>
        </p:spPr>
      </p:sp>
      <p:sp>
        <p:nvSpPr>
          <p:cNvPr id="7" name="the-chu"/>
          <p:cNvSpPr txBox="1"/>
          <p:nvPr/>
        </p:nvSpPr>
        <p:spPr>
          <a:xfrm>
            <a:off x="4937760" y="164592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473A"/>
                </a:solidFill>
              </a:rPr>
              <a:t>Vấn đề</a:t>
            </a:r>
            <a:endParaRPr lang="en-US" sz="2600" dirty="0"/>
          </a:p>
          <a:p>
            <a:pPr indent="0" marL="0">
              <a:buNone/>
            </a:pPr>
            <a:r>
              <a:rPr lang="en-US" sz="2000" dirty="0">
                <a:solidFill>
                  <a:srgbClr val="1B1F2A"/>
                </a:solidFill>
              </a:rPr>
              <a:t>Đã xảy ra</a:t>
            </a:r>
            <a:endParaRPr lang="en-US" sz="2600" dirty="0"/>
          </a:p>
          <a:p>
            <a:pPr indent="0" marL="0">
              <a:buNone/>
            </a:pPr>
            <a:r>
              <a:rPr lang="en-US" sz="2000" dirty="0">
                <a:solidFill>
                  <a:srgbClr val="1B1F2A"/>
                </a:solidFill>
              </a:rPr>
              <a:t>Cần xử lý ngay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3E"/>
                </a:solidFill>
              </a:rPr>
              <a:t>Ma trận rủi ro: xác suất nhân với tác động</a:t>
            </a:r>
            <a:endParaRPr lang="en-US" sz="2800" dirty="0"/>
          </a:p>
        </p:txBody>
      </p:sp>
      <p:sp>
        <p:nvSpPr>
          <p:cNvPr id="4" name="truc-x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656"/>
                </a:solidFill>
              </a:rPr>
              <a:t>Tác động →</a:t>
            </a:r>
            <a:endParaRPr lang="en-US" sz="1400" dirty="0"/>
          </a:p>
        </p:txBody>
      </p:sp>
      <p:sp>
        <p:nvSpPr>
          <p:cNvPr id="5" name="truc-y"/>
          <p:cNvSpPr txBox="1"/>
          <p:nvPr/>
        </p:nvSpPr>
        <p:spPr>
          <a:xfrm>
            <a:off x="457200" y="15544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656"/>
                </a:solidFill>
              </a:rPr>
              <a:t>Cao</a:t>
            </a:r>
            <a:endParaRPr lang="en-US" sz="1400" dirty="0"/>
          </a:p>
        </p:txBody>
      </p:sp>
      <p:sp>
        <p:nvSpPr>
          <p:cNvPr id="6" name="o-ma-tran"/>
          <p:cNvSpPr/>
          <p:nvPr/>
        </p:nvSpPr>
        <p:spPr>
          <a:xfrm>
            <a:off x="1554480" y="1554480"/>
            <a:ext cx="2286000" cy="822960"/>
          </a:xfrm>
          <a:prstGeom prst="rect">
            <a:avLst/>
          </a:prstGeom>
          <a:solidFill>
            <a:srgbClr val="E6C36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o-ma-tran-chu"/>
          <p:cNvSpPr txBox="1"/>
          <p:nvPr/>
        </p:nvSpPr>
        <p:spPr>
          <a:xfrm>
            <a:off x="155448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A"/>
                </a:solidFill>
              </a:rPr>
              <a:t>Trung bình</a:t>
            </a:r>
            <a:endParaRPr lang="en-US" sz="1800" dirty="0"/>
          </a:p>
        </p:txBody>
      </p:sp>
      <p:sp>
        <p:nvSpPr>
          <p:cNvPr id="8" name="o-ma-tran"/>
          <p:cNvSpPr/>
          <p:nvPr/>
        </p:nvSpPr>
        <p:spPr>
          <a:xfrm>
            <a:off x="3931920" y="1554480"/>
            <a:ext cx="2286000" cy="822960"/>
          </a:xfrm>
          <a:prstGeom prst="rect">
            <a:avLst/>
          </a:prstGeom>
          <a:solidFill>
            <a:srgbClr val="D982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o-ma-tran-chu"/>
          <p:cNvSpPr txBox="1"/>
          <p:nvPr/>
        </p:nvSpPr>
        <p:spPr>
          <a:xfrm>
            <a:off x="39319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A"/>
                </a:solidFill>
              </a:rPr>
              <a:t>Cao</a:t>
            </a:r>
            <a:endParaRPr lang="en-US" sz="1800" dirty="0"/>
          </a:p>
        </p:txBody>
      </p:sp>
      <p:sp>
        <p:nvSpPr>
          <p:cNvPr id="10" name="o-ma-tran"/>
          <p:cNvSpPr/>
          <p:nvPr/>
        </p:nvSpPr>
        <p:spPr>
          <a:xfrm>
            <a:off x="6309360" y="1554480"/>
            <a:ext cx="2286000" cy="822960"/>
          </a:xfrm>
          <a:prstGeom prst="rect">
            <a:avLst/>
          </a:prstGeom>
          <a:solidFill>
            <a:srgbClr val="B547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o-ma-tran-chu"/>
          <p:cNvSpPr txBox="1"/>
          <p:nvPr/>
        </p:nvSpPr>
        <p:spPr>
          <a:xfrm>
            <a:off x="630936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A"/>
                </a:solidFill>
              </a:rPr>
              <a:t>Rất cao</a:t>
            </a:r>
            <a:endParaRPr lang="en-US" sz="1800" dirty="0"/>
          </a:p>
        </p:txBody>
      </p:sp>
      <p:sp>
        <p:nvSpPr>
          <p:cNvPr id="12" name="truc-y"/>
          <p:cNvSpPr txBox="1"/>
          <p:nvPr/>
        </p:nvSpPr>
        <p:spPr>
          <a:xfrm>
            <a:off x="457200" y="242316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656"/>
                </a:solidFill>
              </a:rPr>
              <a:t>Vừa</a:t>
            </a:r>
            <a:endParaRPr lang="en-US" sz="1400" dirty="0"/>
          </a:p>
        </p:txBody>
      </p:sp>
      <p:sp>
        <p:nvSpPr>
          <p:cNvPr id="13" name="o-ma-tran"/>
          <p:cNvSpPr/>
          <p:nvPr/>
        </p:nvSpPr>
        <p:spPr>
          <a:xfrm>
            <a:off x="1554480" y="2423160"/>
            <a:ext cx="2286000" cy="822960"/>
          </a:xfrm>
          <a:prstGeom prst="rect">
            <a:avLst/>
          </a:prstGeom>
          <a:solidFill>
            <a:srgbClr val="9CC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-ma-tran-chu"/>
          <p:cNvSpPr txBox="1"/>
          <p:nvPr/>
        </p:nvSpPr>
        <p:spPr>
          <a:xfrm>
            <a:off x="15544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A"/>
                </a:solidFill>
              </a:rPr>
              <a:t>Thấp</a:t>
            </a:r>
            <a:endParaRPr lang="en-US" sz="1800" dirty="0"/>
          </a:p>
        </p:txBody>
      </p:sp>
      <p:sp>
        <p:nvSpPr>
          <p:cNvPr id="15" name="o-ma-tran"/>
          <p:cNvSpPr/>
          <p:nvPr/>
        </p:nvSpPr>
        <p:spPr>
          <a:xfrm>
            <a:off x="3931920" y="2423160"/>
            <a:ext cx="2286000" cy="822960"/>
          </a:xfrm>
          <a:prstGeom prst="rect">
            <a:avLst/>
          </a:prstGeom>
          <a:solidFill>
            <a:srgbClr val="E6C36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o-ma-tran-chu"/>
          <p:cNvSpPr txBox="1"/>
          <p:nvPr/>
        </p:nvSpPr>
        <p:spPr>
          <a:xfrm>
            <a:off x="393192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A"/>
                </a:solidFill>
              </a:rPr>
              <a:t>Trung bình</a:t>
            </a:r>
            <a:endParaRPr lang="en-US" sz="1800" dirty="0"/>
          </a:p>
        </p:txBody>
      </p:sp>
      <p:sp>
        <p:nvSpPr>
          <p:cNvPr id="17" name="o-ma-tran"/>
          <p:cNvSpPr/>
          <p:nvPr/>
        </p:nvSpPr>
        <p:spPr>
          <a:xfrm>
            <a:off x="6309360" y="2423160"/>
            <a:ext cx="2286000" cy="822960"/>
          </a:xfrm>
          <a:prstGeom prst="rect">
            <a:avLst/>
          </a:prstGeom>
          <a:solidFill>
            <a:srgbClr val="D982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o-ma-tran-chu"/>
          <p:cNvSpPr txBox="1"/>
          <p:nvPr/>
        </p:nvSpPr>
        <p:spPr>
          <a:xfrm>
            <a:off x="63093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A"/>
                </a:solidFill>
              </a:rPr>
              <a:t>Cao</a:t>
            </a:r>
            <a:endParaRPr lang="en-US" sz="1800" dirty="0"/>
          </a:p>
        </p:txBody>
      </p:sp>
      <p:sp>
        <p:nvSpPr>
          <p:cNvPr id="19" name="truc-y"/>
          <p:cNvSpPr txBox="1"/>
          <p:nvPr/>
        </p:nvSpPr>
        <p:spPr>
          <a:xfrm>
            <a:off x="457200" y="329184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656"/>
                </a:solidFill>
              </a:rPr>
              <a:t>Thấp</a:t>
            </a:r>
            <a:endParaRPr lang="en-US" sz="1400" dirty="0"/>
          </a:p>
        </p:txBody>
      </p:sp>
      <p:sp>
        <p:nvSpPr>
          <p:cNvPr id="20" name="o-ma-tran"/>
          <p:cNvSpPr/>
          <p:nvPr/>
        </p:nvSpPr>
        <p:spPr>
          <a:xfrm>
            <a:off x="1554480" y="3291840"/>
            <a:ext cx="2286000" cy="822960"/>
          </a:xfrm>
          <a:prstGeom prst="rect">
            <a:avLst/>
          </a:prstGeom>
          <a:solidFill>
            <a:srgbClr val="9CC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o-ma-tran-chu"/>
          <p:cNvSpPr txBox="1"/>
          <p:nvPr/>
        </p:nvSpPr>
        <p:spPr>
          <a:xfrm>
            <a:off x="1554480" y="3291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A"/>
                </a:solidFill>
              </a:rPr>
              <a:t>Thấp</a:t>
            </a:r>
            <a:endParaRPr lang="en-US" sz="1800" dirty="0"/>
          </a:p>
        </p:txBody>
      </p:sp>
      <p:sp>
        <p:nvSpPr>
          <p:cNvPr id="22" name="o-ma-tran"/>
          <p:cNvSpPr/>
          <p:nvPr/>
        </p:nvSpPr>
        <p:spPr>
          <a:xfrm>
            <a:off x="3931920" y="3291840"/>
            <a:ext cx="2286000" cy="822960"/>
          </a:xfrm>
          <a:prstGeom prst="rect">
            <a:avLst/>
          </a:prstGeom>
          <a:solidFill>
            <a:srgbClr val="9CC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o-ma-tran-chu"/>
          <p:cNvSpPr txBox="1"/>
          <p:nvPr/>
        </p:nvSpPr>
        <p:spPr>
          <a:xfrm>
            <a:off x="3931920" y="3291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A"/>
                </a:solidFill>
              </a:rPr>
              <a:t>Thấp</a:t>
            </a:r>
            <a:endParaRPr lang="en-US" sz="1800" dirty="0"/>
          </a:p>
        </p:txBody>
      </p:sp>
      <p:sp>
        <p:nvSpPr>
          <p:cNvPr id="24" name="o-ma-tran"/>
          <p:cNvSpPr/>
          <p:nvPr/>
        </p:nvSpPr>
        <p:spPr>
          <a:xfrm>
            <a:off x="6309360" y="3291840"/>
            <a:ext cx="2286000" cy="822960"/>
          </a:xfrm>
          <a:prstGeom prst="rect">
            <a:avLst/>
          </a:prstGeom>
          <a:solidFill>
            <a:srgbClr val="E6C36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o-ma-tran-chu"/>
          <p:cNvSpPr txBox="1"/>
          <p:nvPr/>
        </p:nvSpPr>
        <p:spPr>
          <a:xfrm>
            <a:off x="6309360" y="3291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A"/>
                </a:solidFill>
              </a:rPr>
              <a:t>Trung bình</a:t>
            </a:r>
            <a:endParaRPr lang="en-US" sz="1800" dirty="0"/>
          </a:p>
        </p:txBody>
      </p:sp>
      <p:sp>
        <p:nvSpPr>
          <p:cNvPr id="26" name="truc-x-nhan"/>
          <p:cNvSpPr txBox="1"/>
          <p:nvPr/>
        </p:nvSpPr>
        <p:spPr>
          <a:xfrm>
            <a:off x="1554480" y="41879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656"/>
                </a:solidFill>
              </a:rPr>
              <a:t>Thấp</a:t>
            </a:r>
            <a:endParaRPr lang="en-US" sz="1400" dirty="0"/>
          </a:p>
        </p:txBody>
      </p:sp>
      <p:sp>
        <p:nvSpPr>
          <p:cNvPr id="27" name="truc-x-nhan"/>
          <p:cNvSpPr txBox="1"/>
          <p:nvPr/>
        </p:nvSpPr>
        <p:spPr>
          <a:xfrm>
            <a:off x="3931920" y="41879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656"/>
                </a:solidFill>
              </a:rPr>
              <a:t>Vừa</a:t>
            </a:r>
            <a:endParaRPr lang="en-US" sz="1400" dirty="0"/>
          </a:p>
        </p:txBody>
      </p:sp>
      <p:sp>
        <p:nvSpPr>
          <p:cNvPr id="28" name="truc-x-nhan"/>
          <p:cNvSpPr txBox="1"/>
          <p:nvPr/>
        </p:nvSpPr>
        <p:spPr>
          <a:xfrm>
            <a:off x="6309360" y="41879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656"/>
                </a:solidFill>
              </a:rPr>
              <a:t>Cao</a:t>
            </a:r>
            <a:endParaRPr lang="en-US" sz="1400" dirty="0"/>
          </a:p>
        </p:txBody>
      </p:sp>
      <p:sp>
        <p:nvSpPr>
          <p:cNvPr id="29" name="truc-y-nhan"/>
          <p:cNvSpPr txBox="1"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656"/>
                </a:solidFill>
              </a:rPr>
              <a:t>Xác suất ↑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3E"/>
                </a:solidFill>
              </a:rPr>
              <a:t>Nhóm lập ma trận cho dự án tốt nghiệp của mình</a:t>
            </a:r>
            <a:endParaRPr lang="en-US" sz="2800" dirty="0"/>
          </a:p>
        </p:txBody>
      </p:sp>
      <p:sp>
        <p:nvSpPr>
          <p:cNvPr id="4" name="noi-dung"/>
          <p:cNvSpPr txBox="1"/>
          <p:nvPr/>
        </p:nvSpPr>
        <p:spPr>
          <a:xfrm>
            <a:off x="457200" y="146304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B1F2A"/>
                </a:solidFill>
              </a:rPr>
              <a:t>Nêu ít nhất 5 rủi ro của dự án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B1F2A"/>
                </a:solidFill>
              </a:rPr>
              <a:t>Xếp mỗi rủi ro vào ma trận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B1F2A"/>
                </a:solidFill>
              </a:rPr>
              <a:t>Chọn rủi ro cao nhất, đề xuất biện pháp ứng phó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3D3E"/>
                </a:solidFill>
              </a:rPr>
              <a:t>Tóm tắt và bài tập</a:t>
            </a:r>
            <a:endParaRPr lang="en-US" sz="2800" dirty="0"/>
          </a:p>
        </p:txBody>
      </p:sp>
      <p:sp>
        <p:nvSpPr>
          <p:cNvPr id="4" name="noi-dung"/>
          <p:cNvSpPr txBox="1"/>
          <p:nvPr/>
        </p:nvSpPr>
        <p:spPr>
          <a:xfrm>
            <a:off x="457200" y="146304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B1F2A"/>
                </a:solidFill>
              </a:rPr>
              <a:t>Nhận diện, đánh giá, ứng phó là ba bước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B1F2A"/>
                </a:solidFill>
              </a:rPr>
              <a:t>Bài tập: hoàn thiện ma trận rủi ro của nhóm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B1F2A"/>
                </a:solidFill>
              </a:rPr>
              <a:t>Học liệu: giáo trình học phần, chương rủi ro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u nghiem">
  <a:themeElements>
    <a:clrScheme name="Thu nghiem">
      <a:dk1>
        <a:srgbClr val="1B1F2A"/>
      </a:dk1>
      <a:lt1>
        <a:srgbClr val="FFFFFF"/>
      </a:lt1>
      <a:dk2>
        <a:srgbClr val="0F3D3E"/>
      </a:dk2>
      <a:lt2>
        <a:srgbClr val="EEF3F2"/>
      </a:lt2>
      <a:accent1>
        <a:srgbClr val="0F6E6E"/>
      </a:accent1>
      <a:accent2>
        <a:srgbClr val="D9822B"/>
      </a:accent2>
      <a:accent3>
        <a:srgbClr val="5B8DB8"/>
      </a:accent3>
      <a:accent4>
        <a:srgbClr val="7A8B8B"/>
      </a:accent4>
      <a:accent5>
        <a:srgbClr val="B5473A"/>
      </a:accent5>
      <a:accent6>
        <a:srgbClr val="3E7C4F"/>
      </a:accent6>
      <a:hlink>
        <a:srgbClr val="0F6E6E"/>
      </a:hlink>
      <a:folHlink>
        <a:srgbClr val="7A8B8B"/>
      </a:folHlink>
    </a:clrScheme>
    <a:fontScheme name="Thu nghie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Quản trị rủi ro dự án</dc:title>
  <dc:subject>PptxGenJS Presentation</dc:subject>
  <dc:creator>PptxGenJS</dc:creator>
  <cp:lastModifiedBy>PptxGenJS</cp:lastModifiedBy>
  <cp:revision>1</cp:revision>
  <dcterms:created xsi:type="dcterms:W3CDTF">2026-10-10T11:26:21Z</dcterms:created>
  <dcterms:modified xsi:type="dcterms:W3CDTF">2026-10-10T11:26:21Z</dcterms:modified>
</cp:coreProperties>
</file>