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4.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Brief" id="{776d4d88-f88d-c438-8188-7d1875ae39a8}">
          <p14:sldIdLst>
            <p14:sldId id="256"/>
            <p14:sldId id="257"/>
            <p14:sldId id="258"/>
            <p14:sldId id="259"/>
          </p14:sldIdLst>
        </p14:section>
        <p14:section name="Kế hoạch" id="{ddb0a298-4956-3d92-4363-db27050ba76b}">
          <p14:sldIdLst>
            <p14:sldId id="260"/>
            <p14:sldId id="261"/>
            <p14:sldId id="26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Ngân sách</c:v>
                </c:pt>
              </c:strCache>
            </c:strRef>
          </c:tx>
          <c:spPr>
            <a:solidFill>
              <a:srgbClr val="0F6E6E"/>
            </a:solidFill>
            <a:effectLst/>
          </c:spPr>
          <c:invertIfNegative val="0"/>
          <c:dLbls>
            <c:numFmt formatCode="#,##0" sourceLinked="0"/>
            <c:txPr>
              <a:bodyPr/>
              <a:lstStyle/>
              <a:p>
                <a:pPr>
                  <a:defRPr b="0" i="0" strike="noStrike" sz="1200" u="none">
                    <a:solidFill>
                      <a:srgbClr val="1B1F2A"/>
                    </a:solidFill>
                    <a:latin typeface="Arial"/>
                  </a:defRPr>
                </a:pPr>
              </a:p>
            </c:txPr>
            <c:showLegendKey val="0"/>
            <c:showVal val="1"/>
            <c:showCatName val="0"/>
            <c:showSerName val="0"/>
            <c:showPercent val="0"/>
            <c:showBubbleSize val="0"/>
            <c:showLeaderLines val="0"/>
          </c:dLbls>
          <c:cat>
            <c:multiLvlStrRef>
              <c:f>Sheet1!$A$2:$A$5</c:f>
              <c:multiLvlStrCache>
                <c:ptCount val="4"/>
                <c:lvl>
                  <c:pt idx="0">
                    <c:v>Facebook Ads</c:v>
                  </c:pt>
                  <c:pt idx="1">
                    <c:v>Tư vấn tại trường THPT</c:v>
                  </c:pt>
                  <c:pt idx="2">
                    <c:v>Website và SEO</c:v>
                  </c:pt>
                  <c:pt idx="3">
                    <c:v>Zalo OA</c:v>
                  </c:pt>
                </c:lvl>
              </c:multiLvlStrCache>
            </c:multiLvlStrRef>
          </c:cat>
          <c:val>
            <c:numRef>
              <c:f>Sheet1!$B$2:$B$5</c:f>
              <c:numCache>
                <c:formatCode>General</c:formatCode>
                <c:ptCount val="4"/>
                <c:pt idx="0">
                  <c:v>200</c:v>
                </c:pt>
                <c:pt idx="1">
                  <c:v>150</c:v>
                </c:pt>
                <c:pt idx="2">
                  <c:v>90</c:v>
                </c:pt>
                <c:pt idx="3">
                  <c:v>80</c:v>
                </c:pt>
              </c:numCache>
            </c:numRef>
          </c:val>
        </c:ser>
        <c:dLbls>
          <c:numFmt formatCode="#,##0" sourceLinked="0"/>
          <c:txPr>
            <a:bodyPr/>
            <a:lstStyle/>
            <a:p>
              <a:pPr>
                <a:defRPr b="0" i="0" strike="noStrike" sz="1200" u="none">
                  <a:solidFill>
                    <a:srgbClr val="1B1F2A"/>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B1F2A"/>
                </a:solidFill>
                <a:latin typeface="Arial"/>
              </a:defRPr>
            </a:pPr>
            <a:endParaRPr lang="en-US"/>
          </a:p>
        </c:txPr>
        <c:crossAx val="2094734552"/>
        <c:crosses val="autoZero"/>
        <c:auto val="1"/>
        <c:lblAlgn val="ctr"/>
        <c:noMultiLvlLbl val="1"/>
      </c:catAx>
      <c:valAx>
        <c:axId val="2094734552"/>
        <c:scaling>
          <c:orientation val="minMax"/>
          <c:min val="0"/>
        </c:scaling>
        <c:delete val="0"/>
        <c:axPos val="b"/>
        <c:majorGridlines>
          <c:spPr>
            <a:ln w="6350" cap="flat">
              <a:solidFill>
                <a:srgbClr val="D9E0DF"/>
              </a:solidFill>
              <a:prstDash val="solid"/>
              <a:round/>
            </a:ln>
          </c:spPr>
        </c:majorGridlines>
        <c:title>
          <c:tx>
            <c:rich>
              <a:bodyPr/>
              <a:lstStyle/>
              <a:p>
                <a:pPr>
                  <a:defRPr sz="1200" b="0" i="0" u="none" strike="noStrike">
                    <a:solidFill>
                      <a:srgbClr val="000000"/>
                    </a:solidFill>
                    <a:latin typeface="Arial"/>
                  </a:defRPr>
                </a:pPr>
                <a:r>
                  <a:rPr sz="1200" b="0" i="0" u="none" strike="noStrike">
                    <a:solidFill>
                      <a:srgbClr val="000000"/>
                    </a:solidFill>
                    <a:latin typeface="Arial"/>
                  </a:rPr>
                  <a:t>Triệu đồng</a:t>
                </a:r>
              </a:p>
            </c:rich>
          </c:tx>
          <c:layout/>
          <c:overlay val="0"/>
        </c:title>
        <c:numFmt formatCode="General" sourceLinked="0"/>
        <c:majorTickMark val="out"/>
        <c:minorTickMark val="none"/>
        <c:tickLblPos val="low"/>
        <c:spPr>
          <a:ln w="12700" cap="flat">
            <a:noFill/>
            <a:prstDash val="solid"/>
            <a:round/>
          </a:ln>
        </c:spPr>
        <c:txPr>
          <a:bodyPr/>
          <a:lstStyle/>
          <a:p>
            <a:pPr>
              <a:defRPr sz="1200" b="0" i="0" u="none" strike="noStrike">
                <a:solidFill>
                  <a:srgbClr val="1B1F2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Giới thiệu chiến dịch và khoảng thời gian chạy. Đây là bản brief nội bộ, chưa phải kế hoạch chi tiết từng ngày.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Mục tiêu đo được duy nhất trong đầu vào là số hồ sơ. Mục tiêu nhận diện thương hiệu chưa có con số nên chưa viết thành mục tiêu; cần bổ sung chỉ số và thời hạn.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Học sinh lớp 12 dùng Facebook và Zalo, quan tâm học phí và cơ hội việc làm. Phụ huynh dùng Facebook, quan tâm học phí và học bổng.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Thông điệp chính chưa có số liệu làm bằng chứng nên chỉ nêu như định hướng, không thêm con số. Thông điệp phụ về học bổng có căn cứ theo đầu vào.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Ngân sách theo kênh, triệu đồng. Cộng bốn kênh là 520 triệu đồng, trong khi đầu vào khai tổng 500 triệu đồng, lệch 20 triệu đồng chưa giải thích; không tự điều chỉnh kênh nào.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Timeline theo bốn pha. Đầu vào chưa có ngày bắt đầu và kết thúc từng pha, người phụ trách và bàn giao, nên slide chỉ nêu pha và để trống mốc.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KPI tổng là 1.500 hồ sơ. Ba kênh đã có chỉ tiêu lead; Zalo OA chưa có KPI nên để trống. Chưa nêu tần suất báo cáo vì đầu vào không có.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0F3D3E"/>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371600"/>
          </a:xfrm>
          <a:prstGeom prst="rect">
            <a:avLst/>
          </a:prstGeom>
          <a:noFill/>
          <a:ln/>
        </p:spPr>
        <p:txBody>
          <a:bodyPr wrap="square" rtlCol="0"/>
          <a:lstStyle>
            <a:lvl1pPr algn="l" indent="0" marL="0">
              <a:buNone/>
              <a:defRPr lang="en-US" sz="3600" b="1" dirty="0">
                <a:solidFill>
                  <a:srgbClr val="FFFFFF"/>
                </a:solidFill>
              </a:defRPr>
            </a:lvl1pPr>
          </a:lstStyle>
          <a:p>
            <a:pPr algn="l" indent="0" marL="0">
              <a:buNone/>
            </a:pPr>
            <a:endParaRPr lang="en-US" sz="3600" dirty="0"/>
          </a:p>
        </p:txBody>
      </p:sp>
      <p:sp>
        <p:nvSpPr>
          <p:cNvPr id="3" name="Text 0"/>
          <p:cNvSpPr/>
          <p:nvPr>
            <p:ph idx="101" type="body" hasCustomPrompt="1"/>
          </p:nvPr>
        </p:nvSpPr>
        <p:spPr>
          <a:xfrm>
            <a:off x="548640" y="2926080"/>
            <a:ext cx="8046720" cy="914400"/>
          </a:xfrm>
          <a:prstGeom prst="rect">
            <a:avLst/>
          </a:prstGeom>
          <a:noFill/>
          <a:ln/>
        </p:spPr>
        <p:txBody>
          <a:bodyPr wrap="square" rtlCol="0"/>
          <a:lstStyle>
            <a:lvl1pPr algn="l" indent="0" marL="0">
              <a:buNone/>
              <a:defRPr lang="en-US" sz="1800" dirty="0">
                <a:solidFill>
                  <a:srgbClr val="CFE3E1"/>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68680"/>
          </a:xfrm>
          <a:prstGeom prst="rect">
            <a:avLst/>
          </a:prstGeom>
          <a:noFill/>
          <a:ln/>
        </p:spPr>
        <p:txBody>
          <a:bodyPr wrap="square" rtlCol="0"/>
          <a:lstStyle>
            <a:lvl1pPr algn="l" indent="0" marL="0">
              <a:buNone/>
              <a:defRPr lang="en-US" sz="2800" b="1" dirty="0">
                <a:solidFill>
                  <a:srgbClr val="0F3D3E"/>
                </a:solidFill>
              </a:defRPr>
            </a:lvl1pPr>
          </a:lstStyle>
          <a:p>
            <a:pPr algn="l" indent="0" marL="0">
              <a:buNone/>
            </a:pPr>
            <a:endParaRPr lang="en-US" sz="28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371600"/>
          </a:xfrm>
          <a:prstGeom prst="rect">
            <a:avLst/>
          </a:prstGeom>
          <a:noFill/>
          <a:ln/>
        </p:spPr>
        <p:txBody>
          <a:bodyPr wrap="square" lIns="0" tIns="0" rIns="0" bIns="0" rtlCol="0" anchor="b"/>
          <a:lstStyle/>
          <a:p>
            <a:pPr algn="l" indent="0" marL="0">
              <a:buNone/>
            </a:pPr>
            <a:r>
              <a:rPr lang="en-US" sz="3600" b="1" dirty="0">
                <a:solidFill>
                  <a:srgbClr val="FFFFFF"/>
                </a:solidFill>
              </a:rPr>
              <a:t>Tuyển sinh đợt 1 năm 2027</a:t>
            </a:r>
            <a:endParaRPr lang="en-US" sz="3600" dirty="0"/>
          </a:p>
        </p:txBody>
      </p:sp>
      <p:sp>
        <p:nvSpPr>
          <p:cNvPr id="3" name="Text 0"/>
          <p:cNvSpPr/>
          <p:nvPr>
            <p:ph idx="101" type="body" hasCustomPrompt="1"/>
          </p:nvPr>
        </p:nvSpPr>
        <p:spPr>
          <a:xfrm>
            <a:off x="548640" y="2926080"/>
            <a:ext cx="8046720" cy="914400"/>
          </a:xfrm>
          <a:prstGeom prst="rect">
            <a:avLst/>
          </a:prstGeom>
          <a:noFill/>
          <a:ln/>
        </p:spPr>
        <p:txBody>
          <a:bodyPr wrap="square" lIns="0" tIns="0" rIns="0" bIns="0" rtlCol="0" anchor="t"/>
          <a:lstStyle/>
          <a:p>
            <a:pPr algn="l" indent="0" marL="0">
              <a:buNone/>
            </a:pPr>
            <a:r>
              <a:rPr lang="en-US" sz="1800" dirty="0">
                <a:solidFill>
                  <a:srgbClr val="CFE3E1"/>
                </a:solidFill>
              </a:rPr>
              <a:t>Campaign brief · 01/02/2027–30/06/2027</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68680"/>
          </a:xfrm>
          <a:prstGeom prst="rect">
            <a:avLst/>
          </a:prstGeom>
          <a:noFill/>
          <a:ln/>
        </p:spPr>
        <p:txBody>
          <a:bodyPr wrap="square" lIns="0" tIns="0" rIns="0" bIns="0" rtlCol="0" anchor="ctr"/>
          <a:lstStyle/>
          <a:p>
            <a:pPr algn="l" indent="0" marL="0">
              <a:buNone/>
            </a:pPr>
            <a:r>
              <a:rPr lang="en-US" sz="2800" b="1" dirty="0">
                <a:solidFill>
                  <a:srgbClr val="0F3D3E"/>
                </a:solidFill>
              </a:rPr>
              <a:t>Mục tiêu: 1.500 hồ sơ đăng ký trước 30/06/2027</a:t>
            </a:r>
            <a:endParaRPr lang="en-US" sz="2800" dirty="0"/>
          </a:p>
        </p:txBody>
      </p:sp>
      <p:sp>
        <p:nvSpPr>
          <p:cNvPr id="4" name="the"/>
          <p:cNvSpPr/>
          <p:nvPr/>
        </p:nvSpPr>
        <p:spPr>
          <a:xfrm>
            <a:off x="457200" y="1371600"/>
            <a:ext cx="3931920" cy="1737360"/>
          </a:xfrm>
          <a:prstGeom prst="roundRect">
            <a:avLst>
              <a:gd name="adj" fmla="val 5263"/>
            </a:avLst>
          </a:prstGeom>
          <a:solidFill>
            <a:srgbClr val="EEF3F2"/>
          </a:solidFill>
          <a:ln w="12700">
            <a:solidFill>
              <a:srgbClr val="EEF3F2"/>
            </a:solidFill>
            <a:prstDash val="solid"/>
          </a:ln>
        </p:spPr>
      </p:sp>
      <p:sp>
        <p:nvSpPr>
          <p:cNvPr id="5" name="so-lieu"/>
          <p:cNvSpPr txBox="1"/>
          <p:nvPr/>
        </p:nvSpPr>
        <p:spPr>
          <a:xfrm>
            <a:off x="594360" y="1508760"/>
            <a:ext cx="3657600" cy="822960"/>
          </a:xfrm>
          <a:prstGeom prst="rect">
            <a:avLst/>
          </a:prstGeom>
          <a:noFill/>
          <a:ln/>
        </p:spPr>
        <p:txBody>
          <a:bodyPr wrap="square" lIns="0" tIns="0" rIns="0" bIns="0" rtlCol="0" anchor="ctr"/>
          <a:lstStyle/>
          <a:p>
            <a:pPr indent="0" marL="0">
              <a:buNone/>
            </a:pPr>
            <a:r>
              <a:rPr lang="en-US" sz="4000" b="1" dirty="0">
                <a:solidFill>
                  <a:srgbClr val="0F6E6E"/>
                </a:solidFill>
                <a:latin typeface="Cambria" pitchFamily="34" charset="0"/>
                <a:ea typeface="Cambria" pitchFamily="34" charset="-122"/>
                <a:cs typeface="Cambria" pitchFamily="34" charset="-120"/>
              </a:rPr>
              <a:t>1.500</a:t>
            </a:r>
            <a:endParaRPr lang="en-US" sz="4000" dirty="0"/>
          </a:p>
        </p:txBody>
      </p:sp>
      <p:sp>
        <p:nvSpPr>
          <p:cNvPr id="6" name="nhan"/>
          <p:cNvSpPr txBox="1"/>
          <p:nvPr/>
        </p:nvSpPr>
        <p:spPr>
          <a:xfrm>
            <a:off x="594360" y="2331720"/>
            <a:ext cx="3657600" cy="685800"/>
          </a:xfrm>
          <a:prstGeom prst="rect">
            <a:avLst/>
          </a:prstGeom>
          <a:noFill/>
          <a:ln/>
        </p:spPr>
        <p:txBody>
          <a:bodyPr wrap="square" lIns="0" tIns="0" rIns="0" bIns="0" rtlCol="0" anchor="t"/>
          <a:lstStyle/>
          <a:p>
            <a:pPr indent="0" marL="0">
              <a:buNone/>
            </a:pPr>
            <a:r>
              <a:rPr lang="en-US" sz="1400" dirty="0">
                <a:solidFill>
                  <a:srgbClr val="1B1F2A"/>
                </a:solidFill>
              </a:rPr>
              <a:t>hồ sơ đăng ký xét tuyển, hạn 30/06/2027</a:t>
            </a:r>
            <a:endParaRPr lang="en-US" sz="1400" dirty="0"/>
          </a:p>
        </p:txBody>
      </p:sp>
      <p:sp>
        <p:nvSpPr>
          <p:cNvPr id="7" name="luu-y"/>
          <p:cNvSpPr/>
          <p:nvPr/>
        </p:nvSpPr>
        <p:spPr>
          <a:xfrm>
            <a:off x="4754880" y="1371600"/>
            <a:ext cx="3931920" cy="1737360"/>
          </a:xfrm>
          <a:prstGeom prst="roundRect">
            <a:avLst>
              <a:gd name="adj" fmla="val 5263"/>
            </a:avLst>
          </a:prstGeom>
          <a:solidFill>
            <a:srgbClr val="FBEEDD"/>
          </a:solidFill>
          <a:ln w="12700">
            <a:solidFill>
              <a:srgbClr val="D9822B"/>
            </a:solidFill>
            <a:prstDash val="solid"/>
          </a:ln>
        </p:spPr>
      </p:sp>
      <p:sp>
        <p:nvSpPr>
          <p:cNvPr id="8" name="luu-y-chu"/>
          <p:cNvSpPr txBox="1"/>
          <p:nvPr/>
        </p:nvSpPr>
        <p:spPr>
          <a:xfrm>
            <a:off x="4892040" y="1481328"/>
            <a:ext cx="3657600" cy="1554480"/>
          </a:xfrm>
          <a:prstGeom prst="rect">
            <a:avLst/>
          </a:prstGeom>
          <a:noFill/>
          <a:ln/>
        </p:spPr>
        <p:txBody>
          <a:bodyPr wrap="square" lIns="0" tIns="0" rIns="0" bIns="0" rtlCol="0" anchor="t"/>
          <a:lstStyle/>
          <a:p>
            <a:pPr indent="0" marL="0">
              <a:buNone/>
            </a:pPr>
            <a:r>
              <a:rPr lang="en-US" sz="1800" b="1" dirty="0">
                <a:solidFill>
                  <a:srgbClr val="1B1F2A"/>
                </a:solidFill>
              </a:rPr>
              <a:t>Chưa đo được</a:t>
            </a:r>
            <a:endParaRPr lang="en-US" sz="1800" dirty="0"/>
          </a:p>
          <a:p>
            <a:pPr indent="0" marL="0">
              <a:buNone/>
            </a:pPr>
            <a:r>
              <a:rPr lang="en-US" sz="1400" dirty="0">
                <a:solidFill>
                  <a:srgbClr val="1B1F2A"/>
                </a:solidFill>
              </a:rPr>
              <a:t>Mục tiêu 'tăng nhận diện thương hiệu' chưa có chỉ số và thời hạn</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68680"/>
          </a:xfrm>
          <a:prstGeom prst="rect">
            <a:avLst/>
          </a:prstGeom>
          <a:noFill/>
          <a:ln/>
        </p:spPr>
        <p:txBody>
          <a:bodyPr wrap="square" lIns="0" tIns="0" rIns="0" bIns="0" rtlCol="0" anchor="ctr"/>
          <a:lstStyle/>
          <a:p>
            <a:pPr algn="l" indent="0" marL="0">
              <a:buNone/>
            </a:pPr>
            <a:r>
              <a:rPr lang="en-US" sz="2800" b="1" dirty="0">
                <a:solidFill>
                  <a:srgbClr val="0F3D3E"/>
                </a:solidFill>
              </a:rPr>
              <a:t>Hai nhóm đối tượng cùng dùng Facebook</a:t>
            </a:r>
            <a:endParaRPr lang="en-US" sz="2800" dirty="0"/>
          </a:p>
        </p:txBody>
      </p:sp>
      <p:graphicFrame>
        <p:nvGraphicFramePr>
          <p:cNvPr id="4" name="bang"/>
          <p:cNvGraphicFramePr>
            <a:graphicFrameLocks noGrp="1"/>
          </p:cNvGraphicFramePr>
          <p:nvPr>
            <p:extLst>
              <p:ext uri="{D42A27DB-BD31-4B8C-83A1-F6EECF244321}">
                <p14:modId xmlns:p14="http://schemas.microsoft.com/office/powerpoint/2010/main" val="1579011935"/>
              </p:ext>
            </p:extLst>
          </p:nvPr>
        </p:nvGraphicFramePr>
        <p:xfrm>
          <a:off x="457200" y="1463040"/>
          <a:ext cx="8229600" cy="914400"/>
        </p:xfrm>
        <a:graphic>
          <a:graphicData uri="http://schemas.openxmlformats.org/drawingml/2006/table">
            <a:tbl>
              <a:tblPr/>
              <a:tblGrid>
                <a:gridCol w="2194560"/>
                <a:gridCol w="2743200"/>
                <a:gridCol w="3291840"/>
              </a:tblGrid>
              <a:tr h="457200">
                <a:tc>
                  <a:txBody>
                    <a:bodyPr/>
                    <a:lstStyle/>
                    <a:p>
                      <a:pPr indent="0" marL="0">
                        <a:buNone/>
                      </a:pPr>
                      <a:r>
                        <a:rPr lang="en-US" sz="1400" b="1" dirty="0">
                          <a:solidFill>
                            <a:srgbClr val="FFFFFF"/>
                          </a:solidFill>
                        </a:rPr>
                        <a:t>Nhóm</a:t>
                      </a:r>
                      <a:endParaRPr lang="en-US" sz="1400" dirty="0"/>
                    </a:p>
                  </a:txBody>
                  <a:tcPr marL="91440" marR="91440" marT="54864" marB="54864" anchor="ctr">
                    <a:lnL w="9525" cap="flat" cmpd="sng" algn="ctr">
                      <a:solidFill>
                        <a:srgbClr val="B8C4C3"/>
                      </a:solidFill>
                      <a:prstDash val="solid"/>
                      <a:round/>
                      <a:headEnd type="none" w="med" len="med"/>
                      <a:tailEnd type="none" w="med" len="med"/>
                    </a:lnL>
                    <a:lnR w="9525" cap="flat" cmpd="sng" algn="ctr">
                      <a:solidFill>
                        <a:srgbClr val="B8C4C3"/>
                      </a:solidFill>
                      <a:prstDash val="solid"/>
                      <a:round/>
                      <a:headEnd type="none" w="med" len="med"/>
                      <a:tailEnd type="none" w="med" len="med"/>
                    </a:lnR>
                    <a:lnT w="9525" cap="flat" cmpd="sng" algn="ctr">
                      <a:solidFill>
                        <a:srgbClr val="B8C4C3"/>
                      </a:solidFill>
                      <a:prstDash val="solid"/>
                      <a:round/>
                      <a:headEnd type="none" w="med" len="med"/>
                      <a:tailEnd type="none" w="med" len="med"/>
                    </a:lnT>
                    <a:lnB w="9525" cap="flat" cmpd="sng" algn="ctr">
                      <a:solidFill>
                        <a:srgbClr val="B8C4C3"/>
                      </a:solidFill>
                      <a:prstDash val="solid"/>
                      <a:round/>
                      <a:headEnd type="none" w="med" len="med"/>
                      <a:tailEnd type="none" w="med" len="med"/>
                    </a:lnB>
                    <a:solidFill>
                      <a:srgbClr val="0F3D3E"/>
                    </a:solidFill>
                  </a:tcPr>
                </a:tc>
                <a:tc>
                  <a:txBody>
                    <a:bodyPr/>
                    <a:lstStyle/>
                    <a:p>
                      <a:pPr indent="0" marL="0">
                        <a:buNone/>
                      </a:pPr>
                      <a:r>
                        <a:rPr lang="en-US" sz="1400" b="1" dirty="0">
                          <a:solidFill>
                            <a:srgbClr val="FFFFFF"/>
                          </a:solidFill>
                        </a:rPr>
                        <a:t>Kênh hay dùng</a:t>
                      </a:r>
                      <a:endParaRPr lang="en-US" sz="1400" dirty="0"/>
                    </a:p>
                  </a:txBody>
                  <a:tcPr marL="91440" marR="91440" marT="54864" marB="54864" anchor="ctr">
                    <a:lnL w="9525" cap="flat" cmpd="sng" algn="ctr">
                      <a:solidFill>
                        <a:srgbClr val="B8C4C3"/>
                      </a:solidFill>
                      <a:prstDash val="solid"/>
                      <a:round/>
                      <a:headEnd type="none" w="med" len="med"/>
                      <a:tailEnd type="none" w="med" len="med"/>
                    </a:lnL>
                    <a:lnR w="9525" cap="flat" cmpd="sng" algn="ctr">
                      <a:solidFill>
                        <a:srgbClr val="B8C4C3"/>
                      </a:solidFill>
                      <a:prstDash val="solid"/>
                      <a:round/>
                      <a:headEnd type="none" w="med" len="med"/>
                      <a:tailEnd type="none" w="med" len="med"/>
                    </a:lnR>
                    <a:lnT w="9525" cap="flat" cmpd="sng" algn="ctr">
                      <a:solidFill>
                        <a:srgbClr val="B8C4C3"/>
                      </a:solidFill>
                      <a:prstDash val="solid"/>
                      <a:round/>
                      <a:headEnd type="none" w="med" len="med"/>
                      <a:tailEnd type="none" w="med" len="med"/>
                    </a:lnT>
                    <a:lnB w="9525" cap="flat" cmpd="sng" algn="ctr">
                      <a:solidFill>
                        <a:srgbClr val="B8C4C3"/>
                      </a:solidFill>
                      <a:prstDash val="solid"/>
                      <a:round/>
                      <a:headEnd type="none" w="med" len="med"/>
                      <a:tailEnd type="none" w="med" len="med"/>
                    </a:lnB>
                    <a:solidFill>
                      <a:srgbClr val="0F3D3E"/>
                    </a:solidFill>
                  </a:tcPr>
                </a:tc>
                <a:tc>
                  <a:txBody>
                    <a:bodyPr/>
                    <a:lstStyle/>
                    <a:p>
                      <a:pPr indent="0" marL="0">
                        <a:buNone/>
                      </a:pPr>
                      <a:r>
                        <a:rPr lang="en-US" sz="1400" b="1" dirty="0">
                          <a:solidFill>
                            <a:srgbClr val="FFFFFF"/>
                          </a:solidFill>
                        </a:rPr>
                        <a:t>Mối quan tâm</a:t>
                      </a:r>
                      <a:endParaRPr lang="en-US" sz="1400" dirty="0"/>
                    </a:p>
                  </a:txBody>
                  <a:tcPr marL="91440" marR="91440" marT="54864" marB="54864" anchor="ctr">
                    <a:lnL w="9525" cap="flat" cmpd="sng" algn="ctr">
                      <a:solidFill>
                        <a:srgbClr val="B8C4C3"/>
                      </a:solidFill>
                      <a:prstDash val="solid"/>
                      <a:round/>
                      <a:headEnd type="none" w="med" len="med"/>
                      <a:tailEnd type="none" w="med" len="med"/>
                    </a:lnL>
                    <a:lnR w="9525" cap="flat" cmpd="sng" algn="ctr">
                      <a:solidFill>
                        <a:srgbClr val="B8C4C3"/>
                      </a:solidFill>
                      <a:prstDash val="solid"/>
                      <a:round/>
                      <a:headEnd type="none" w="med" len="med"/>
                      <a:tailEnd type="none" w="med" len="med"/>
                    </a:lnR>
                    <a:lnT w="9525" cap="flat" cmpd="sng" algn="ctr">
                      <a:solidFill>
                        <a:srgbClr val="B8C4C3"/>
                      </a:solidFill>
                      <a:prstDash val="solid"/>
                      <a:round/>
                      <a:headEnd type="none" w="med" len="med"/>
                      <a:tailEnd type="none" w="med" len="med"/>
                    </a:lnT>
                    <a:lnB w="9525" cap="flat" cmpd="sng" algn="ctr">
                      <a:solidFill>
                        <a:srgbClr val="B8C4C3"/>
                      </a:solidFill>
                      <a:prstDash val="solid"/>
                      <a:round/>
                      <a:headEnd type="none" w="med" len="med"/>
                      <a:tailEnd type="none" w="med" len="med"/>
                    </a:lnB>
                    <a:solidFill>
                      <a:srgbClr val="0F3D3E"/>
                    </a:solidFill>
                  </a:tcPr>
                </a:tc>
              </a:tr>
              <a:tr h="731520">
                <a:tc>
                  <a:txBody>
                    <a:bodyPr/>
                    <a:lstStyle/>
                    <a:p>
                      <a:pPr indent="0" marL="0">
                        <a:buNone/>
                      </a:pPr>
                      <a:r>
                        <a:rPr lang="en-US" sz="1400" b="1" dirty="0">
                          <a:solidFill>
                            <a:srgbClr val="1B1F2A"/>
                          </a:solidFill>
                        </a:rPr>
                        <a:t>Học sinh lớp 12</a:t>
                      </a:r>
                      <a:endParaRPr lang="en-US" sz="1400" dirty="0"/>
                    </a:p>
                  </a:txBody>
                  <a:tcPr marL="91440" marR="91440" marT="54864" marB="54864" anchor="ctr">
                    <a:lnL w="9525" cap="flat" cmpd="sng" algn="ctr">
                      <a:solidFill>
                        <a:srgbClr val="B8C4C3"/>
                      </a:solidFill>
                      <a:prstDash val="solid"/>
                      <a:round/>
                      <a:headEnd type="none" w="med" len="med"/>
                      <a:tailEnd type="none" w="med" len="med"/>
                    </a:lnL>
                    <a:lnR w="9525" cap="flat" cmpd="sng" algn="ctr">
                      <a:solidFill>
                        <a:srgbClr val="B8C4C3"/>
                      </a:solidFill>
                      <a:prstDash val="solid"/>
                      <a:round/>
                      <a:headEnd type="none" w="med" len="med"/>
                      <a:tailEnd type="none" w="med" len="med"/>
                    </a:lnR>
                    <a:lnT w="9525" cap="flat" cmpd="sng" algn="ctr">
                      <a:solidFill>
                        <a:srgbClr val="B8C4C3"/>
                      </a:solidFill>
                      <a:prstDash val="solid"/>
                      <a:round/>
                      <a:headEnd type="none" w="med" len="med"/>
                      <a:tailEnd type="none" w="med" len="med"/>
                    </a:lnT>
                    <a:lnB w="9525" cap="flat" cmpd="sng" algn="ctr">
                      <a:solidFill>
                        <a:srgbClr val="B8C4C3"/>
                      </a:solidFill>
                      <a:prstDash val="solid"/>
                      <a:round/>
                      <a:headEnd type="none" w="med" len="med"/>
                      <a:tailEnd type="none" w="med" len="med"/>
                    </a:lnB>
                  </a:tcPr>
                </a:tc>
                <a:tc>
                  <a:txBody>
                    <a:bodyPr/>
                    <a:lstStyle/>
                    <a:p>
                      <a:pPr indent="0" marL="0">
                        <a:buNone/>
                      </a:pPr>
                      <a:r>
                        <a:rPr lang="en-US" sz="1400" dirty="0">
                          <a:solidFill>
                            <a:srgbClr val="1B1F2A"/>
                          </a:solidFill>
                        </a:rPr>
                        <a:t>Facebook, Zalo</a:t>
                      </a:r>
                      <a:endParaRPr lang="en-US" sz="1400" dirty="0"/>
                    </a:p>
                  </a:txBody>
                  <a:tcPr marL="91440" marR="91440" marT="54864" marB="54864" anchor="ctr">
                    <a:lnL w="9525" cap="flat" cmpd="sng" algn="ctr">
                      <a:solidFill>
                        <a:srgbClr val="B8C4C3"/>
                      </a:solidFill>
                      <a:prstDash val="solid"/>
                      <a:round/>
                      <a:headEnd type="none" w="med" len="med"/>
                      <a:tailEnd type="none" w="med" len="med"/>
                    </a:lnL>
                    <a:lnR w="9525" cap="flat" cmpd="sng" algn="ctr">
                      <a:solidFill>
                        <a:srgbClr val="B8C4C3"/>
                      </a:solidFill>
                      <a:prstDash val="solid"/>
                      <a:round/>
                      <a:headEnd type="none" w="med" len="med"/>
                      <a:tailEnd type="none" w="med" len="med"/>
                    </a:lnR>
                    <a:lnT w="9525" cap="flat" cmpd="sng" algn="ctr">
                      <a:solidFill>
                        <a:srgbClr val="B8C4C3"/>
                      </a:solidFill>
                      <a:prstDash val="solid"/>
                      <a:round/>
                      <a:headEnd type="none" w="med" len="med"/>
                      <a:tailEnd type="none" w="med" len="med"/>
                    </a:lnT>
                    <a:lnB w="9525" cap="flat" cmpd="sng" algn="ctr">
                      <a:solidFill>
                        <a:srgbClr val="B8C4C3"/>
                      </a:solidFill>
                      <a:prstDash val="solid"/>
                      <a:round/>
                      <a:headEnd type="none" w="med" len="med"/>
                      <a:tailEnd type="none" w="med" len="med"/>
                    </a:lnB>
                  </a:tcPr>
                </a:tc>
                <a:tc>
                  <a:txBody>
                    <a:bodyPr/>
                    <a:lstStyle/>
                    <a:p>
                      <a:pPr indent="0" marL="0">
                        <a:buNone/>
                      </a:pPr>
                      <a:r>
                        <a:rPr lang="en-US" sz="1400" dirty="0">
                          <a:solidFill>
                            <a:srgbClr val="1B1F2A"/>
                          </a:solidFill>
                        </a:rPr>
                        <a:t>Học phí, cơ hội việc làm</a:t>
                      </a:r>
                      <a:endParaRPr lang="en-US" sz="1400" dirty="0"/>
                    </a:p>
                  </a:txBody>
                  <a:tcPr marL="91440" marR="91440" marT="54864" marB="54864" anchor="ctr">
                    <a:lnL w="9525" cap="flat" cmpd="sng" algn="ctr">
                      <a:solidFill>
                        <a:srgbClr val="B8C4C3"/>
                      </a:solidFill>
                      <a:prstDash val="solid"/>
                      <a:round/>
                      <a:headEnd type="none" w="med" len="med"/>
                      <a:tailEnd type="none" w="med" len="med"/>
                    </a:lnL>
                    <a:lnR w="9525" cap="flat" cmpd="sng" algn="ctr">
                      <a:solidFill>
                        <a:srgbClr val="B8C4C3"/>
                      </a:solidFill>
                      <a:prstDash val="solid"/>
                      <a:round/>
                      <a:headEnd type="none" w="med" len="med"/>
                      <a:tailEnd type="none" w="med" len="med"/>
                    </a:lnR>
                    <a:lnT w="9525" cap="flat" cmpd="sng" algn="ctr">
                      <a:solidFill>
                        <a:srgbClr val="B8C4C3"/>
                      </a:solidFill>
                      <a:prstDash val="solid"/>
                      <a:round/>
                      <a:headEnd type="none" w="med" len="med"/>
                      <a:tailEnd type="none" w="med" len="med"/>
                    </a:lnT>
                    <a:lnB w="9525" cap="flat" cmpd="sng" algn="ctr">
                      <a:solidFill>
                        <a:srgbClr val="B8C4C3"/>
                      </a:solidFill>
                      <a:prstDash val="solid"/>
                      <a:round/>
                      <a:headEnd type="none" w="med" len="med"/>
                      <a:tailEnd type="none" w="med" len="med"/>
                    </a:lnB>
                  </a:tcPr>
                </a:tc>
              </a:tr>
              <a:tr h="731520">
                <a:tc>
                  <a:txBody>
                    <a:bodyPr/>
                    <a:lstStyle/>
                    <a:p>
                      <a:pPr indent="0" marL="0">
                        <a:buNone/>
                      </a:pPr>
                      <a:r>
                        <a:rPr lang="en-US" sz="1400" b="1" dirty="0">
                          <a:solidFill>
                            <a:srgbClr val="1B1F2A"/>
                          </a:solidFill>
                        </a:rPr>
                        <a:t>Phụ huynh</a:t>
                      </a:r>
                      <a:endParaRPr lang="en-US" sz="1400" dirty="0"/>
                    </a:p>
                  </a:txBody>
                  <a:tcPr marL="91440" marR="91440" marT="54864" marB="54864" anchor="ctr">
                    <a:lnL w="9525" cap="flat" cmpd="sng" algn="ctr">
                      <a:solidFill>
                        <a:srgbClr val="B8C4C3"/>
                      </a:solidFill>
                      <a:prstDash val="solid"/>
                      <a:round/>
                      <a:headEnd type="none" w="med" len="med"/>
                      <a:tailEnd type="none" w="med" len="med"/>
                    </a:lnL>
                    <a:lnR w="9525" cap="flat" cmpd="sng" algn="ctr">
                      <a:solidFill>
                        <a:srgbClr val="B8C4C3"/>
                      </a:solidFill>
                      <a:prstDash val="solid"/>
                      <a:round/>
                      <a:headEnd type="none" w="med" len="med"/>
                      <a:tailEnd type="none" w="med" len="med"/>
                    </a:lnR>
                    <a:lnT w="9525" cap="flat" cmpd="sng" algn="ctr">
                      <a:solidFill>
                        <a:srgbClr val="B8C4C3"/>
                      </a:solidFill>
                      <a:prstDash val="solid"/>
                      <a:round/>
                      <a:headEnd type="none" w="med" len="med"/>
                      <a:tailEnd type="none" w="med" len="med"/>
                    </a:lnT>
                    <a:lnB w="9525" cap="flat" cmpd="sng" algn="ctr">
                      <a:solidFill>
                        <a:srgbClr val="B8C4C3"/>
                      </a:solidFill>
                      <a:prstDash val="solid"/>
                      <a:round/>
                      <a:headEnd type="none" w="med" len="med"/>
                      <a:tailEnd type="none" w="med" len="med"/>
                    </a:lnB>
                  </a:tcPr>
                </a:tc>
                <a:tc>
                  <a:txBody>
                    <a:bodyPr/>
                    <a:lstStyle/>
                    <a:p>
                      <a:pPr indent="0" marL="0">
                        <a:buNone/>
                      </a:pPr>
                      <a:r>
                        <a:rPr lang="en-US" sz="1400" dirty="0">
                          <a:solidFill>
                            <a:srgbClr val="1B1F2A"/>
                          </a:solidFill>
                        </a:rPr>
                        <a:t>Facebook</a:t>
                      </a:r>
                      <a:endParaRPr lang="en-US" sz="1400" dirty="0"/>
                    </a:p>
                  </a:txBody>
                  <a:tcPr marL="91440" marR="91440" marT="54864" marB="54864" anchor="ctr">
                    <a:lnL w="9525" cap="flat" cmpd="sng" algn="ctr">
                      <a:solidFill>
                        <a:srgbClr val="B8C4C3"/>
                      </a:solidFill>
                      <a:prstDash val="solid"/>
                      <a:round/>
                      <a:headEnd type="none" w="med" len="med"/>
                      <a:tailEnd type="none" w="med" len="med"/>
                    </a:lnL>
                    <a:lnR w="9525" cap="flat" cmpd="sng" algn="ctr">
                      <a:solidFill>
                        <a:srgbClr val="B8C4C3"/>
                      </a:solidFill>
                      <a:prstDash val="solid"/>
                      <a:round/>
                      <a:headEnd type="none" w="med" len="med"/>
                      <a:tailEnd type="none" w="med" len="med"/>
                    </a:lnR>
                    <a:lnT w="9525" cap="flat" cmpd="sng" algn="ctr">
                      <a:solidFill>
                        <a:srgbClr val="B8C4C3"/>
                      </a:solidFill>
                      <a:prstDash val="solid"/>
                      <a:round/>
                      <a:headEnd type="none" w="med" len="med"/>
                      <a:tailEnd type="none" w="med" len="med"/>
                    </a:lnT>
                    <a:lnB w="9525" cap="flat" cmpd="sng" algn="ctr">
                      <a:solidFill>
                        <a:srgbClr val="B8C4C3"/>
                      </a:solidFill>
                      <a:prstDash val="solid"/>
                      <a:round/>
                      <a:headEnd type="none" w="med" len="med"/>
                      <a:tailEnd type="none" w="med" len="med"/>
                    </a:lnB>
                  </a:tcPr>
                </a:tc>
                <a:tc>
                  <a:txBody>
                    <a:bodyPr/>
                    <a:lstStyle/>
                    <a:p>
                      <a:pPr indent="0" marL="0">
                        <a:buNone/>
                      </a:pPr>
                      <a:r>
                        <a:rPr lang="en-US" sz="1400" dirty="0">
                          <a:solidFill>
                            <a:srgbClr val="1B1F2A"/>
                          </a:solidFill>
                        </a:rPr>
                        <a:t>Học phí, học bổng</a:t>
                      </a:r>
                      <a:endParaRPr lang="en-US" sz="1400" dirty="0"/>
                    </a:p>
                  </a:txBody>
                  <a:tcPr marL="91440" marR="91440" marT="54864" marB="54864" anchor="ctr">
                    <a:lnL w="9525" cap="flat" cmpd="sng" algn="ctr">
                      <a:solidFill>
                        <a:srgbClr val="B8C4C3"/>
                      </a:solidFill>
                      <a:prstDash val="solid"/>
                      <a:round/>
                      <a:headEnd type="none" w="med" len="med"/>
                      <a:tailEnd type="none" w="med" len="med"/>
                    </a:lnL>
                    <a:lnR w="9525" cap="flat" cmpd="sng" algn="ctr">
                      <a:solidFill>
                        <a:srgbClr val="B8C4C3"/>
                      </a:solidFill>
                      <a:prstDash val="solid"/>
                      <a:round/>
                      <a:headEnd type="none" w="med" len="med"/>
                      <a:tailEnd type="none" w="med" len="med"/>
                    </a:lnR>
                    <a:lnT w="9525" cap="flat" cmpd="sng" algn="ctr">
                      <a:solidFill>
                        <a:srgbClr val="B8C4C3"/>
                      </a:solidFill>
                      <a:prstDash val="solid"/>
                      <a:round/>
                      <a:headEnd type="none" w="med" len="med"/>
                      <a:tailEnd type="none" w="med" len="med"/>
                    </a:lnT>
                    <a:lnB w="9525" cap="flat" cmpd="sng" algn="ctr">
                      <a:solidFill>
                        <a:srgbClr val="B8C4C3"/>
                      </a:solidFill>
                      <a:prstDash val="solid"/>
                      <a:round/>
                      <a:headEnd type="none" w="med" len="med"/>
                      <a:tailEnd type="none" w="med" len="med"/>
                    </a:lnB>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68680"/>
          </a:xfrm>
          <a:prstGeom prst="rect">
            <a:avLst/>
          </a:prstGeom>
          <a:noFill/>
          <a:ln/>
        </p:spPr>
        <p:txBody>
          <a:bodyPr wrap="square" lIns="0" tIns="0" rIns="0" bIns="0" rtlCol="0" anchor="ctr"/>
          <a:lstStyle/>
          <a:p>
            <a:pPr algn="l" indent="0" marL="0">
              <a:buNone/>
            </a:pPr>
            <a:r>
              <a:rPr lang="en-US" sz="2800" b="1" dirty="0">
                <a:solidFill>
                  <a:srgbClr val="0F3D3E"/>
                </a:solidFill>
              </a:rPr>
              <a:t>Thông điệp chính: học thật, ra trường có việc</a:t>
            </a:r>
            <a:endParaRPr lang="en-US" sz="2800" dirty="0"/>
          </a:p>
        </p:txBody>
      </p:sp>
      <p:sp>
        <p:nvSpPr>
          <p:cNvPr id="4" name="noi-dung"/>
          <p:cNvSpPr txBox="1"/>
          <p:nvPr/>
        </p:nvSpPr>
        <p:spPr>
          <a:xfrm>
            <a:off x="457200" y="1371600"/>
            <a:ext cx="8229600" cy="2743200"/>
          </a:xfrm>
          <a:prstGeom prst="rect">
            <a:avLst/>
          </a:prstGeom>
          <a:noFill/>
          <a:ln/>
        </p:spPr>
        <p:txBody>
          <a:bodyPr wrap="square" lIns="0" tIns="0" rIns="0" bIns="0" rtlCol="0" anchor="t"/>
          <a:lstStyle/>
          <a:p>
            <a:pPr marL="342900" indent="-342900">
              <a:spcAft>
                <a:spcPts val="800"/>
              </a:spcAft>
              <a:buSzPct val="100000"/>
              <a:buChar char="•"/>
            </a:pPr>
            <a:r>
              <a:rPr lang="en-US" sz="2000" dirty="0">
                <a:solidFill>
                  <a:srgbClr val="1B1F2A"/>
                </a:solidFill>
              </a:rPr>
              <a:t>Chính: Học thật, ra trường có việc (chưa có số liệu bằng chứng)</a:t>
            </a:r>
            <a:endParaRPr lang="en-US" sz="2000" dirty="0"/>
          </a:p>
          <a:p>
            <a:pPr marL="342900" indent="-342900">
              <a:spcAft>
                <a:spcPts val="800"/>
              </a:spcAft>
              <a:buSzPct val="100000"/>
              <a:buChar char="•"/>
            </a:pPr>
            <a:r>
              <a:rPr lang="en-US" sz="2000" dirty="0">
                <a:solidFill>
                  <a:srgbClr val="1B1F2A"/>
                </a:solidFill>
              </a:rPr>
              <a:t>Phụ: Học bổng cho 100 thí sinh đầu tiên</a:t>
            </a:r>
            <a:endParaRPr lang="en-US" sz="2000" dirty="0"/>
          </a:p>
          <a:p>
            <a:pPr marL="342900" indent="-342900">
              <a:spcAft>
                <a:spcPts val="800"/>
              </a:spcAft>
              <a:buSzPct val="100000"/>
              <a:buChar char="•"/>
            </a:pPr>
            <a:r>
              <a:rPr lang="en-US" sz="2000" dirty="0">
                <a:solidFill>
                  <a:srgbClr val="1B1F2A"/>
                </a:solidFill>
              </a:rPr>
              <a:t>Phụ: Thực tập tại doanh nghiệp (chưa có số liệu bằng chứng)</a:t>
            </a:r>
            <a:endParaRPr lang="en-US" sz="2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68680"/>
          </a:xfrm>
          <a:prstGeom prst="rect">
            <a:avLst/>
          </a:prstGeom>
          <a:noFill/>
          <a:ln/>
        </p:spPr>
        <p:txBody>
          <a:bodyPr wrap="square" lIns="0" tIns="0" rIns="0" bIns="0" rtlCol="0" anchor="ctr"/>
          <a:lstStyle/>
          <a:p>
            <a:pPr algn="l" indent="0" marL="0">
              <a:buNone/>
            </a:pPr>
            <a:r>
              <a:rPr lang="en-US" sz="2800" b="1" dirty="0">
                <a:solidFill>
                  <a:srgbClr val="0F3D3E"/>
                </a:solidFill>
              </a:rPr>
              <a:t>Facebook Ads chiếm phần lớn ngân sách</a:t>
            </a:r>
            <a:endParaRPr lang="en-US" sz="2800" dirty="0"/>
          </a:p>
        </p:txBody>
      </p:sp>
      <p:graphicFrame>
        <p:nvGraphicFramePr>
          <p:cNvPr id="4" name="bieu-do" descr=""/>
          <p:cNvGraphicFramePr/>
          <p:nvPr/>
        </p:nvGraphicFramePr>
        <p:xfrm>
          <a:off x="457200" y="1234440"/>
          <a:ext cx="5486400" cy="3291840"/>
        </p:xfrm>
        <a:graphic xmlns:a="http://schemas.openxmlformats.org/drawingml/2006/main">
          <a:graphicData uri="http://schemas.openxmlformats.org/drawingml/2006/chart">
            <c:chart xmlns:c="http://schemas.openxmlformats.org/drawingml/2006/chart" r:id="rId1"/>
          </a:graphicData>
        </a:graphic>
      </p:graphicFrame>
      <p:sp>
        <p:nvSpPr>
          <p:cNvPr id="5" name="luu-y"/>
          <p:cNvSpPr/>
          <p:nvPr/>
        </p:nvSpPr>
        <p:spPr>
          <a:xfrm>
            <a:off x="6217920" y="1737360"/>
            <a:ext cx="2468880" cy="1920240"/>
          </a:xfrm>
          <a:prstGeom prst="roundRect">
            <a:avLst>
              <a:gd name="adj" fmla="val 4762"/>
            </a:avLst>
          </a:prstGeom>
          <a:solidFill>
            <a:srgbClr val="FBEEDD"/>
          </a:solidFill>
          <a:ln w="12700">
            <a:solidFill>
              <a:srgbClr val="D9822B"/>
            </a:solidFill>
            <a:prstDash val="solid"/>
          </a:ln>
        </p:spPr>
      </p:sp>
      <p:sp>
        <p:nvSpPr>
          <p:cNvPr id="6" name="luu-y-chu"/>
          <p:cNvSpPr txBox="1"/>
          <p:nvPr/>
        </p:nvSpPr>
        <p:spPr>
          <a:xfrm>
            <a:off x="6355080" y="1828800"/>
            <a:ext cx="2194560" cy="1737360"/>
          </a:xfrm>
          <a:prstGeom prst="rect">
            <a:avLst/>
          </a:prstGeom>
          <a:noFill/>
          <a:ln/>
        </p:spPr>
        <p:txBody>
          <a:bodyPr wrap="square" lIns="0" tIns="0" rIns="0" bIns="0" rtlCol="0" anchor="t"/>
          <a:lstStyle/>
          <a:p>
            <a:pPr indent="0" marL="0">
              <a:buNone/>
            </a:pPr>
            <a:r>
              <a:rPr lang="en-US" sz="1600" b="1" dirty="0">
                <a:solidFill>
                  <a:srgbClr val="1B1F2A"/>
                </a:solidFill>
              </a:rPr>
              <a:t>Cần rà lại</a:t>
            </a:r>
            <a:endParaRPr lang="en-US" sz="1600" dirty="0"/>
          </a:p>
          <a:p>
            <a:pPr indent="0" marL="0">
              <a:buNone/>
            </a:pPr>
            <a:r>
              <a:rPr lang="en-US" sz="1400" dirty="0">
                <a:solidFill>
                  <a:srgbClr val="1B1F2A"/>
                </a:solidFill>
              </a:rPr>
              <a:t>Cộng kênh: 520. Khai tổng: 500.</a:t>
            </a:r>
            <a:endParaRPr lang="en-US" sz="1600" dirty="0"/>
          </a:p>
        </p:txBody>
      </p:sp>
      <p:sp>
        <p:nvSpPr>
          <p:cNvPr id="7" name="nguon"/>
          <p:cNvSpPr txBox="1"/>
          <p:nvPr/>
        </p:nvSpPr>
        <p:spPr>
          <a:xfrm>
            <a:off x="457200" y="4617720"/>
            <a:ext cx="8229600" cy="320040"/>
          </a:xfrm>
          <a:prstGeom prst="rect">
            <a:avLst/>
          </a:prstGeom>
          <a:noFill/>
          <a:ln/>
        </p:spPr>
        <p:txBody>
          <a:bodyPr wrap="square" lIns="0" tIns="0" rIns="0" bIns="0" rtlCol="0" anchor="ctr"/>
          <a:lstStyle/>
          <a:p>
            <a:pPr indent="0" marL="0">
              <a:buNone/>
            </a:pPr>
            <a:r>
              <a:rPr lang="en-US" sz="1100" i="1" dirty="0">
                <a:solidFill>
                  <a:srgbClr val="5A6666"/>
                </a:solidFill>
              </a:rPr>
              <a:t>Nguồn: dự kiến ngân sách theo kênh của đơn vị (đơn vị: triệu đồng)</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68680"/>
          </a:xfrm>
          <a:prstGeom prst="rect">
            <a:avLst/>
          </a:prstGeom>
          <a:noFill/>
          <a:ln/>
        </p:spPr>
        <p:txBody>
          <a:bodyPr wrap="square" lIns="0" tIns="0" rIns="0" bIns="0" rtlCol="0" anchor="ctr"/>
          <a:lstStyle/>
          <a:p>
            <a:pPr algn="l" indent="0" marL="0">
              <a:buNone/>
            </a:pPr>
            <a:r>
              <a:rPr lang="en-US" sz="2800" b="1" dirty="0">
                <a:solidFill>
                  <a:srgbClr val="0F3D3E"/>
                </a:solidFill>
              </a:rPr>
              <a:t>Bốn pha: chuẩn bị, chạy, cao điểm, tổng kết</a:t>
            </a:r>
            <a:endParaRPr lang="en-US" sz="2800" dirty="0"/>
          </a:p>
        </p:txBody>
      </p:sp>
      <p:sp>
        <p:nvSpPr>
          <p:cNvPr id="4" name="pha"/>
          <p:cNvSpPr/>
          <p:nvPr/>
        </p:nvSpPr>
        <p:spPr>
          <a:xfrm>
            <a:off x="457200" y="1645920"/>
            <a:ext cx="2011680" cy="914400"/>
          </a:xfrm>
          <a:prstGeom prst="rect">
            <a:avLst/>
          </a:prstGeom>
          <a:solidFill>
            <a:srgbClr val="5B8DB8"/>
          </a:solidFill>
          <a:ln w="12700">
            <a:solidFill>
              <a:srgbClr val="FFFFFF"/>
            </a:solidFill>
            <a:prstDash val="solid"/>
          </a:ln>
        </p:spPr>
      </p:sp>
      <p:sp>
        <p:nvSpPr>
          <p:cNvPr id="5" name="pha-chu"/>
          <p:cNvSpPr txBox="1"/>
          <p:nvPr/>
        </p:nvSpPr>
        <p:spPr>
          <a:xfrm>
            <a:off x="457200" y="1645920"/>
            <a:ext cx="2011680" cy="914400"/>
          </a:xfrm>
          <a:prstGeom prst="rect">
            <a:avLst/>
          </a:prstGeom>
          <a:noFill/>
          <a:ln/>
        </p:spPr>
        <p:txBody>
          <a:bodyPr wrap="square" lIns="0" tIns="0" rIns="0" bIns="0" rtlCol="0" anchor="ctr"/>
          <a:lstStyle/>
          <a:p>
            <a:pPr algn="ctr" indent="0" marL="0">
              <a:buNone/>
            </a:pPr>
            <a:r>
              <a:rPr lang="en-US" sz="2000" b="1" dirty="0">
                <a:solidFill>
                  <a:srgbClr val="FFFFFF"/>
                </a:solidFill>
              </a:rPr>
              <a:t>Chuẩn bị</a:t>
            </a:r>
            <a:endParaRPr lang="en-US" sz="2000" dirty="0"/>
          </a:p>
        </p:txBody>
      </p:sp>
      <p:sp>
        <p:nvSpPr>
          <p:cNvPr id="6" name="moc"/>
          <p:cNvSpPr txBox="1"/>
          <p:nvPr/>
        </p:nvSpPr>
        <p:spPr>
          <a:xfrm>
            <a:off x="457200" y="2697480"/>
            <a:ext cx="2011680" cy="548640"/>
          </a:xfrm>
          <a:prstGeom prst="rect">
            <a:avLst/>
          </a:prstGeom>
          <a:noFill/>
          <a:ln/>
        </p:spPr>
        <p:txBody>
          <a:bodyPr wrap="square" lIns="0" tIns="0" rIns="0" bIns="0" rtlCol="0" anchor="ctr"/>
          <a:lstStyle/>
          <a:p>
            <a:pPr algn="ctr" indent="0" marL="0">
              <a:buNone/>
            </a:pPr>
            <a:r>
              <a:rPr lang="en-US" sz="1400" dirty="0">
                <a:solidFill>
                  <a:srgbClr val="4A5656"/>
                </a:solidFill>
              </a:rPr>
              <a:t>Mốc: ........</a:t>
            </a:r>
            <a:endParaRPr lang="en-US" sz="1400" dirty="0"/>
          </a:p>
        </p:txBody>
      </p:sp>
      <p:sp>
        <p:nvSpPr>
          <p:cNvPr id="7" name="pha"/>
          <p:cNvSpPr/>
          <p:nvPr/>
        </p:nvSpPr>
        <p:spPr>
          <a:xfrm>
            <a:off x="2542032" y="1645920"/>
            <a:ext cx="2011680" cy="914400"/>
          </a:xfrm>
          <a:prstGeom prst="rect">
            <a:avLst/>
          </a:prstGeom>
          <a:solidFill>
            <a:srgbClr val="0F6E6E"/>
          </a:solidFill>
          <a:ln w="12700">
            <a:solidFill>
              <a:srgbClr val="FFFFFF"/>
            </a:solidFill>
            <a:prstDash val="solid"/>
          </a:ln>
        </p:spPr>
      </p:sp>
      <p:sp>
        <p:nvSpPr>
          <p:cNvPr id="8" name="pha-chu"/>
          <p:cNvSpPr txBox="1"/>
          <p:nvPr/>
        </p:nvSpPr>
        <p:spPr>
          <a:xfrm>
            <a:off x="2542032" y="1645920"/>
            <a:ext cx="2011680" cy="914400"/>
          </a:xfrm>
          <a:prstGeom prst="rect">
            <a:avLst/>
          </a:prstGeom>
          <a:noFill/>
          <a:ln/>
        </p:spPr>
        <p:txBody>
          <a:bodyPr wrap="square" lIns="0" tIns="0" rIns="0" bIns="0" rtlCol="0" anchor="ctr"/>
          <a:lstStyle/>
          <a:p>
            <a:pPr algn="ctr" indent="0" marL="0">
              <a:buNone/>
            </a:pPr>
            <a:r>
              <a:rPr lang="en-US" sz="2000" b="1" dirty="0">
                <a:solidFill>
                  <a:srgbClr val="FFFFFF"/>
                </a:solidFill>
              </a:rPr>
              <a:t>Chạy</a:t>
            </a:r>
            <a:endParaRPr lang="en-US" sz="2000" dirty="0"/>
          </a:p>
        </p:txBody>
      </p:sp>
      <p:sp>
        <p:nvSpPr>
          <p:cNvPr id="9" name="moc"/>
          <p:cNvSpPr txBox="1"/>
          <p:nvPr/>
        </p:nvSpPr>
        <p:spPr>
          <a:xfrm>
            <a:off x="2542032" y="2697480"/>
            <a:ext cx="2011680" cy="548640"/>
          </a:xfrm>
          <a:prstGeom prst="rect">
            <a:avLst/>
          </a:prstGeom>
          <a:noFill/>
          <a:ln/>
        </p:spPr>
        <p:txBody>
          <a:bodyPr wrap="square" lIns="0" tIns="0" rIns="0" bIns="0" rtlCol="0" anchor="ctr"/>
          <a:lstStyle/>
          <a:p>
            <a:pPr algn="ctr" indent="0" marL="0">
              <a:buNone/>
            </a:pPr>
            <a:r>
              <a:rPr lang="en-US" sz="1400" dirty="0">
                <a:solidFill>
                  <a:srgbClr val="4A5656"/>
                </a:solidFill>
              </a:rPr>
              <a:t>Mốc: ........</a:t>
            </a:r>
            <a:endParaRPr lang="en-US" sz="1400" dirty="0"/>
          </a:p>
        </p:txBody>
      </p:sp>
      <p:sp>
        <p:nvSpPr>
          <p:cNvPr id="10" name="pha"/>
          <p:cNvSpPr/>
          <p:nvPr/>
        </p:nvSpPr>
        <p:spPr>
          <a:xfrm>
            <a:off x="4626864" y="1645920"/>
            <a:ext cx="2011680" cy="914400"/>
          </a:xfrm>
          <a:prstGeom prst="rect">
            <a:avLst/>
          </a:prstGeom>
          <a:solidFill>
            <a:srgbClr val="D9822B"/>
          </a:solidFill>
          <a:ln w="12700">
            <a:solidFill>
              <a:srgbClr val="FFFFFF"/>
            </a:solidFill>
            <a:prstDash val="solid"/>
          </a:ln>
        </p:spPr>
      </p:sp>
      <p:sp>
        <p:nvSpPr>
          <p:cNvPr id="11" name="pha-chu"/>
          <p:cNvSpPr txBox="1"/>
          <p:nvPr/>
        </p:nvSpPr>
        <p:spPr>
          <a:xfrm>
            <a:off x="4626864" y="1645920"/>
            <a:ext cx="2011680" cy="914400"/>
          </a:xfrm>
          <a:prstGeom prst="rect">
            <a:avLst/>
          </a:prstGeom>
          <a:noFill/>
          <a:ln/>
        </p:spPr>
        <p:txBody>
          <a:bodyPr wrap="square" lIns="0" tIns="0" rIns="0" bIns="0" rtlCol="0" anchor="ctr"/>
          <a:lstStyle/>
          <a:p>
            <a:pPr algn="ctr" indent="0" marL="0">
              <a:buNone/>
            </a:pPr>
            <a:r>
              <a:rPr lang="en-US" sz="2000" b="1" dirty="0">
                <a:solidFill>
                  <a:srgbClr val="FFFFFF"/>
                </a:solidFill>
              </a:rPr>
              <a:t>Cao điểm</a:t>
            </a:r>
            <a:endParaRPr lang="en-US" sz="2000" dirty="0"/>
          </a:p>
        </p:txBody>
      </p:sp>
      <p:sp>
        <p:nvSpPr>
          <p:cNvPr id="12" name="moc"/>
          <p:cNvSpPr txBox="1"/>
          <p:nvPr/>
        </p:nvSpPr>
        <p:spPr>
          <a:xfrm>
            <a:off x="4626864" y="2697480"/>
            <a:ext cx="2011680" cy="548640"/>
          </a:xfrm>
          <a:prstGeom prst="rect">
            <a:avLst/>
          </a:prstGeom>
          <a:noFill/>
          <a:ln/>
        </p:spPr>
        <p:txBody>
          <a:bodyPr wrap="square" lIns="0" tIns="0" rIns="0" bIns="0" rtlCol="0" anchor="ctr"/>
          <a:lstStyle/>
          <a:p>
            <a:pPr algn="ctr" indent="0" marL="0">
              <a:buNone/>
            </a:pPr>
            <a:r>
              <a:rPr lang="en-US" sz="1400" dirty="0">
                <a:solidFill>
                  <a:srgbClr val="4A5656"/>
                </a:solidFill>
              </a:rPr>
              <a:t>Mốc: ........</a:t>
            </a:r>
            <a:endParaRPr lang="en-US" sz="1400" dirty="0"/>
          </a:p>
        </p:txBody>
      </p:sp>
      <p:sp>
        <p:nvSpPr>
          <p:cNvPr id="13" name="pha"/>
          <p:cNvSpPr/>
          <p:nvPr/>
        </p:nvSpPr>
        <p:spPr>
          <a:xfrm>
            <a:off x="6711696" y="1645920"/>
            <a:ext cx="2011680" cy="914400"/>
          </a:xfrm>
          <a:prstGeom prst="rect">
            <a:avLst/>
          </a:prstGeom>
          <a:solidFill>
            <a:srgbClr val="7A8B8B"/>
          </a:solidFill>
          <a:ln w="12700">
            <a:solidFill>
              <a:srgbClr val="FFFFFF"/>
            </a:solidFill>
            <a:prstDash val="solid"/>
          </a:ln>
        </p:spPr>
      </p:sp>
      <p:sp>
        <p:nvSpPr>
          <p:cNvPr id="14" name="pha-chu"/>
          <p:cNvSpPr txBox="1"/>
          <p:nvPr/>
        </p:nvSpPr>
        <p:spPr>
          <a:xfrm>
            <a:off x="6711696" y="1645920"/>
            <a:ext cx="2011680" cy="914400"/>
          </a:xfrm>
          <a:prstGeom prst="rect">
            <a:avLst/>
          </a:prstGeom>
          <a:noFill/>
          <a:ln/>
        </p:spPr>
        <p:txBody>
          <a:bodyPr wrap="square" lIns="0" tIns="0" rIns="0" bIns="0" rtlCol="0" anchor="ctr"/>
          <a:lstStyle/>
          <a:p>
            <a:pPr algn="ctr" indent="0" marL="0">
              <a:buNone/>
            </a:pPr>
            <a:r>
              <a:rPr lang="en-US" sz="2000" b="1" dirty="0">
                <a:solidFill>
                  <a:srgbClr val="FFFFFF"/>
                </a:solidFill>
              </a:rPr>
              <a:t>Tổng kết</a:t>
            </a:r>
            <a:endParaRPr lang="en-US" sz="2000" dirty="0"/>
          </a:p>
        </p:txBody>
      </p:sp>
      <p:sp>
        <p:nvSpPr>
          <p:cNvPr id="15" name="moc"/>
          <p:cNvSpPr txBox="1"/>
          <p:nvPr/>
        </p:nvSpPr>
        <p:spPr>
          <a:xfrm>
            <a:off x="6711696" y="2697480"/>
            <a:ext cx="2011680" cy="548640"/>
          </a:xfrm>
          <a:prstGeom prst="rect">
            <a:avLst/>
          </a:prstGeom>
          <a:noFill/>
          <a:ln/>
        </p:spPr>
        <p:txBody>
          <a:bodyPr wrap="square" lIns="0" tIns="0" rIns="0" bIns="0" rtlCol="0" anchor="ctr"/>
          <a:lstStyle/>
          <a:p>
            <a:pPr algn="ctr" indent="0" marL="0">
              <a:buNone/>
            </a:pPr>
            <a:r>
              <a:rPr lang="en-US" sz="1400" dirty="0">
                <a:solidFill>
                  <a:srgbClr val="4A5656"/>
                </a:solidFill>
              </a:rPr>
              <a:t>Mốc: ........</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68680"/>
          </a:xfrm>
          <a:prstGeom prst="rect">
            <a:avLst/>
          </a:prstGeom>
          <a:noFill/>
          <a:ln/>
        </p:spPr>
        <p:txBody>
          <a:bodyPr wrap="square" lIns="0" tIns="0" rIns="0" bIns="0" rtlCol="0" anchor="ctr"/>
          <a:lstStyle/>
          <a:p>
            <a:pPr algn="l" indent="0" marL="0">
              <a:buNone/>
            </a:pPr>
            <a:r>
              <a:rPr lang="en-US" sz="2800" b="1" dirty="0">
                <a:solidFill>
                  <a:srgbClr val="0F3D3E"/>
                </a:solidFill>
              </a:rPr>
              <a:t>KPI: 1.500 hồ sơ, ba kênh đã có chỉ tiêu lead</a:t>
            </a:r>
            <a:endParaRPr lang="en-US" sz="2800" dirty="0"/>
          </a:p>
        </p:txBody>
      </p:sp>
      <p:graphicFrame>
        <p:nvGraphicFramePr>
          <p:cNvPr id="8" name="bang"/>
          <p:cNvGraphicFramePr>
            <a:graphicFrameLocks noGrp="1"/>
          </p:cNvGraphicFramePr>
          <p:nvPr>
            <p:extLst>
              <p:ext uri="{D42A27DB-BD31-4B8C-83A1-F6EECF244321}">
                <p14:modId xmlns:p14="http://schemas.microsoft.com/office/powerpoint/2010/main" val="1579011935"/>
              </p:ext>
            </p:extLst>
          </p:nvPr>
        </p:nvGraphicFramePr>
        <p:xfrm>
          <a:off x="457200" y="1280160"/>
          <a:ext cx="8229600" cy="914400"/>
        </p:xfrm>
        <a:graphic>
          <a:graphicData uri="http://schemas.openxmlformats.org/drawingml/2006/table">
            <a:tbl>
              <a:tblPr/>
              <a:tblGrid>
                <a:gridCol w="4572000"/>
                <a:gridCol w="3657600"/>
              </a:tblGrid>
              <a:tr h="411480">
                <a:tc>
                  <a:txBody>
                    <a:bodyPr/>
                    <a:lstStyle/>
                    <a:p>
                      <a:pPr indent="0" marL="0">
                        <a:buNone/>
                      </a:pPr>
                      <a:r>
                        <a:rPr lang="en-US" sz="1400" b="1" dirty="0">
                          <a:solidFill>
                            <a:srgbClr val="FFFFFF"/>
                          </a:solidFill>
                        </a:rPr>
                        <a:t>Kênh</a:t>
                      </a:r>
                      <a:endParaRPr lang="en-US" sz="1400" dirty="0"/>
                    </a:p>
                  </a:txBody>
                  <a:tcPr marL="91440" marR="91440" marT="54864" marB="54864" anchor="ctr">
                    <a:lnL w="9525" cap="flat" cmpd="sng" algn="ctr">
                      <a:solidFill>
                        <a:srgbClr val="B8C4C3"/>
                      </a:solidFill>
                      <a:prstDash val="solid"/>
                      <a:round/>
                      <a:headEnd type="none" w="med" len="med"/>
                      <a:tailEnd type="none" w="med" len="med"/>
                    </a:lnL>
                    <a:lnR w="9525" cap="flat" cmpd="sng" algn="ctr">
                      <a:solidFill>
                        <a:srgbClr val="B8C4C3"/>
                      </a:solidFill>
                      <a:prstDash val="solid"/>
                      <a:round/>
                      <a:headEnd type="none" w="med" len="med"/>
                      <a:tailEnd type="none" w="med" len="med"/>
                    </a:lnR>
                    <a:lnT w="9525" cap="flat" cmpd="sng" algn="ctr">
                      <a:solidFill>
                        <a:srgbClr val="B8C4C3"/>
                      </a:solidFill>
                      <a:prstDash val="solid"/>
                      <a:round/>
                      <a:headEnd type="none" w="med" len="med"/>
                      <a:tailEnd type="none" w="med" len="med"/>
                    </a:lnT>
                    <a:lnB w="9525" cap="flat" cmpd="sng" algn="ctr">
                      <a:solidFill>
                        <a:srgbClr val="B8C4C3"/>
                      </a:solidFill>
                      <a:prstDash val="solid"/>
                      <a:round/>
                      <a:headEnd type="none" w="med" len="med"/>
                      <a:tailEnd type="none" w="med" len="med"/>
                    </a:lnB>
                    <a:solidFill>
                      <a:srgbClr val="0F3D3E"/>
                    </a:solidFill>
                  </a:tcPr>
                </a:tc>
                <a:tc>
                  <a:txBody>
                    <a:bodyPr/>
                    <a:lstStyle/>
                    <a:p>
                      <a:pPr indent="0" marL="0">
                        <a:buNone/>
                      </a:pPr>
                      <a:r>
                        <a:rPr lang="en-US" sz="1400" b="1" dirty="0">
                          <a:solidFill>
                            <a:srgbClr val="FFFFFF"/>
                          </a:solidFill>
                        </a:rPr>
                        <a:t>KPI</a:t>
                      </a:r>
                      <a:endParaRPr lang="en-US" sz="1400" dirty="0"/>
                    </a:p>
                  </a:txBody>
                  <a:tcPr marL="91440" marR="91440" marT="54864" marB="54864" anchor="ctr">
                    <a:lnL w="9525" cap="flat" cmpd="sng" algn="ctr">
                      <a:solidFill>
                        <a:srgbClr val="B8C4C3"/>
                      </a:solidFill>
                      <a:prstDash val="solid"/>
                      <a:round/>
                      <a:headEnd type="none" w="med" len="med"/>
                      <a:tailEnd type="none" w="med" len="med"/>
                    </a:lnL>
                    <a:lnR w="9525" cap="flat" cmpd="sng" algn="ctr">
                      <a:solidFill>
                        <a:srgbClr val="B8C4C3"/>
                      </a:solidFill>
                      <a:prstDash val="solid"/>
                      <a:round/>
                      <a:headEnd type="none" w="med" len="med"/>
                      <a:tailEnd type="none" w="med" len="med"/>
                    </a:lnR>
                    <a:lnT w="9525" cap="flat" cmpd="sng" algn="ctr">
                      <a:solidFill>
                        <a:srgbClr val="B8C4C3"/>
                      </a:solidFill>
                      <a:prstDash val="solid"/>
                      <a:round/>
                      <a:headEnd type="none" w="med" len="med"/>
                      <a:tailEnd type="none" w="med" len="med"/>
                    </a:lnT>
                    <a:lnB w="9525" cap="flat" cmpd="sng" algn="ctr">
                      <a:solidFill>
                        <a:srgbClr val="B8C4C3"/>
                      </a:solidFill>
                      <a:prstDash val="solid"/>
                      <a:round/>
                      <a:headEnd type="none" w="med" len="med"/>
                      <a:tailEnd type="none" w="med" len="med"/>
                    </a:lnB>
                    <a:solidFill>
                      <a:srgbClr val="0F3D3E"/>
                    </a:solidFill>
                  </a:tcPr>
                </a:tc>
              </a:tr>
              <a:tr h="502920">
                <a:tc>
                  <a:txBody>
                    <a:bodyPr/>
                    <a:lstStyle/>
                    <a:p>
                      <a:pPr indent="0" marL="0">
                        <a:buNone/>
                      </a:pPr>
                      <a:r>
                        <a:rPr lang="en-US" sz="1400" b="1" dirty="0">
                          <a:solidFill>
                            <a:srgbClr val="1B1F2A"/>
                          </a:solidFill>
                        </a:rPr>
                        <a:t>Facebook Ads</a:t>
                      </a:r>
                      <a:endParaRPr lang="en-US" sz="1400" dirty="0"/>
                    </a:p>
                  </a:txBody>
                  <a:tcPr marL="91440" marR="91440" marT="54864" marB="54864" anchor="ctr">
                    <a:lnL w="9525" cap="flat" cmpd="sng" algn="ctr">
                      <a:solidFill>
                        <a:srgbClr val="B8C4C3"/>
                      </a:solidFill>
                      <a:prstDash val="solid"/>
                      <a:round/>
                      <a:headEnd type="none" w="med" len="med"/>
                      <a:tailEnd type="none" w="med" len="med"/>
                    </a:lnL>
                    <a:lnR w="9525" cap="flat" cmpd="sng" algn="ctr">
                      <a:solidFill>
                        <a:srgbClr val="B8C4C3"/>
                      </a:solidFill>
                      <a:prstDash val="solid"/>
                      <a:round/>
                      <a:headEnd type="none" w="med" len="med"/>
                      <a:tailEnd type="none" w="med" len="med"/>
                    </a:lnR>
                    <a:lnT w="9525" cap="flat" cmpd="sng" algn="ctr">
                      <a:solidFill>
                        <a:srgbClr val="B8C4C3"/>
                      </a:solidFill>
                      <a:prstDash val="solid"/>
                      <a:round/>
                      <a:headEnd type="none" w="med" len="med"/>
                      <a:tailEnd type="none" w="med" len="med"/>
                    </a:lnT>
                    <a:lnB w="9525" cap="flat" cmpd="sng" algn="ctr">
                      <a:solidFill>
                        <a:srgbClr val="B8C4C3"/>
                      </a:solidFill>
                      <a:prstDash val="solid"/>
                      <a:round/>
                      <a:headEnd type="none" w="med" len="med"/>
                      <a:tailEnd type="none" w="med" len="med"/>
                    </a:lnB>
                  </a:tcPr>
                </a:tc>
                <a:tc>
                  <a:txBody>
                    <a:bodyPr/>
                    <a:lstStyle/>
                    <a:p>
                      <a:pPr indent="0" marL="0">
                        <a:buNone/>
                      </a:pPr>
                      <a:r>
                        <a:rPr lang="en-US" sz="1400" dirty="0">
                          <a:solidFill>
                            <a:srgbClr val="1B1F2A"/>
                          </a:solidFill>
                        </a:rPr>
                        <a:t>600 lead</a:t>
                      </a:r>
                      <a:endParaRPr lang="en-US" sz="1400" dirty="0"/>
                    </a:p>
                  </a:txBody>
                  <a:tcPr marL="91440" marR="91440" marT="54864" marB="54864" anchor="ctr">
                    <a:lnL w="9525" cap="flat" cmpd="sng" algn="ctr">
                      <a:solidFill>
                        <a:srgbClr val="B8C4C3"/>
                      </a:solidFill>
                      <a:prstDash val="solid"/>
                      <a:round/>
                      <a:headEnd type="none" w="med" len="med"/>
                      <a:tailEnd type="none" w="med" len="med"/>
                    </a:lnL>
                    <a:lnR w="9525" cap="flat" cmpd="sng" algn="ctr">
                      <a:solidFill>
                        <a:srgbClr val="B8C4C3"/>
                      </a:solidFill>
                      <a:prstDash val="solid"/>
                      <a:round/>
                      <a:headEnd type="none" w="med" len="med"/>
                      <a:tailEnd type="none" w="med" len="med"/>
                    </a:lnR>
                    <a:lnT w="9525" cap="flat" cmpd="sng" algn="ctr">
                      <a:solidFill>
                        <a:srgbClr val="B8C4C3"/>
                      </a:solidFill>
                      <a:prstDash val="solid"/>
                      <a:round/>
                      <a:headEnd type="none" w="med" len="med"/>
                      <a:tailEnd type="none" w="med" len="med"/>
                    </a:lnT>
                    <a:lnB w="9525" cap="flat" cmpd="sng" algn="ctr">
                      <a:solidFill>
                        <a:srgbClr val="B8C4C3"/>
                      </a:solidFill>
                      <a:prstDash val="solid"/>
                      <a:round/>
                      <a:headEnd type="none" w="med" len="med"/>
                      <a:tailEnd type="none" w="med" len="med"/>
                    </a:lnB>
                  </a:tcPr>
                </a:tc>
              </a:tr>
              <a:tr h="502920">
                <a:tc>
                  <a:txBody>
                    <a:bodyPr/>
                    <a:lstStyle/>
                    <a:p>
                      <a:pPr indent="0" marL="0">
                        <a:buNone/>
                      </a:pPr>
                      <a:r>
                        <a:rPr lang="en-US" sz="1400" b="1" dirty="0">
                          <a:solidFill>
                            <a:srgbClr val="1B1F2A"/>
                          </a:solidFill>
                        </a:rPr>
                        <a:t>Tư vấn tại trường THPT</a:t>
                      </a:r>
                      <a:endParaRPr lang="en-US" sz="1400" dirty="0"/>
                    </a:p>
                  </a:txBody>
                  <a:tcPr marL="91440" marR="91440" marT="54864" marB="54864" anchor="ctr">
                    <a:lnL w="9525" cap="flat" cmpd="sng" algn="ctr">
                      <a:solidFill>
                        <a:srgbClr val="B8C4C3"/>
                      </a:solidFill>
                      <a:prstDash val="solid"/>
                      <a:round/>
                      <a:headEnd type="none" w="med" len="med"/>
                      <a:tailEnd type="none" w="med" len="med"/>
                    </a:lnL>
                    <a:lnR w="9525" cap="flat" cmpd="sng" algn="ctr">
                      <a:solidFill>
                        <a:srgbClr val="B8C4C3"/>
                      </a:solidFill>
                      <a:prstDash val="solid"/>
                      <a:round/>
                      <a:headEnd type="none" w="med" len="med"/>
                      <a:tailEnd type="none" w="med" len="med"/>
                    </a:lnR>
                    <a:lnT w="9525" cap="flat" cmpd="sng" algn="ctr">
                      <a:solidFill>
                        <a:srgbClr val="B8C4C3"/>
                      </a:solidFill>
                      <a:prstDash val="solid"/>
                      <a:round/>
                      <a:headEnd type="none" w="med" len="med"/>
                      <a:tailEnd type="none" w="med" len="med"/>
                    </a:lnT>
                    <a:lnB w="9525" cap="flat" cmpd="sng" algn="ctr">
                      <a:solidFill>
                        <a:srgbClr val="B8C4C3"/>
                      </a:solidFill>
                      <a:prstDash val="solid"/>
                      <a:round/>
                      <a:headEnd type="none" w="med" len="med"/>
                      <a:tailEnd type="none" w="med" len="med"/>
                    </a:lnB>
                  </a:tcPr>
                </a:tc>
                <a:tc>
                  <a:txBody>
                    <a:bodyPr/>
                    <a:lstStyle/>
                    <a:p>
                      <a:pPr indent="0" marL="0">
                        <a:buNone/>
                      </a:pPr>
                      <a:r>
                        <a:rPr lang="en-US" sz="1400" dirty="0">
                          <a:solidFill>
                            <a:srgbClr val="1B1F2A"/>
                          </a:solidFill>
                        </a:rPr>
                        <a:t>400 lead</a:t>
                      </a:r>
                      <a:endParaRPr lang="en-US" sz="1400" dirty="0"/>
                    </a:p>
                  </a:txBody>
                  <a:tcPr marL="91440" marR="91440" marT="54864" marB="54864" anchor="ctr">
                    <a:lnL w="9525" cap="flat" cmpd="sng" algn="ctr">
                      <a:solidFill>
                        <a:srgbClr val="B8C4C3"/>
                      </a:solidFill>
                      <a:prstDash val="solid"/>
                      <a:round/>
                      <a:headEnd type="none" w="med" len="med"/>
                      <a:tailEnd type="none" w="med" len="med"/>
                    </a:lnL>
                    <a:lnR w="9525" cap="flat" cmpd="sng" algn="ctr">
                      <a:solidFill>
                        <a:srgbClr val="B8C4C3"/>
                      </a:solidFill>
                      <a:prstDash val="solid"/>
                      <a:round/>
                      <a:headEnd type="none" w="med" len="med"/>
                      <a:tailEnd type="none" w="med" len="med"/>
                    </a:lnR>
                    <a:lnT w="9525" cap="flat" cmpd="sng" algn="ctr">
                      <a:solidFill>
                        <a:srgbClr val="B8C4C3"/>
                      </a:solidFill>
                      <a:prstDash val="solid"/>
                      <a:round/>
                      <a:headEnd type="none" w="med" len="med"/>
                      <a:tailEnd type="none" w="med" len="med"/>
                    </a:lnT>
                    <a:lnB w="9525" cap="flat" cmpd="sng" algn="ctr">
                      <a:solidFill>
                        <a:srgbClr val="B8C4C3"/>
                      </a:solidFill>
                      <a:prstDash val="solid"/>
                      <a:round/>
                      <a:headEnd type="none" w="med" len="med"/>
                      <a:tailEnd type="none" w="med" len="med"/>
                    </a:lnB>
                  </a:tcPr>
                </a:tc>
              </a:tr>
              <a:tr h="502920">
                <a:tc>
                  <a:txBody>
                    <a:bodyPr/>
                    <a:lstStyle/>
                    <a:p>
                      <a:pPr indent="0" marL="0">
                        <a:buNone/>
                      </a:pPr>
                      <a:r>
                        <a:rPr lang="en-US" sz="1400" b="1" dirty="0">
                          <a:solidFill>
                            <a:srgbClr val="1B1F2A"/>
                          </a:solidFill>
                        </a:rPr>
                        <a:t>Website và SEO</a:t>
                      </a:r>
                      <a:endParaRPr lang="en-US" sz="1400" dirty="0"/>
                    </a:p>
                  </a:txBody>
                  <a:tcPr marL="91440" marR="91440" marT="54864" marB="54864" anchor="ctr">
                    <a:lnL w="9525" cap="flat" cmpd="sng" algn="ctr">
                      <a:solidFill>
                        <a:srgbClr val="B8C4C3"/>
                      </a:solidFill>
                      <a:prstDash val="solid"/>
                      <a:round/>
                      <a:headEnd type="none" w="med" len="med"/>
                      <a:tailEnd type="none" w="med" len="med"/>
                    </a:lnL>
                    <a:lnR w="9525" cap="flat" cmpd="sng" algn="ctr">
                      <a:solidFill>
                        <a:srgbClr val="B8C4C3"/>
                      </a:solidFill>
                      <a:prstDash val="solid"/>
                      <a:round/>
                      <a:headEnd type="none" w="med" len="med"/>
                      <a:tailEnd type="none" w="med" len="med"/>
                    </a:lnR>
                    <a:lnT w="9525" cap="flat" cmpd="sng" algn="ctr">
                      <a:solidFill>
                        <a:srgbClr val="B8C4C3"/>
                      </a:solidFill>
                      <a:prstDash val="solid"/>
                      <a:round/>
                      <a:headEnd type="none" w="med" len="med"/>
                      <a:tailEnd type="none" w="med" len="med"/>
                    </a:lnT>
                    <a:lnB w="9525" cap="flat" cmpd="sng" algn="ctr">
                      <a:solidFill>
                        <a:srgbClr val="B8C4C3"/>
                      </a:solidFill>
                      <a:prstDash val="solid"/>
                      <a:round/>
                      <a:headEnd type="none" w="med" len="med"/>
                      <a:tailEnd type="none" w="med" len="med"/>
                    </a:lnB>
                  </a:tcPr>
                </a:tc>
                <a:tc>
                  <a:txBody>
                    <a:bodyPr/>
                    <a:lstStyle/>
                    <a:p>
                      <a:pPr indent="0" marL="0">
                        <a:buNone/>
                      </a:pPr>
                      <a:r>
                        <a:rPr lang="en-US" sz="1400" dirty="0">
                          <a:solidFill>
                            <a:srgbClr val="1B1F2A"/>
                          </a:solidFill>
                        </a:rPr>
                        <a:t>300 lead</a:t>
                      </a:r>
                      <a:endParaRPr lang="en-US" sz="1400" dirty="0"/>
                    </a:p>
                  </a:txBody>
                  <a:tcPr marL="91440" marR="91440" marT="54864" marB="54864" anchor="ctr">
                    <a:lnL w="9525" cap="flat" cmpd="sng" algn="ctr">
                      <a:solidFill>
                        <a:srgbClr val="B8C4C3"/>
                      </a:solidFill>
                      <a:prstDash val="solid"/>
                      <a:round/>
                      <a:headEnd type="none" w="med" len="med"/>
                      <a:tailEnd type="none" w="med" len="med"/>
                    </a:lnL>
                    <a:lnR w="9525" cap="flat" cmpd="sng" algn="ctr">
                      <a:solidFill>
                        <a:srgbClr val="B8C4C3"/>
                      </a:solidFill>
                      <a:prstDash val="solid"/>
                      <a:round/>
                      <a:headEnd type="none" w="med" len="med"/>
                      <a:tailEnd type="none" w="med" len="med"/>
                    </a:lnR>
                    <a:lnT w="9525" cap="flat" cmpd="sng" algn="ctr">
                      <a:solidFill>
                        <a:srgbClr val="B8C4C3"/>
                      </a:solidFill>
                      <a:prstDash val="solid"/>
                      <a:round/>
                      <a:headEnd type="none" w="med" len="med"/>
                      <a:tailEnd type="none" w="med" len="med"/>
                    </a:lnT>
                    <a:lnB w="9525" cap="flat" cmpd="sng" algn="ctr">
                      <a:solidFill>
                        <a:srgbClr val="B8C4C3"/>
                      </a:solidFill>
                      <a:prstDash val="solid"/>
                      <a:round/>
                      <a:headEnd type="none" w="med" len="med"/>
                      <a:tailEnd type="none" w="med" len="med"/>
                    </a:lnB>
                  </a:tcPr>
                </a:tc>
              </a:tr>
              <a:tr h="502920">
                <a:tc>
                  <a:txBody>
                    <a:bodyPr/>
                    <a:lstStyle/>
                    <a:p>
                      <a:pPr indent="0" marL="0">
                        <a:buNone/>
                      </a:pPr>
                      <a:r>
                        <a:rPr lang="en-US" sz="1400" b="1" dirty="0">
                          <a:solidFill>
                            <a:srgbClr val="1B1F2A"/>
                          </a:solidFill>
                        </a:rPr>
                        <a:t>Zalo OA</a:t>
                      </a:r>
                      <a:endParaRPr lang="en-US" sz="1400" dirty="0"/>
                    </a:p>
                  </a:txBody>
                  <a:tcPr marL="91440" marR="91440" marT="54864" marB="54864" anchor="ctr">
                    <a:lnL w="9525" cap="flat" cmpd="sng" algn="ctr">
                      <a:solidFill>
                        <a:srgbClr val="B8C4C3"/>
                      </a:solidFill>
                      <a:prstDash val="solid"/>
                      <a:round/>
                      <a:headEnd type="none" w="med" len="med"/>
                      <a:tailEnd type="none" w="med" len="med"/>
                    </a:lnL>
                    <a:lnR w="9525" cap="flat" cmpd="sng" algn="ctr">
                      <a:solidFill>
                        <a:srgbClr val="B8C4C3"/>
                      </a:solidFill>
                      <a:prstDash val="solid"/>
                      <a:round/>
                      <a:headEnd type="none" w="med" len="med"/>
                      <a:tailEnd type="none" w="med" len="med"/>
                    </a:lnR>
                    <a:lnT w="9525" cap="flat" cmpd="sng" algn="ctr">
                      <a:solidFill>
                        <a:srgbClr val="B8C4C3"/>
                      </a:solidFill>
                      <a:prstDash val="solid"/>
                      <a:round/>
                      <a:headEnd type="none" w="med" len="med"/>
                      <a:tailEnd type="none" w="med" len="med"/>
                    </a:lnT>
                    <a:lnB w="9525" cap="flat" cmpd="sng" algn="ctr">
                      <a:solidFill>
                        <a:srgbClr val="B8C4C3"/>
                      </a:solidFill>
                      <a:prstDash val="solid"/>
                      <a:round/>
                      <a:headEnd type="none" w="med" len="med"/>
                      <a:tailEnd type="none" w="med" len="med"/>
                    </a:lnB>
                  </a:tcPr>
                </a:tc>
                <a:tc>
                  <a:txBody>
                    <a:bodyPr/>
                    <a:lstStyle/>
                    <a:p>
                      <a:pPr indent="0" marL="0">
                        <a:buNone/>
                      </a:pPr>
                      <a:r>
                        <a:rPr lang="en-US" sz="1400" dirty="0">
                          <a:solidFill>
                            <a:srgbClr val="1B1F2A"/>
                          </a:solidFill>
                        </a:rPr>
                        <a:t>Chưa có KPI</a:t>
                      </a:r>
                      <a:endParaRPr lang="en-US" sz="1400" dirty="0"/>
                    </a:p>
                  </a:txBody>
                  <a:tcPr marL="91440" marR="91440" marT="54864" marB="54864" anchor="ctr">
                    <a:lnL w="9525" cap="flat" cmpd="sng" algn="ctr">
                      <a:solidFill>
                        <a:srgbClr val="B8C4C3"/>
                      </a:solidFill>
                      <a:prstDash val="solid"/>
                      <a:round/>
                      <a:headEnd type="none" w="med" len="med"/>
                      <a:tailEnd type="none" w="med" len="med"/>
                    </a:lnL>
                    <a:lnR w="9525" cap="flat" cmpd="sng" algn="ctr">
                      <a:solidFill>
                        <a:srgbClr val="B8C4C3"/>
                      </a:solidFill>
                      <a:prstDash val="solid"/>
                      <a:round/>
                      <a:headEnd type="none" w="med" len="med"/>
                      <a:tailEnd type="none" w="med" len="med"/>
                    </a:lnR>
                    <a:lnT w="9525" cap="flat" cmpd="sng" algn="ctr">
                      <a:solidFill>
                        <a:srgbClr val="B8C4C3"/>
                      </a:solidFill>
                      <a:prstDash val="solid"/>
                      <a:round/>
                      <a:headEnd type="none" w="med" len="med"/>
                      <a:tailEnd type="none" w="med" len="med"/>
                    </a:lnT>
                    <a:lnB w="9525" cap="flat" cmpd="sng" algn="ctr">
                      <a:solidFill>
                        <a:srgbClr val="B8C4C3"/>
                      </a:solidFill>
                      <a:prstDash val="solid"/>
                      <a:round/>
                      <a:headEnd type="none" w="med" len="med"/>
                      <a:tailEnd type="none" w="med" len="med"/>
                    </a:lnB>
                  </a:tcPr>
                </a:tc>
              </a:tr>
              <a:tr h="502920">
                <a:tc>
                  <a:txBody>
                    <a:bodyPr/>
                    <a:lstStyle/>
                    <a:p>
                      <a:pPr indent="0" marL="0">
                        <a:buNone/>
                      </a:pPr>
                      <a:r>
                        <a:rPr lang="en-US" sz="1400" b="1" dirty="0">
                          <a:solidFill>
                            <a:srgbClr val="1B1F2A"/>
                          </a:solidFill>
                        </a:rPr>
                        <a:t>Tổng</a:t>
                      </a:r>
                      <a:endParaRPr lang="en-US" sz="1400" dirty="0"/>
                    </a:p>
                  </a:txBody>
                  <a:tcPr marL="91440" marR="91440" marT="54864" marB="54864" anchor="ctr">
                    <a:lnL w="9525" cap="flat" cmpd="sng" algn="ctr">
                      <a:solidFill>
                        <a:srgbClr val="B8C4C3"/>
                      </a:solidFill>
                      <a:prstDash val="solid"/>
                      <a:round/>
                      <a:headEnd type="none" w="med" len="med"/>
                      <a:tailEnd type="none" w="med" len="med"/>
                    </a:lnL>
                    <a:lnR w="9525" cap="flat" cmpd="sng" algn="ctr">
                      <a:solidFill>
                        <a:srgbClr val="B8C4C3"/>
                      </a:solidFill>
                      <a:prstDash val="solid"/>
                      <a:round/>
                      <a:headEnd type="none" w="med" len="med"/>
                      <a:tailEnd type="none" w="med" len="med"/>
                    </a:lnR>
                    <a:lnT w="9525" cap="flat" cmpd="sng" algn="ctr">
                      <a:solidFill>
                        <a:srgbClr val="B8C4C3"/>
                      </a:solidFill>
                      <a:prstDash val="solid"/>
                      <a:round/>
                      <a:headEnd type="none" w="med" len="med"/>
                      <a:tailEnd type="none" w="med" len="med"/>
                    </a:lnT>
                    <a:lnB w="9525" cap="flat" cmpd="sng" algn="ctr">
                      <a:solidFill>
                        <a:srgbClr val="B8C4C3"/>
                      </a:solidFill>
                      <a:prstDash val="solid"/>
                      <a:round/>
                      <a:headEnd type="none" w="med" len="med"/>
                      <a:tailEnd type="none" w="med" len="med"/>
                    </a:lnB>
                  </a:tcPr>
                </a:tc>
                <a:tc>
                  <a:txBody>
                    <a:bodyPr/>
                    <a:lstStyle/>
                    <a:p>
                      <a:pPr indent="0" marL="0">
                        <a:buNone/>
                      </a:pPr>
                      <a:r>
                        <a:rPr lang="en-US" sz="1400" dirty="0">
                          <a:solidFill>
                            <a:srgbClr val="1B1F2A"/>
                          </a:solidFill>
                        </a:rPr>
                        <a:t>1.500 hồ sơ</a:t>
                      </a:r>
                      <a:endParaRPr lang="en-US" sz="1400" dirty="0"/>
                    </a:p>
                  </a:txBody>
                  <a:tcPr marL="91440" marR="91440" marT="54864" marB="54864" anchor="ctr">
                    <a:lnL w="9525" cap="flat" cmpd="sng" algn="ctr">
                      <a:solidFill>
                        <a:srgbClr val="B8C4C3"/>
                      </a:solidFill>
                      <a:prstDash val="solid"/>
                      <a:round/>
                      <a:headEnd type="none" w="med" len="med"/>
                      <a:tailEnd type="none" w="med" len="med"/>
                    </a:lnL>
                    <a:lnR w="9525" cap="flat" cmpd="sng" algn="ctr">
                      <a:solidFill>
                        <a:srgbClr val="B8C4C3"/>
                      </a:solidFill>
                      <a:prstDash val="solid"/>
                      <a:round/>
                      <a:headEnd type="none" w="med" len="med"/>
                      <a:tailEnd type="none" w="med" len="med"/>
                    </a:lnR>
                    <a:lnT w="9525" cap="flat" cmpd="sng" algn="ctr">
                      <a:solidFill>
                        <a:srgbClr val="B8C4C3"/>
                      </a:solidFill>
                      <a:prstDash val="solid"/>
                      <a:round/>
                      <a:headEnd type="none" w="med" len="med"/>
                      <a:tailEnd type="none" w="med" len="med"/>
                    </a:lnT>
                    <a:lnB w="9525" cap="flat" cmpd="sng" algn="ctr">
                      <a:solidFill>
                        <a:srgbClr val="B8C4C3"/>
                      </a:solidFill>
                      <a:prstDash val="solid"/>
                      <a:round/>
                      <a:headEnd type="none" w="med" len="med"/>
                      <a:tailEnd type="none" w="med" len="med"/>
                    </a:lnB>
                  </a:tcPr>
                </a:tc>
              </a:tr>
            </a:tbl>
          </a:graphicData>
        </a:graphic>
      </p:graphicFrame>
    </p:spTree>
  </p:cSld>
  <p:clrMapOvr>
    <a:masterClrMapping/>
  </p:clrMapOvr>
</p:sld>
</file>

<file path=ppt/theme/theme1.xml><?xml version="1.0" encoding="utf-8"?>
<a:theme xmlns:a="http://schemas.openxmlformats.org/drawingml/2006/main" name="Thu nghiem">
  <a:themeElements>
    <a:clrScheme name="Thu nghiem">
      <a:dk1>
        <a:srgbClr val="1B1F2A"/>
      </a:dk1>
      <a:lt1>
        <a:srgbClr val="FFFFFF"/>
      </a:lt1>
      <a:dk2>
        <a:srgbClr val="0F3D3E"/>
      </a:dk2>
      <a:lt2>
        <a:srgbClr val="EEF3F2"/>
      </a:lt2>
      <a:accent1>
        <a:srgbClr val="0F6E6E"/>
      </a:accent1>
      <a:accent2>
        <a:srgbClr val="D9822B"/>
      </a:accent2>
      <a:accent3>
        <a:srgbClr val="5B8DB8"/>
      </a:accent3>
      <a:accent4>
        <a:srgbClr val="7A8B8B"/>
      </a:accent4>
      <a:accent5>
        <a:srgbClr val="B5473A"/>
      </a:accent5>
      <a:accent6>
        <a:srgbClr val="3E7C4F"/>
      </a:accent6>
      <a:hlink>
        <a:srgbClr val="0F6E6E"/>
      </a:hlink>
      <a:folHlink>
        <a:srgbClr val="7A8B8B"/>
      </a:folHlink>
    </a:clrScheme>
    <a:fontScheme name="Thu nghiem">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Campaign brief tuyển sinh 2027</dc:title>
  <dc:subject>PptxGenJS Presentation</dc:subject>
  <dc:creator>PptxGenJS</dc:creator>
  <cp:lastModifiedBy>PptxGenJS</cp:lastModifiedBy>
  <cp:revision>1</cp:revision>
  <dcterms:created xsi:type="dcterms:W3CDTF">2026-10-10T11:26:21Z</dcterms:created>
  <dcterms:modified xsi:type="dcterms:W3CDTF">2026-10-10T11:26:21Z</dcterms:modified>
</cp:coreProperties>
</file>