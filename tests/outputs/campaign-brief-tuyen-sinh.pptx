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ef" id="{61d3c8f3-bd7d-df9c-815b-1f0ea80d9175}">
          <p14:sldIdLst>
            <p14:sldId id="256"/>
            <p14:sldId id="257"/>
            <p14:sldId id="258"/>
            <p14:sldId id="259"/>
          </p14:sldIdLst>
        </p14:section>
        <p14:section name="Kế hoạch" id="{c372489d-cece-5628-5c98-806b551ee931}">
          <p14:sldIdLst>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Ngân sách</c:v>
                </c:pt>
              </c:strCache>
            </c:strRef>
          </c:tx>
          <c:spPr>
            <a:solidFill>
              <a:srgbClr val="1F4E8C"/>
            </a:solidFill>
            <a:effectLst/>
          </c:spPr>
          <c:invertIfNegative val="0"/>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cat>
            <c:multiLvlStrRef>
              <c:f>Sheet1!$A$2:$A$5</c:f>
              <c:multiLvlStrCache>
                <c:ptCount val="4"/>
                <c:lvl>
                  <c:pt idx="0">
                    <c:v>Facebook Ads</c:v>
                  </c:pt>
                  <c:pt idx="1">
                    <c:v>Tư vấn tại trường THPT</c:v>
                  </c:pt>
                  <c:pt idx="2">
                    <c:v>Website và SEO</c:v>
                  </c:pt>
                  <c:pt idx="3">
                    <c:v>Zalo OA</c:v>
                  </c:pt>
                </c:lvl>
              </c:multiLvlStrCache>
            </c:multiLvlStrRef>
          </c:cat>
          <c:val>
            <c:numRef>
              <c:f>Sheet1!$B$2:$B$5</c:f>
              <c:numCache>
                <c:formatCode>General</c:formatCode>
                <c:ptCount val="4"/>
                <c:pt idx="0">
                  <c:v>200</c:v>
                </c:pt>
                <c:pt idx="1">
                  <c:v>150</c:v>
                </c:pt>
                <c:pt idx="2">
                  <c:v>90</c:v>
                </c:pt>
                <c:pt idx="3">
                  <c:v>80</c:v>
                </c:pt>
              </c:numCache>
            </c:numRef>
          </c:val>
        </c:ser>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433"/>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3E8EF"/>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Triệu đồng</a:t>
                </a:r>
              </a:p>
            </c:rich>
          </c:tx>
          <c:layout/>
          <c:overlay val="0"/>
        </c:title>
        <c:numFmt formatCode="General" sourceLinked="0"/>
        <c:majorTickMark val="out"/>
        <c:minorTickMark val="none"/>
        <c:tickLblPos val="low"/>
        <c:spPr>
          <a:ln w="12700" cap="flat">
            <a:noFill/>
            <a:prstDash val="solid"/>
            <a:round/>
          </a:ln>
        </c:spPr>
        <c:txPr>
          <a:bodyPr/>
          <a:lstStyle/>
          <a:p>
            <a:pPr>
              <a:defRPr sz="1200" b="0" i="0" u="none" strike="noStrike">
                <a:solidFill>
                  <a:srgbClr val="1A243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chiến dịch và khoảng thời gian chạy. Đây là bản brief nội bộ, chưa phải kế hoạch chi tiết từng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đo được duy nhất trong đầu vào là số hồ sơ. Mục tiêu nhận diện thương hiệu chưa có con số nên chưa viết thành mục tiêu; cần bổ sung chỉ số và thời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lớp 12 dùng Facebook và Zalo, quan tâm học phí và cơ hội việc làm. Phụ huynh dùng Facebook, quan tâm học phí và học bổng.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chính chưa có số liệu làm bằng chứng nên chỉ nêu như định hướng, không thêm con số. Thông điệp phụ về học bổng có căn cứ theo đầu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sách theo kênh, triệu đồng. Cộng bốn kênh là 520 triệu đồng, trong khi đầu vào khai tổng 500 triệu đồng, lệch 20 triệu đồng chưa giải thích; không tự điều chỉnh kênh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theo bốn pha. Đầu vào chưa có ngày bắt đầu và kết thúc từng pha, người phụ trách và bàn giao, nên slide chỉ nêu pha và để trống mốc.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tổng là 1.500 hồ sơ. Ba kênh đã có chỉ tiêu lead; Zalo OA chưa có KPI nên để trống. Chưa nêu tần suất báo cáo vì đầu vào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thông tin còn thiếu để brief đủ điều kiện duyệt. Đây là các chỗ đang để trống, không tự điền.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uy hiệu mẫu (thay bằng logo của trường)">    </p:cNvPr>
          <p:cNvPicPr>
            <a:picLocks noChangeAspect="1"/>
          </p:cNvPicPr>
          <p:nvPr/>
        </p:nvPicPr>
        <p:blipFill>
          <a:blip r:embed="rId1"/>
          <a:stretch>
            <a:fillRect/>
          </a:stretch>
        </p:blipFill>
        <p:spPr>
          <a:xfrm>
            <a:off x="548640" y="411480"/>
            <a:ext cx="502920" cy="502920"/>
          </a:xfrm>
          <a:prstGeom prst="rect">
            <a:avLst/>
          </a:prstGeom>
        </p:spPr>
      </p:pic>
      <p:sp>
        <p:nvSpPr>
          <p:cNvPr id="3" name="Text 0"/>
          <p:cNvSpPr/>
          <p:nvPr/>
        </p:nvSpPr>
        <p:spPr>
          <a:xfrm>
            <a:off x="1188720" y="411480"/>
            <a:ext cx="5486400" cy="502920"/>
          </a:xfrm>
          <a:prstGeom prst="rect">
            <a:avLst/>
          </a:prstGeom>
          <a:noFill/>
          <a:ln/>
        </p:spPr>
        <p:txBody>
          <a:bodyPr wrap="square" lIns="0" tIns="0" rIns="0" bIns="0" rtlCol="0" anchor="ctr"/>
          <a:lstStyle/>
          <a:p>
            <a:pPr indent="0" marL="0">
              <a:buNone/>
            </a:pPr>
            <a:r>
              <a:rPr lang="en-US" sz="1400" b="1" dirty="0">
                <a:solidFill>
                  <a:srgbClr val="FFFFFF"/>
                </a:solidFill>
              </a:rPr>
              <a:t>Trường Đại học Mẫu A (tên mẫu)</a:t>
            </a:r>
            <a:endParaRPr lang="en-US" sz="1400" dirty="0"/>
          </a:p>
        </p:txBody>
      </p:sp>
      <p:sp>
        <p:nvSpPr>
          <p:cNvPr id="4" name="Text 1"/>
          <p:cNvSpPr/>
          <p:nvPr>
            <p:ph idx="102" type="title" hasCustomPrompt="1"/>
          </p:nvPr>
        </p:nvSpPr>
        <p:spPr>
          <a:xfrm>
            <a:off x="548640" y="1417320"/>
            <a:ext cx="6035040" cy="15544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5" name="Text 1"/>
          <p:cNvSpPr/>
          <p:nvPr>
            <p:ph idx="103" type="body" hasCustomPrompt="1"/>
          </p:nvPr>
        </p:nvSpPr>
        <p:spPr>
          <a:xfrm>
            <a:off x="548640" y="3154680"/>
            <a:ext cx="6035040" cy="1097280"/>
          </a:xfrm>
          <a:prstGeom prst="rect">
            <a:avLst/>
          </a:prstGeom>
          <a:noFill/>
          <a:ln/>
        </p:spPr>
        <p:txBody>
          <a:bodyPr wrap="square" rtlCol="0"/>
          <a:lstStyle>
            <a:lvl1pPr algn="l" indent="0" marL="0">
              <a:buNone/>
              <a:defRPr lang="en-US" sz="1800" dirty="0">
                <a:solidFill>
                  <a:srgbClr val="D6E2F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uy hiệu mẫu (thay bằng logo của trường)">    </p:cNvPr>
          <p:cNvPicPr>
            <a:picLocks noChangeAspect="1"/>
          </p:cNvPicPr>
          <p:nvPr/>
        </p:nvPicPr>
        <p:blipFill>
          <a:blip r:embed="rId1"/>
          <a:stretch>
            <a:fillRect/>
          </a:stretch>
        </p:blipFill>
        <p:spPr>
          <a:xfrm>
            <a:off x="548640" y="411480"/>
            <a:ext cx="502920" cy="502920"/>
          </a:xfrm>
          <a:prstGeom prst="rect">
            <a:avLst/>
          </a:prstGeom>
        </p:spPr>
      </p:pic>
      <p:sp>
        <p:nvSpPr>
          <p:cNvPr id="3" name="Text 0"/>
          <p:cNvSpPr/>
          <p:nvPr/>
        </p:nvSpPr>
        <p:spPr>
          <a:xfrm>
            <a:off x="1188720" y="411480"/>
            <a:ext cx="5486400" cy="502920"/>
          </a:xfrm>
          <a:prstGeom prst="rect">
            <a:avLst/>
          </a:prstGeom>
          <a:noFill/>
          <a:ln/>
        </p:spPr>
        <p:txBody>
          <a:bodyPr wrap="square" lIns="0" tIns="0" rIns="0" bIns="0" rtlCol="0" anchor="ctr"/>
          <a:lstStyle/>
          <a:p>
            <a:pPr indent="0" marL="0">
              <a:buNone/>
            </a:pPr>
            <a:r>
              <a:rPr lang="en-US" sz="1400" b="1" dirty="0">
                <a:solidFill>
                  <a:srgbClr val="FFFFFF"/>
                </a:solidFill>
              </a:rPr>
              <a:t>Trường Đại học Mẫu A (tên mẫu)</a:t>
            </a:r>
            <a:endParaRPr lang="en-US" sz="1400" dirty="0"/>
          </a:p>
        </p:txBody>
      </p:sp>
      <p:sp>
        <p:nvSpPr>
          <p:cNvPr id="4" name="Text 1"/>
          <p:cNvSpPr/>
          <p:nvPr>
            <p:ph idx="102" type="title" hasCustomPrompt="1"/>
          </p:nvPr>
        </p:nvSpPr>
        <p:spPr>
          <a:xfrm>
            <a:off x="548640" y="1417320"/>
            <a:ext cx="6035040" cy="15544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5" name="Text 1"/>
          <p:cNvSpPr/>
          <p:nvPr>
            <p:ph idx="103" type="body" hasCustomPrompt="1"/>
          </p:nvPr>
        </p:nvSpPr>
        <p:spPr>
          <a:xfrm>
            <a:off x="548640" y="3154680"/>
            <a:ext cx="6035040" cy="1097280"/>
          </a:xfrm>
          <a:prstGeom prst="rect">
            <a:avLst/>
          </a:prstGeom>
          <a:noFill/>
          <a:ln/>
        </p:spPr>
        <p:txBody>
          <a:bodyPr wrap="square" rtlCol="0"/>
          <a:lstStyle>
            <a:lvl1pPr algn="l" indent="0" marL="0">
              <a:buNone/>
              <a:defRPr lang="en-US" sz="1800" dirty="0">
                <a:solidFill>
                  <a:srgbClr val="D6E2F0"/>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A4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286000" cy="1463040"/>
          </a:xfrm>
          <a:prstGeom prst="rect">
            <a:avLst/>
          </a:prstGeom>
          <a:noFill/>
          <a:ln/>
        </p:spPr>
        <p:txBody>
          <a:bodyPr wrap="square" rtlCol="0"/>
          <a:lstStyle>
            <a:lvl1pPr algn="l" indent="0" marL="0">
              <a:buNone/>
              <a:defRPr lang="en-US" sz="8000" b="1" dirty="0">
                <a:solidFill>
                  <a:srgbClr val="B8902B"/>
                </a:solidFill>
                <a:latin typeface="Cambria" pitchFamily="34" charset="0"/>
                <a:ea typeface="Cambria" pitchFamily="34" charset="-122"/>
                <a:cs typeface="Cambria" pitchFamily="34" charset="-120"/>
              </a:defRPr>
            </a:lvl1pPr>
          </a:lstStyle>
          <a:p>
            <a:pPr algn="l" indent="0" marL="0">
              <a:buNone/>
            </a:pPr>
            <a:endParaRPr lang="en-US" sz="8000" dirty="0"/>
          </a:p>
        </p:txBody>
      </p:sp>
      <p:sp>
        <p:nvSpPr>
          <p:cNvPr id="3" name="Text 0"/>
          <p:cNvSpPr/>
          <p:nvPr>
            <p:ph idx="101" type="title" hasCustomPrompt="1"/>
          </p:nvPr>
        </p:nvSpPr>
        <p:spPr>
          <a:xfrm>
            <a:off x="2926080" y="1097280"/>
            <a:ext cx="5669280" cy="146304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rtlCol="0"/>
          <a:lstStyle>
            <a:lvl1pPr algn="l" indent="0" marL="0">
              <a:buNone/>
              <a:defRPr lang="en-US" sz="2800" b="1" dirty="0">
                <a:solidFill>
                  <a:srgbClr val="0B2A4A"/>
                </a:solidFill>
              </a:defRPr>
            </a:lvl1pPr>
          </a:lstStyle>
          <a:p>
            <a:pPr algn="l" indent="0" marL="0">
              <a:buNone/>
            </a:pPr>
            <a:endParaRPr lang="en-US" sz="2800" dirty="0"/>
          </a:p>
        </p:txBody>
      </p:sp>
      <p:sp>
        <p:nvSpPr>
          <p:cNvPr id="3" name="Text 0"/>
          <p:cNvSpPr/>
          <p:nvPr/>
        </p:nvSpPr>
        <p:spPr>
          <a:xfrm>
            <a:off x="548640" y="4727448"/>
            <a:ext cx="5943600" cy="274320"/>
          </a:xfrm>
          <a:prstGeom prst="rect">
            <a:avLst/>
          </a:prstGeom>
          <a:noFill/>
          <a:ln/>
        </p:spPr>
        <p:txBody>
          <a:bodyPr wrap="square" lIns="0" tIns="0" rIns="0" bIns="0" rtlCol="0" anchor="ctr"/>
          <a:lstStyle/>
          <a:p>
            <a:pPr indent="0" marL="0">
              <a:buNone/>
            </a:pPr>
            <a:r>
              <a:rPr lang="en-US" sz="1100" dirty="0">
                <a:solidFill>
                  <a:srgbClr val="6B7A90"/>
                </a:solidFill>
              </a:rPr>
              <a:t>Campaign brief · Tuyển sinh đợt 1 năm 2027</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5-1.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1417320"/>
            <a:ext cx="6035040" cy="1554480"/>
          </a:xfrm>
          <a:prstGeom prst="rect">
            <a:avLst/>
          </a:prstGeom>
          <a:noFill/>
          <a:ln/>
        </p:spPr>
        <p:txBody>
          <a:bodyPr wrap="square" lIns="0" tIns="0" rIns="0" bIns="0" rtlCol="0" anchor="b"/>
          <a:lstStyle/>
          <a:p>
            <a:pPr algn="l" indent="0" marL="0">
              <a:buNone/>
            </a:pPr>
            <a:r>
              <a:rPr lang="en-US" sz="3600" b="1" dirty="0">
                <a:solidFill>
                  <a:srgbClr val="FFFFFF"/>
                </a:solidFill>
              </a:rPr>
              <a:t>Tuyển sinh đợt 1 năm 2027</a:t>
            </a:r>
            <a:endParaRPr lang="en-US" sz="3600" dirty="0"/>
          </a:p>
        </p:txBody>
      </p:sp>
      <p:sp>
        <p:nvSpPr>
          <p:cNvPr id="3" name="Text 1"/>
          <p:cNvSpPr/>
          <p:nvPr>
            <p:ph idx="103" type="body" hasCustomPrompt="1"/>
          </p:nvPr>
        </p:nvSpPr>
        <p:spPr>
          <a:xfrm>
            <a:off x="548640" y="3154680"/>
            <a:ext cx="6035040" cy="1097280"/>
          </a:xfrm>
          <a:prstGeom prst="rect">
            <a:avLst/>
          </a:prstGeom>
          <a:noFill/>
          <a:ln/>
        </p:spPr>
        <p:txBody>
          <a:bodyPr wrap="square" lIns="0" tIns="0" rIns="0" bIns="0" rtlCol="0" anchor="t"/>
          <a:lstStyle/>
          <a:p>
            <a:pPr algn="l" indent="0" marL="0">
              <a:buNone/>
            </a:pPr>
            <a:r>
              <a:rPr lang="en-US" sz="1800" dirty="0">
                <a:solidFill>
                  <a:srgbClr val="D6E2F0"/>
                </a:solidFill>
              </a:rPr>
              <a:t>Campaign brief · Thời gian chạy: 01/02/2027–30/06/2027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Mục tiêu: 1.500 hồ sơ đăng ký trước 30/06/2027</a:t>
            </a:r>
            <a:endParaRPr lang="en-US" sz="2800" dirty="0"/>
          </a:p>
        </p:txBody>
      </p:sp>
      <p:sp>
        <p:nvSpPr>
          <p:cNvPr id="4" name="the"/>
          <p:cNvSpPr/>
          <p:nvPr/>
        </p:nvSpPr>
        <p:spPr>
          <a:xfrm>
            <a:off x="548640" y="1325880"/>
            <a:ext cx="3840480" cy="2926080"/>
          </a:xfrm>
          <a:prstGeom prst="roundRect">
            <a:avLst>
              <a:gd name="adj" fmla="val 2500"/>
            </a:avLst>
          </a:prstGeom>
          <a:solidFill>
            <a:srgbClr val="F1F4F8"/>
          </a:solidFill>
          <a:ln w="12700">
            <a:solidFill>
              <a:srgbClr val="F1F4F8"/>
            </a:solidFill>
            <a:prstDash val="solid"/>
          </a:ln>
        </p:spPr>
      </p:sp>
      <p:sp>
        <p:nvSpPr>
          <p:cNvPr id="5" name="o-bieu-tuong"/>
          <p:cNvSpPr/>
          <p:nvPr/>
        </p:nvSpPr>
        <p:spPr>
          <a:xfrm>
            <a:off x="777240" y="1554480"/>
            <a:ext cx="548640" cy="548640"/>
          </a:xfrm>
          <a:prstGeom prst="ellipse">
            <a:avLst/>
          </a:prstGeom>
          <a:solidFill>
            <a:srgbClr val="1F4E8C"/>
          </a:solidFill>
          <a:ln w="12700">
            <a:solidFill>
              <a:srgbClr val="1F4E8C"/>
            </a:solidFill>
            <a:prstDash val="solid"/>
          </a:ln>
        </p:spPr>
      </p:sp>
      <p:pic>
        <p:nvPicPr>
          <p:cNvPr id="6" name="bieu-tuong" descr="Biểu tượng minh họa">    </p:cNvPr>
          <p:cNvPicPr>
            <a:picLocks noChangeAspect="1"/>
          </p:cNvPicPr>
          <p:nvPr/>
        </p:nvPicPr>
        <p:blipFill>
          <a:blip r:embed="rId1"/>
          <a:stretch>
            <a:fillRect/>
          </a:stretch>
        </p:blipFill>
        <p:spPr>
          <a:xfrm>
            <a:off x="914400" y="1691640"/>
            <a:ext cx="274320" cy="274320"/>
          </a:xfrm>
          <a:prstGeom prst="rect">
            <a:avLst/>
          </a:prstGeom>
        </p:spPr>
      </p:pic>
      <p:sp>
        <p:nvSpPr>
          <p:cNvPr id="7" name="so-lieu"/>
          <p:cNvSpPr txBox="1"/>
          <p:nvPr/>
        </p:nvSpPr>
        <p:spPr>
          <a:xfrm>
            <a:off x="777240" y="2240280"/>
            <a:ext cx="3383280" cy="777240"/>
          </a:xfrm>
          <a:prstGeom prst="rect">
            <a:avLst/>
          </a:prstGeom>
          <a:noFill/>
          <a:ln/>
        </p:spPr>
        <p:txBody>
          <a:bodyPr wrap="square" lIns="0" tIns="0" rIns="0" bIns="0" rtlCol="0" anchor="ctr"/>
          <a:lstStyle/>
          <a:p>
            <a:pPr indent="0" marL="0">
              <a:buNone/>
            </a:pPr>
            <a:r>
              <a:rPr lang="en-US" sz="4000" b="1" dirty="0">
                <a:solidFill>
                  <a:srgbClr val="1F4E8C"/>
                </a:solidFill>
                <a:latin typeface="Cambria" pitchFamily="34" charset="0"/>
                <a:ea typeface="Cambria" pitchFamily="34" charset="-122"/>
                <a:cs typeface="Cambria" pitchFamily="34" charset="-120"/>
              </a:rPr>
              <a:t>1.500</a:t>
            </a:r>
            <a:endParaRPr lang="en-US" sz="4000" dirty="0"/>
          </a:p>
        </p:txBody>
      </p:sp>
      <p:sp>
        <p:nvSpPr>
          <p:cNvPr id="8" name="nhan"/>
          <p:cNvSpPr txBox="1"/>
          <p:nvPr/>
        </p:nvSpPr>
        <p:spPr>
          <a:xfrm>
            <a:off x="777240" y="3063240"/>
            <a:ext cx="3383280" cy="1051560"/>
          </a:xfrm>
          <a:prstGeom prst="rect">
            <a:avLst/>
          </a:prstGeom>
          <a:noFill/>
          <a:ln/>
        </p:spPr>
        <p:txBody>
          <a:bodyPr wrap="square" lIns="0" tIns="0" rIns="0" bIns="0" rtlCol="0" anchor="t"/>
          <a:lstStyle/>
          <a:p>
            <a:pPr indent="0" marL="0">
              <a:buNone/>
            </a:pPr>
            <a:r>
              <a:rPr lang="en-US" sz="1600" dirty="0">
                <a:solidFill>
                  <a:srgbClr val="1A2433"/>
                </a:solidFill>
              </a:rPr>
              <a:t>hồ sơ đăng ký xét tuyển, hạn 30/06/2027</a:t>
            </a:r>
            <a:endParaRPr lang="en-US" sz="1600" dirty="0"/>
          </a:p>
        </p:txBody>
      </p:sp>
      <p:sp>
        <p:nvSpPr>
          <p:cNvPr id="9" name="luu-y"/>
          <p:cNvSpPr/>
          <p:nvPr/>
        </p:nvSpPr>
        <p:spPr>
          <a:xfrm>
            <a:off x="4754880" y="1325880"/>
            <a:ext cx="3840480" cy="2926080"/>
          </a:xfrm>
          <a:prstGeom prst="roundRect">
            <a:avLst>
              <a:gd name="adj" fmla="val 2500"/>
            </a:avLst>
          </a:prstGeom>
          <a:solidFill>
            <a:srgbClr val="FBF1E1"/>
          </a:solidFill>
          <a:ln w="12700">
            <a:solidFill>
              <a:srgbClr val="B8902B"/>
            </a:solidFill>
            <a:prstDash val="solid"/>
          </a:ln>
        </p:spPr>
      </p:sp>
      <p:pic>
        <p:nvPicPr>
          <p:cNvPr id="10" name="bieu-tuong" descr="Biểu tượng">    </p:cNvPr>
          <p:cNvPicPr>
            <a:picLocks noChangeAspect="1"/>
          </p:cNvPicPr>
          <p:nvPr/>
        </p:nvPicPr>
        <p:blipFill>
          <a:blip r:embed="rId2"/>
          <a:stretch>
            <a:fillRect/>
          </a:stretch>
        </p:blipFill>
        <p:spPr>
          <a:xfrm>
            <a:off x="4937760" y="1527048"/>
            <a:ext cx="274320" cy="274320"/>
          </a:xfrm>
          <a:prstGeom prst="rect">
            <a:avLst/>
          </a:prstGeom>
        </p:spPr>
      </p:pic>
      <p:sp>
        <p:nvSpPr>
          <p:cNvPr id="11" name="nhan-xet-tieu-de"/>
          <p:cNvSpPr txBox="1"/>
          <p:nvPr/>
        </p:nvSpPr>
        <p:spPr>
          <a:xfrm>
            <a:off x="5303520" y="1508760"/>
            <a:ext cx="3108960" cy="329184"/>
          </a:xfrm>
          <a:prstGeom prst="rect">
            <a:avLst/>
          </a:prstGeom>
          <a:noFill/>
          <a:ln/>
        </p:spPr>
        <p:txBody>
          <a:bodyPr wrap="square" lIns="0" tIns="0" rIns="0" bIns="0" rtlCol="0" anchor="ctr"/>
          <a:lstStyle/>
          <a:p>
            <a:pPr indent="0" marL="0">
              <a:buNone/>
            </a:pPr>
            <a:r>
              <a:rPr lang="en-US" sz="1800" b="1" dirty="0">
                <a:solidFill>
                  <a:srgbClr val="A23B3B"/>
                </a:solidFill>
              </a:rPr>
              <a:t>Chưa đo được</a:t>
            </a:r>
            <a:endParaRPr lang="en-US" sz="1800" dirty="0"/>
          </a:p>
        </p:txBody>
      </p:sp>
      <p:sp>
        <p:nvSpPr>
          <p:cNvPr id="12" name="nhan-xet-chu"/>
          <p:cNvSpPr txBox="1"/>
          <p:nvPr/>
        </p:nvSpPr>
        <p:spPr>
          <a:xfrm>
            <a:off x="4937760" y="1965960"/>
            <a:ext cx="34747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Mục tiêu 'tăng nhận diện thương hiệu' chưa có chỉ số và thời hạn</a:t>
            </a:r>
            <a:endParaRPr lang="en-US" sz="1600" dirty="0"/>
          </a:p>
          <a:p>
            <a:pPr marL="342900" indent="-342900">
              <a:spcAft>
                <a:spcPts val="800"/>
              </a:spcAft>
              <a:buSzPct val="100000"/>
              <a:buChar char="•"/>
            </a:pPr>
            <a:r>
              <a:rPr lang="en-US" sz="1600" dirty="0">
                <a:solidFill>
                  <a:srgbClr val="1A2433"/>
                </a:solidFill>
              </a:rPr>
              <a:t>Cần bổ sung trước khi duyệt</a:t>
            </a:r>
            <a:endParaRPr lang="en-US" sz="16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Hai nhóm đối tượng cùng dùng Facebook</a:t>
            </a:r>
            <a:endParaRPr lang="en-US" sz="2800" dirty="0"/>
          </a:p>
        </p:txBody>
      </p:sp>
      <p:sp>
        <p:nvSpPr>
          <p:cNvPr id="4" name="nhan-xet"/>
          <p:cNvSpPr/>
          <p:nvPr/>
        </p:nvSpPr>
        <p:spPr>
          <a:xfrm>
            <a:off x="548640" y="1463040"/>
            <a:ext cx="3840480" cy="2194560"/>
          </a:xfrm>
          <a:prstGeom prst="roundRect">
            <a:avLst>
              <a:gd name="adj" fmla="val 3333"/>
            </a:avLst>
          </a:prstGeom>
          <a:solidFill>
            <a:srgbClr val="F1F4F8"/>
          </a:solidFill>
          <a:ln w="12700">
            <a:solidFill>
              <a:srgbClr val="F1F4F8"/>
            </a:solidFill>
            <a:prstDash val="solid"/>
          </a:ln>
        </p:spPr>
      </p:sp>
      <p:pic>
        <p:nvPicPr>
          <p:cNvPr id="5" name="bieu-tuong" descr="Biểu tượng">    </p:cNvPr>
          <p:cNvPicPr>
            <a:picLocks noChangeAspect="1"/>
          </p:cNvPicPr>
          <p:nvPr/>
        </p:nvPicPr>
        <p:blipFill>
          <a:blip r:embed="rId1"/>
          <a:stretch>
            <a:fillRect/>
          </a:stretch>
        </p:blipFill>
        <p:spPr>
          <a:xfrm>
            <a:off x="731520" y="1664208"/>
            <a:ext cx="274320" cy="274320"/>
          </a:xfrm>
          <a:prstGeom prst="rect">
            <a:avLst/>
          </a:prstGeom>
        </p:spPr>
      </p:pic>
      <p:sp>
        <p:nvSpPr>
          <p:cNvPr id="6" name="nhan-xet-tieu-de"/>
          <p:cNvSpPr txBox="1"/>
          <p:nvPr/>
        </p:nvSpPr>
        <p:spPr>
          <a:xfrm>
            <a:off x="1097280" y="1645920"/>
            <a:ext cx="3108960" cy="329184"/>
          </a:xfrm>
          <a:prstGeom prst="rect">
            <a:avLst/>
          </a:prstGeom>
          <a:noFill/>
          <a:ln/>
        </p:spPr>
        <p:txBody>
          <a:bodyPr wrap="square" lIns="0" tIns="0" rIns="0" bIns="0" rtlCol="0" anchor="ctr"/>
          <a:lstStyle/>
          <a:p>
            <a:pPr indent="0" marL="0">
              <a:buNone/>
            </a:pPr>
            <a:r>
              <a:rPr lang="en-US" sz="1800" b="1" dirty="0">
                <a:solidFill>
                  <a:srgbClr val="0B2A4A"/>
                </a:solidFill>
              </a:rPr>
              <a:t>Học sinh lớp 12</a:t>
            </a:r>
            <a:endParaRPr lang="en-US" sz="1800" dirty="0"/>
          </a:p>
        </p:txBody>
      </p:sp>
      <p:sp>
        <p:nvSpPr>
          <p:cNvPr id="7" name="nhan-xet-chu"/>
          <p:cNvSpPr txBox="1"/>
          <p:nvPr/>
        </p:nvSpPr>
        <p:spPr>
          <a:xfrm>
            <a:off x="731520" y="2103120"/>
            <a:ext cx="347472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Kênh hay dùng: Facebook, Zalo</a:t>
            </a:r>
            <a:endParaRPr lang="en-US" sz="1600" dirty="0"/>
          </a:p>
          <a:p>
            <a:pPr marL="342900" indent="-342900">
              <a:spcAft>
                <a:spcPts val="800"/>
              </a:spcAft>
              <a:buSzPct val="100000"/>
              <a:buChar char="•"/>
            </a:pPr>
            <a:r>
              <a:rPr lang="en-US" sz="1600" dirty="0">
                <a:solidFill>
                  <a:srgbClr val="1A2433"/>
                </a:solidFill>
              </a:rPr>
              <a:t>Quan tâm: học phí, cơ hội việc làm</a:t>
            </a:r>
            <a:endParaRPr lang="en-US" sz="1600" dirty="0"/>
          </a:p>
        </p:txBody>
      </p:sp>
      <p:sp>
        <p:nvSpPr>
          <p:cNvPr id="8" name="nhan-xet"/>
          <p:cNvSpPr/>
          <p:nvPr/>
        </p:nvSpPr>
        <p:spPr>
          <a:xfrm>
            <a:off x="4754880" y="1463040"/>
            <a:ext cx="3840480" cy="2194560"/>
          </a:xfrm>
          <a:prstGeom prst="roundRect">
            <a:avLst>
              <a:gd name="adj" fmla="val 3333"/>
            </a:avLst>
          </a:prstGeom>
          <a:solidFill>
            <a:srgbClr val="F1F4F8"/>
          </a:solidFill>
          <a:ln w="12700">
            <a:solidFill>
              <a:srgbClr val="F1F4F8"/>
            </a:solidFill>
            <a:prstDash val="solid"/>
          </a:ln>
        </p:spPr>
      </p:sp>
      <p:pic>
        <p:nvPicPr>
          <p:cNvPr id="9" name="bieu-tuong" descr="Biểu tượng">    </p:cNvPr>
          <p:cNvPicPr>
            <a:picLocks noChangeAspect="1"/>
          </p:cNvPicPr>
          <p:nvPr/>
        </p:nvPicPr>
        <p:blipFill>
          <a:blip r:embed="rId2"/>
          <a:stretch>
            <a:fillRect/>
          </a:stretch>
        </p:blipFill>
        <p:spPr>
          <a:xfrm>
            <a:off x="4937760" y="1664208"/>
            <a:ext cx="274320" cy="274320"/>
          </a:xfrm>
          <a:prstGeom prst="rect">
            <a:avLst/>
          </a:prstGeom>
        </p:spPr>
      </p:pic>
      <p:sp>
        <p:nvSpPr>
          <p:cNvPr id="10" name="nhan-xet-tieu-de"/>
          <p:cNvSpPr txBox="1"/>
          <p:nvPr/>
        </p:nvSpPr>
        <p:spPr>
          <a:xfrm>
            <a:off x="5303520" y="1645920"/>
            <a:ext cx="3108960" cy="329184"/>
          </a:xfrm>
          <a:prstGeom prst="rect">
            <a:avLst/>
          </a:prstGeom>
          <a:noFill/>
          <a:ln/>
        </p:spPr>
        <p:txBody>
          <a:bodyPr wrap="square" lIns="0" tIns="0" rIns="0" bIns="0" rtlCol="0" anchor="ctr"/>
          <a:lstStyle/>
          <a:p>
            <a:pPr indent="0" marL="0">
              <a:buNone/>
            </a:pPr>
            <a:r>
              <a:rPr lang="en-US" sz="1800" b="1" dirty="0">
                <a:solidFill>
                  <a:srgbClr val="0B2A4A"/>
                </a:solidFill>
              </a:rPr>
              <a:t>Phụ huynh</a:t>
            </a:r>
            <a:endParaRPr lang="en-US" sz="1800" dirty="0"/>
          </a:p>
        </p:txBody>
      </p:sp>
      <p:sp>
        <p:nvSpPr>
          <p:cNvPr id="11" name="nhan-xet-chu"/>
          <p:cNvSpPr txBox="1"/>
          <p:nvPr/>
        </p:nvSpPr>
        <p:spPr>
          <a:xfrm>
            <a:off x="4937760" y="2103120"/>
            <a:ext cx="347472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Kênh hay dùng: Facebook</a:t>
            </a:r>
            <a:endParaRPr lang="en-US" sz="1600" dirty="0"/>
          </a:p>
          <a:p>
            <a:pPr marL="342900" indent="-342900">
              <a:spcAft>
                <a:spcPts val="800"/>
              </a:spcAft>
              <a:buSzPct val="100000"/>
              <a:buChar char="•"/>
            </a:pPr>
            <a:r>
              <a:rPr lang="en-US" sz="1600" dirty="0">
                <a:solidFill>
                  <a:srgbClr val="1A2433"/>
                </a:solidFill>
              </a:rPr>
              <a:t>Quan tâm: học phí, học bổng</a:t>
            </a:r>
            <a:endParaRPr lang="en-US" sz="16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Thông điệp chính: học thật, ra trường có việc</a:t>
            </a:r>
            <a:endParaRPr lang="en-US" sz="2800" dirty="0"/>
          </a:p>
        </p:txBody>
      </p:sp>
      <p:sp>
        <p:nvSpPr>
          <p:cNvPr id="4" name="the-chinh"/>
          <p:cNvSpPr/>
          <p:nvPr/>
        </p:nvSpPr>
        <p:spPr>
          <a:xfrm>
            <a:off x="548640" y="1325880"/>
            <a:ext cx="8046720" cy="1280160"/>
          </a:xfrm>
          <a:prstGeom prst="roundRect">
            <a:avLst>
              <a:gd name="adj" fmla="val 5714"/>
            </a:avLst>
          </a:prstGeom>
          <a:solidFill>
            <a:srgbClr val="0B2A4A"/>
          </a:solidFill>
          <a:ln w="12700">
            <a:solidFill>
              <a:srgbClr val="0B2A4A"/>
            </a:solidFill>
            <a:prstDash val="solid"/>
          </a:ln>
        </p:spPr>
      </p:sp>
      <p:sp>
        <p:nvSpPr>
          <p:cNvPr id="5" name="thong-diep-chinh"/>
          <p:cNvSpPr txBox="1"/>
          <p:nvPr/>
        </p:nvSpPr>
        <p:spPr>
          <a:xfrm>
            <a:off x="822960" y="1371600"/>
            <a:ext cx="749808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Học thật, ra trường có việc</a:t>
            </a:r>
            <a:endParaRPr lang="en-US" sz="3000" dirty="0"/>
          </a:p>
        </p:txBody>
      </p:sp>
      <p:sp>
        <p:nvSpPr>
          <p:cNvPr id="6" name="thong-diep-ghi-chu"/>
          <p:cNvSpPr txBox="1"/>
          <p:nvPr/>
        </p:nvSpPr>
        <p:spPr>
          <a:xfrm>
            <a:off x="822960" y="2194560"/>
            <a:ext cx="7498080" cy="320040"/>
          </a:xfrm>
          <a:prstGeom prst="rect">
            <a:avLst/>
          </a:prstGeom>
          <a:noFill/>
          <a:ln/>
        </p:spPr>
        <p:txBody>
          <a:bodyPr wrap="square" lIns="0" tIns="0" rIns="0" bIns="0" rtlCol="0" anchor="ctr"/>
          <a:lstStyle/>
          <a:p>
            <a:pPr indent="0" marL="0">
              <a:buNone/>
            </a:pPr>
            <a:r>
              <a:rPr lang="en-US" sz="1400" dirty="0">
                <a:solidFill>
                  <a:srgbClr val="D6E2F0"/>
                </a:solidFill>
              </a:rPr>
              <a:t>Thông điệp chính · chưa có số liệu bằng chứng</a:t>
            </a:r>
            <a:endParaRPr lang="en-US" sz="1400" dirty="0"/>
          </a:p>
        </p:txBody>
      </p:sp>
      <p:sp>
        <p:nvSpPr>
          <p:cNvPr id="7" name="nhan-xet"/>
          <p:cNvSpPr/>
          <p:nvPr/>
        </p:nvSpPr>
        <p:spPr>
          <a:xfrm>
            <a:off x="548640" y="2788920"/>
            <a:ext cx="3840480" cy="1508760"/>
          </a:xfrm>
          <a:prstGeom prst="roundRect">
            <a:avLst>
              <a:gd name="adj" fmla="val 4848"/>
            </a:avLst>
          </a:prstGeom>
          <a:solidFill>
            <a:srgbClr val="F1F4F8"/>
          </a:solidFill>
          <a:ln w="12700">
            <a:solidFill>
              <a:srgbClr val="F1F4F8"/>
            </a:solidFill>
            <a:prstDash val="solid"/>
          </a:ln>
        </p:spPr>
      </p:sp>
      <p:sp>
        <p:nvSpPr>
          <p:cNvPr id="8" name="nhan-xet-tieu-de"/>
          <p:cNvSpPr txBox="1"/>
          <p:nvPr/>
        </p:nvSpPr>
        <p:spPr>
          <a:xfrm>
            <a:off x="731520" y="2971800"/>
            <a:ext cx="3474720" cy="329184"/>
          </a:xfrm>
          <a:prstGeom prst="rect">
            <a:avLst/>
          </a:prstGeom>
          <a:noFill/>
          <a:ln/>
        </p:spPr>
        <p:txBody>
          <a:bodyPr wrap="square" lIns="0" tIns="0" rIns="0" bIns="0" rtlCol="0" anchor="ctr"/>
          <a:lstStyle/>
          <a:p>
            <a:pPr indent="0" marL="0">
              <a:buNone/>
            </a:pPr>
            <a:r>
              <a:rPr lang="en-US" sz="1800" b="1" dirty="0">
                <a:solidFill>
                  <a:srgbClr val="0B2A4A"/>
                </a:solidFill>
              </a:rPr>
              <a:t>Phụ: học bổng</a:t>
            </a:r>
            <a:endParaRPr lang="en-US" sz="1800" dirty="0"/>
          </a:p>
        </p:txBody>
      </p:sp>
      <p:sp>
        <p:nvSpPr>
          <p:cNvPr id="9" name="nhan-xet-chu"/>
          <p:cNvSpPr txBox="1"/>
          <p:nvPr/>
        </p:nvSpPr>
        <p:spPr>
          <a:xfrm>
            <a:off x="731520" y="3429000"/>
            <a:ext cx="3474720" cy="777240"/>
          </a:xfrm>
          <a:prstGeom prst="rect">
            <a:avLst/>
          </a:prstGeom>
          <a:noFill/>
          <a:ln/>
        </p:spPr>
        <p:txBody>
          <a:bodyPr wrap="square" lIns="0" tIns="0" rIns="0" bIns="0" rtlCol="0" anchor="t"/>
          <a:lstStyle/>
          <a:p>
            <a:pPr indent="0" marL="0">
              <a:spcAft>
                <a:spcPts val="800"/>
              </a:spcAft>
              <a:buNone/>
            </a:pPr>
            <a:r>
              <a:rPr lang="en-US" sz="1600" dirty="0">
                <a:solidFill>
                  <a:srgbClr val="1A2433"/>
                </a:solidFill>
              </a:rPr>
              <a:t>Học bổng cho 100 thí sinh đầu tiên</a:t>
            </a:r>
            <a:endParaRPr lang="en-US" sz="1600" dirty="0"/>
          </a:p>
        </p:txBody>
      </p:sp>
      <p:sp>
        <p:nvSpPr>
          <p:cNvPr id="10" name="luu-y"/>
          <p:cNvSpPr/>
          <p:nvPr/>
        </p:nvSpPr>
        <p:spPr>
          <a:xfrm>
            <a:off x="4754880" y="2788920"/>
            <a:ext cx="3840480" cy="1508760"/>
          </a:xfrm>
          <a:prstGeom prst="roundRect">
            <a:avLst>
              <a:gd name="adj" fmla="val 4848"/>
            </a:avLst>
          </a:prstGeom>
          <a:solidFill>
            <a:srgbClr val="FBF1E1"/>
          </a:solidFill>
          <a:ln w="12700">
            <a:solidFill>
              <a:srgbClr val="B8902B"/>
            </a:solidFill>
            <a:prstDash val="solid"/>
          </a:ln>
        </p:spPr>
      </p:sp>
      <p:sp>
        <p:nvSpPr>
          <p:cNvPr id="11" name="nhan-xet-tieu-de"/>
          <p:cNvSpPr txBox="1"/>
          <p:nvPr/>
        </p:nvSpPr>
        <p:spPr>
          <a:xfrm>
            <a:off x="4937760" y="2971800"/>
            <a:ext cx="3474720" cy="329184"/>
          </a:xfrm>
          <a:prstGeom prst="rect">
            <a:avLst/>
          </a:prstGeom>
          <a:noFill/>
          <a:ln/>
        </p:spPr>
        <p:txBody>
          <a:bodyPr wrap="square" lIns="0" tIns="0" rIns="0" bIns="0" rtlCol="0" anchor="ctr"/>
          <a:lstStyle/>
          <a:p>
            <a:pPr indent="0" marL="0">
              <a:buNone/>
            </a:pPr>
            <a:r>
              <a:rPr lang="en-US" sz="1800" b="1" dirty="0">
                <a:solidFill>
                  <a:srgbClr val="A23B3B"/>
                </a:solidFill>
              </a:rPr>
              <a:t>Phụ: thực tập</a:t>
            </a:r>
            <a:endParaRPr lang="en-US" sz="1800" dirty="0"/>
          </a:p>
        </p:txBody>
      </p:sp>
      <p:sp>
        <p:nvSpPr>
          <p:cNvPr id="12" name="nhan-xet-chu"/>
          <p:cNvSpPr txBox="1"/>
          <p:nvPr/>
        </p:nvSpPr>
        <p:spPr>
          <a:xfrm>
            <a:off x="4937760" y="3429000"/>
            <a:ext cx="3474720" cy="777240"/>
          </a:xfrm>
          <a:prstGeom prst="rect">
            <a:avLst/>
          </a:prstGeom>
          <a:noFill/>
          <a:ln/>
        </p:spPr>
        <p:txBody>
          <a:bodyPr wrap="square" lIns="0" tIns="0" rIns="0" bIns="0" rtlCol="0" anchor="t"/>
          <a:lstStyle/>
          <a:p>
            <a:pPr indent="0" marL="0">
              <a:spcAft>
                <a:spcPts val="800"/>
              </a:spcAft>
              <a:buNone/>
            </a:pPr>
            <a:r>
              <a:rPr lang="en-US" sz="1600" dirty="0">
                <a:solidFill>
                  <a:srgbClr val="1A2433"/>
                </a:solidFill>
              </a:rPr>
              <a:t>Chưa có số liệu bằng chứng</a:t>
            </a:r>
            <a:endParaRPr lang="en-US" sz="16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Facebook Ads chiếm phần lớn ngân sách</a:t>
            </a:r>
            <a:endParaRPr lang="en-US" sz="2800" dirty="0"/>
          </a:p>
        </p:txBody>
      </p:sp>
      <p:graphicFrame>
        <p:nvGraphicFramePr>
          <p:cNvPr id="4" name="bieu-do" descr=""/>
          <p:cNvGraphicFramePr/>
          <p:nvPr/>
        </p:nvGraphicFramePr>
        <p:xfrm>
          <a:off x="548640" y="123444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5" name="luu-y"/>
          <p:cNvSpPr/>
          <p:nvPr/>
        </p:nvSpPr>
        <p:spPr>
          <a:xfrm>
            <a:off x="6172200" y="1325880"/>
            <a:ext cx="2423160" cy="3017520"/>
          </a:xfrm>
          <a:prstGeom prst="roundRect">
            <a:avLst>
              <a:gd name="adj" fmla="val 3019"/>
            </a:avLst>
          </a:prstGeom>
          <a:solidFill>
            <a:srgbClr val="FBF1E1"/>
          </a:solidFill>
          <a:ln w="12700">
            <a:solidFill>
              <a:srgbClr val="B8902B"/>
            </a:solidFill>
            <a:prstDash val="solid"/>
          </a:ln>
        </p:spPr>
      </p:sp>
      <p:pic>
        <p:nvPicPr>
          <p:cNvPr id="6" name="bieu-tuong" descr="Biểu tượng">    </p:cNvPr>
          <p:cNvPicPr>
            <a:picLocks noChangeAspect="1"/>
          </p:cNvPicPr>
          <p:nvPr/>
        </p:nvPicPr>
        <p:blipFill>
          <a:blip r:embed="rId2"/>
          <a:stretch>
            <a:fillRect/>
          </a:stretch>
        </p:blipFill>
        <p:spPr>
          <a:xfrm>
            <a:off x="6355080" y="1527048"/>
            <a:ext cx="274320" cy="274320"/>
          </a:xfrm>
          <a:prstGeom prst="rect">
            <a:avLst/>
          </a:prstGeom>
        </p:spPr>
      </p:pic>
      <p:sp>
        <p:nvSpPr>
          <p:cNvPr id="7" name="nhan-xet-tieu-de"/>
          <p:cNvSpPr txBox="1"/>
          <p:nvPr/>
        </p:nvSpPr>
        <p:spPr>
          <a:xfrm>
            <a:off x="6720840" y="1508760"/>
            <a:ext cx="1691640" cy="329184"/>
          </a:xfrm>
          <a:prstGeom prst="rect">
            <a:avLst/>
          </a:prstGeom>
          <a:noFill/>
          <a:ln/>
        </p:spPr>
        <p:txBody>
          <a:bodyPr wrap="square" lIns="0" tIns="0" rIns="0" bIns="0" rtlCol="0" anchor="ctr"/>
          <a:lstStyle/>
          <a:p>
            <a:pPr indent="0" marL="0">
              <a:buNone/>
            </a:pPr>
            <a:r>
              <a:rPr lang="en-US" sz="1800" b="1" dirty="0">
                <a:solidFill>
                  <a:srgbClr val="A23B3B"/>
                </a:solidFill>
              </a:rPr>
              <a:t>Cần rà lại</a:t>
            </a:r>
            <a:endParaRPr lang="en-US" sz="1800" dirty="0"/>
          </a:p>
        </p:txBody>
      </p:sp>
      <p:sp>
        <p:nvSpPr>
          <p:cNvPr id="8" name="nhan-xet-chu"/>
          <p:cNvSpPr txBox="1"/>
          <p:nvPr/>
        </p:nvSpPr>
        <p:spPr>
          <a:xfrm>
            <a:off x="6355080" y="1965960"/>
            <a:ext cx="205740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Cộng bốn kênh: 520</a:t>
            </a:r>
            <a:endParaRPr lang="en-US" sz="1600" dirty="0"/>
          </a:p>
          <a:p>
            <a:pPr marL="342900" indent="-342900">
              <a:spcAft>
                <a:spcPts val="800"/>
              </a:spcAft>
              <a:buSzPct val="100000"/>
              <a:buChar char="•"/>
            </a:pPr>
            <a:r>
              <a:rPr lang="en-US" sz="1600" dirty="0">
                <a:solidFill>
                  <a:srgbClr val="1A2433"/>
                </a:solidFill>
              </a:rPr>
              <a:t>Khai tổng: 500</a:t>
            </a:r>
            <a:endParaRPr lang="en-US" sz="1600" dirty="0"/>
          </a:p>
          <a:p>
            <a:pPr marL="342900" indent="-342900">
              <a:spcAft>
                <a:spcPts val="800"/>
              </a:spcAft>
              <a:buSzPct val="100000"/>
              <a:buChar char="•"/>
            </a:pPr>
            <a:r>
              <a:rPr lang="en-US" sz="1600" dirty="0">
                <a:solidFill>
                  <a:srgbClr val="1A2433"/>
                </a:solidFill>
              </a:rPr>
              <a:t>Lệch 20 triệu đồng chưa giải thích</a:t>
            </a:r>
            <a:endParaRPr lang="en-US" sz="1600" dirty="0"/>
          </a:p>
        </p:txBody>
      </p:sp>
      <p:sp>
        <p:nvSpPr>
          <p:cNvPr id="9" name="nguon"/>
          <p:cNvSpPr txBox="1"/>
          <p:nvPr/>
        </p:nvSpPr>
        <p:spPr>
          <a:xfrm>
            <a:off x="548640" y="4416552"/>
            <a:ext cx="8046720" cy="274320"/>
          </a:xfrm>
          <a:prstGeom prst="rect">
            <a:avLst/>
          </a:prstGeom>
          <a:noFill/>
          <a:ln/>
        </p:spPr>
        <p:txBody>
          <a:bodyPr wrap="square" lIns="0" tIns="0" rIns="0" bIns="0" rtlCol="0" anchor="ctr"/>
          <a:lstStyle/>
          <a:p>
            <a:pPr indent="0" marL="0">
              <a:buNone/>
            </a:pPr>
            <a:r>
              <a:rPr lang="en-US" sz="1100" i="1" dirty="0">
                <a:solidFill>
                  <a:srgbClr val="6B7A90"/>
                </a:solidFill>
              </a:rPr>
              <a:t>Nguồn: dự kiến ngân sách theo kênh của đơn vị (đơn vị: triệu đồng)</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Bốn pha: chuẩn bị, chạy, cao điểm, tổng kết</a:t>
            </a:r>
            <a:endParaRPr lang="en-US" sz="2800" dirty="0"/>
          </a:p>
        </p:txBody>
      </p:sp>
      <p:sp>
        <p:nvSpPr>
          <p:cNvPr id="4" name="pha"/>
          <p:cNvSpPr/>
          <p:nvPr/>
        </p:nvSpPr>
        <p:spPr>
          <a:xfrm>
            <a:off x="548640" y="1554480"/>
            <a:ext cx="1965960" cy="914400"/>
          </a:xfrm>
          <a:prstGeom prst="rect">
            <a:avLst/>
          </a:prstGeom>
          <a:solidFill>
            <a:srgbClr val="1F4E8C"/>
          </a:solidFill>
          <a:ln w="12700">
            <a:solidFill>
              <a:srgbClr val="FFFFFF"/>
            </a:solidFill>
            <a:prstDash val="solid"/>
          </a:ln>
        </p:spPr>
      </p:sp>
      <p:sp>
        <p:nvSpPr>
          <p:cNvPr id="5" name="pha-chu"/>
          <p:cNvSpPr txBox="1"/>
          <p:nvPr/>
        </p:nvSpPr>
        <p:spPr>
          <a:xfrm>
            <a:off x="548640" y="1554480"/>
            <a:ext cx="1965960" cy="914400"/>
          </a:xfrm>
          <a:prstGeom prst="rect">
            <a:avLst/>
          </a:prstGeom>
          <a:noFill/>
          <a:ln/>
        </p:spPr>
        <p:txBody>
          <a:bodyPr wrap="square" lIns="0" tIns="0" rIns="0" bIns="0" rtlCol="0" anchor="ctr"/>
          <a:lstStyle/>
          <a:p>
            <a:pPr algn="ctr" indent="0" marL="0">
              <a:buNone/>
            </a:pPr>
            <a:r>
              <a:rPr lang="en-US" sz="2000" b="1" dirty="0">
                <a:solidFill>
                  <a:srgbClr val="FFFFFF"/>
                </a:solidFill>
              </a:rPr>
              <a:t>Chuẩn bị</a:t>
            </a:r>
            <a:endParaRPr lang="en-US" sz="2000" dirty="0"/>
          </a:p>
        </p:txBody>
      </p:sp>
      <p:sp>
        <p:nvSpPr>
          <p:cNvPr id="6" name="moc"/>
          <p:cNvSpPr txBox="1"/>
          <p:nvPr/>
        </p:nvSpPr>
        <p:spPr>
          <a:xfrm>
            <a:off x="548640" y="260604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Mốc: ........</a:t>
            </a:r>
            <a:endParaRPr lang="en-US" sz="1400" dirty="0"/>
          </a:p>
        </p:txBody>
      </p:sp>
      <p:sp>
        <p:nvSpPr>
          <p:cNvPr id="7" name="phu-trach"/>
          <p:cNvSpPr txBox="1"/>
          <p:nvPr/>
        </p:nvSpPr>
        <p:spPr>
          <a:xfrm>
            <a:off x="548640" y="297180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Phụ trách: ........</a:t>
            </a:r>
            <a:endParaRPr lang="en-US" sz="1400" dirty="0"/>
          </a:p>
        </p:txBody>
      </p:sp>
      <p:sp>
        <p:nvSpPr>
          <p:cNvPr id="8" name="pha"/>
          <p:cNvSpPr/>
          <p:nvPr/>
        </p:nvSpPr>
        <p:spPr>
          <a:xfrm>
            <a:off x="2606040" y="1554480"/>
            <a:ext cx="1965960" cy="914400"/>
          </a:xfrm>
          <a:prstGeom prst="rect">
            <a:avLst/>
          </a:prstGeom>
          <a:solidFill>
            <a:srgbClr val="2E7D6B"/>
          </a:solidFill>
          <a:ln w="12700">
            <a:solidFill>
              <a:srgbClr val="FFFFFF"/>
            </a:solidFill>
            <a:prstDash val="solid"/>
          </a:ln>
        </p:spPr>
      </p:sp>
      <p:sp>
        <p:nvSpPr>
          <p:cNvPr id="9" name="pha-chu"/>
          <p:cNvSpPr txBox="1"/>
          <p:nvPr/>
        </p:nvSpPr>
        <p:spPr>
          <a:xfrm>
            <a:off x="2606040" y="1554480"/>
            <a:ext cx="1965960" cy="914400"/>
          </a:xfrm>
          <a:prstGeom prst="rect">
            <a:avLst/>
          </a:prstGeom>
          <a:noFill/>
          <a:ln/>
        </p:spPr>
        <p:txBody>
          <a:bodyPr wrap="square" lIns="0" tIns="0" rIns="0" bIns="0" rtlCol="0" anchor="ctr"/>
          <a:lstStyle/>
          <a:p>
            <a:pPr algn="ctr" indent="0" marL="0">
              <a:buNone/>
            </a:pPr>
            <a:r>
              <a:rPr lang="en-US" sz="2000" b="1" dirty="0">
                <a:solidFill>
                  <a:srgbClr val="FFFFFF"/>
                </a:solidFill>
              </a:rPr>
              <a:t>Chạy</a:t>
            </a:r>
            <a:endParaRPr lang="en-US" sz="2000" dirty="0"/>
          </a:p>
        </p:txBody>
      </p:sp>
      <p:sp>
        <p:nvSpPr>
          <p:cNvPr id="10" name="moc"/>
          <p:cNvSpPr txBox="1"/>
          <p:nvPr/>
        </p:nvSpPr>
        <p:spPr>
          <a:xfrm>
            <a:off x="2606040" y="260604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Mốc: ........</a:t>
            </a:r>
            <a:endParaRPr lang="en-US" sz="1400" dirty="0"/>
          </a:p>
        </p:txBody>
      </p:sp>
      <p:sp>
        <p:nvSpPr>
          <p:cNvPr id="11" name="phu-trach"/>
          <p:cNvSpPr txBox="1"/>
          <p:nvPr/>
        </p:nvSpPr>
        <p:spPr>
          <a:xfrm>
            <a:off x="2606040" y="297180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Phụ trách: ........</a:t>
            </a:r>
            <a:endParaRPr lang="en-US" sz="1400" dirty="0"/>
          </a:p>
        </p:txBody>
      </p:sp>
      <p:sp>
        <p:nvSpPr>
          <p:cNvPr id="12" name="pha"/>
          <p:cNvSpPr/>
          <p:nvPr/>
        </p:nvSpPr>
        <p:spPr>
          <a:xfrm>
            <a:off x="4663440" y="1554480"/>
            <a:ext cx="1965960" cy="914400"/>
          </a:xfrm>
          <a:prstGeom prst="rect">
            <a:avLst/>
          </a:prstGeom>
          <a:solidFill>
            <a:srgbClr val="B8902B"/>
          </a:solidFill>
          <a:ln w="12700">
            <a:solidFill>
              <a:srgbClr val="FFFFFF"/>
            </a:solidFill>
            <a:prstDash val="solid"/>
          </a:ln>
        </p:spPr>
      </p:sp>
      <p:sp>
        <p:nvSpPr>
          <p:cNvPr id="13" name="pha-chu"/>
          <p:cNvSpPr txBox="1"/>
          <p:nvPr/>
        </p:nvSpPr>
        <p:spPr>
          <a:xfrm>
            <a:off x="4663440" y="1554480"/>
            <a:ext cx="1965960" cy="914400"/>
          </a:xfrm>
          <a:prstGeom prst="rect">
            <a:avLst/>
          </a:prstGeom>
          <a:noFill/>
          <a:ln/>
        </p:spPr>
        <p:txBody>
          <a:bodyPr wrap="square" lIns="0" tIns="0" rIns="0" bIns="0" rtlCol="0" anchor="ctr"/>
          <a:lstStyle/>
          <a:p>
            <a:pPr algn="ctr" indent="0" marL="0">
              <a:buNone/>
            </a:pPr>
            <a:r>
              <a:rPr lang="en-US" sz="2000" b="1" dirty="0">
                <a:solidFill>
                  <a:srgbClr val="FFFFFF"/>
                </a:solidFill>
              </a:rPr>
              <a:t>Cao điểm</a:t>
            </a:r>
            <a:endParaRPr lang="en-US" sz="2000" dirty="0"/>
          </a:p>
        </p:txBody>
      </p:sp>
      <p:sp>
        <p:nvSpPr>
          <p:cNvPr id="14" name="moc"/>
          <p:cNvSpPr txBox="1"/>
          <p:nvPr/>
        </p:nvSpPr>
        <p:spPr>
          <a:xfrm>
            <a:off x="4663440" y="260604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Mốc: ........</a:t>
            </a:r>
            <a:endParaRPr lang="en-US" sz="1400" dirty="0"/>
          </a:p>
        </p:txBody>
      </p:sp>
      <p:sp>
        <p:nvSpPr>
          <p:cNvPr id="15" name="phu-trach"/>
          <p:cNvSpPr txBox="1"/>
          <p:nvPr/>
        </p:nvSpPr>
        <p:spPr>
          <a:xfrm>
            <a:off x="4663440" y="297180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Phụ trách: ........</a:t>
            </a:r>
            <a:endParaRPr lang="en-US" sz="1400" dirty="0"/>
          </a:p>
        </p:txBody>
      </p:sp>
      <p:sp>
        <p:nvSpPr>
          <p:cNvPr id="16" name="pha"/>
          <p:cNvSpPr/>
          <p:nvPr/>
        </p:nvSpPr>
        <p:spPr>
          <a:xfrm>
            <a:off x="6720840" y="1554480"/>
            <a:ext cx="1965960" cy="914400"/>
          </a:xfrm>
          <a:prstGeom prst="rect">
            <a:avLst/>
          </a:prstGeom>
          <a:solidFill>
            <a:srgbClr val="6B7A90"/>
          </a:solidFill>
          <a:ln w="12700">
            <a:solidFill>
              <a:srgbClr val="FFFFFF"/>
            </a:solidFill>
            <a:prstDash val="solid"/>
          </a:ln>
        </p:spPr>
      </p:sp>
      <p:sp>
        <p:nvSpPr>
          <p:cNvPr id="17" name="pha-chu"/>
          <p:cNvSpPr txBox="1"/>
          <p:nvPr/>
        </p:nvSpPr>
        <p:spPr>
          <a:xfrm>
            <a:off x="6720840" y="1554480"/>
            <a:ext cx="1965960" cy="914400"/>
          </a:xfrm>
          <a:prstGeom prst="rect">
            <a:avLst/>
          </a:prstGeom>
          <a:noFill/>
          <a:ln/>
        </p:spPr>
        <p:txBody>
          <a:bodyPr wrap="square" lIns="0" tIns="0" rIns="0" bIns="0" rtlCol="0" anchor="ctr"/>
          <a:lstStyle/>
          <a:p>
            <a:pPr algn="ctr" indent="0" marL="0">
              <a:buNone/>
            </a:pPr>
            <a:r>
              <a:rPr lang="en-US" sz="2000" b="1" dirty="0">
                <a:solidFill>
                  <a:srgbClr val="FFFFFF"/>
                </a:solidFill>
              </a:rPr>
              <a:t>Tổng kết</a:t>
            </a:r>
            <a:endParaRPr lang="en-US" sz="2000" dirty="0"/>
          </a:p>
        </p:txBody>
      </p:sp>
      <p:sp>
        <p:nvSpPr>
          <p:cNvPr id="18" name="moc"/>
          <p:cNvSpPr txBox="1"/>
          <p:nvPr/>
        </p:nvSpPr>
        <p:spPr>
          <a:xfrm>
            <a:off x="6720840" y="260604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Mốc: ........</a:t>
            </a:r>
            <a:endParaRPr lang="en-US" sz="1400" dirty="0"/>
          </a:p>
        </p:txBody>
      </p:sp>
      <p:sp>
        <p:nvSpPr>
          <p:cNvPr id="19" name="phu-trach"/>
          <p:cNvSpPr txBox="1"/>
          <p:nvPr/>
        </p:nvSpPr>
        <p:spPr>
          <a:xfrm>
            <a:off x="6720840" y="2971800"/>
            <a:ext cx="1965960" cy="365760"/>
          </a:xfrm>
          <a:prstGeom prst="rect">
            <a:avLst/>
          </a:prstGeom>
          <a:noFill/>
          <a:ln/>
        </p:spPr>
        <p:txBody>
          <a:bodyPr wrap="square" lIns="0" tIns="0" rIns="0" bIns="0" rtlCol="0" anchor="ctr"/>
          <a:lstStyle/>
          <a:p>
            <a:pPr algn="ctr" indent="0" marL="0">
              <a:buNone/>
            </a:pPr>
            <a:r>
              <a:rPr lang="en-US" sz="1400" dirty="0">
                <a:solidFill>
                  <a:srgbClr val="6B7A90"/>
                </a:solidFill>
              </a:rPr>
              <a:t>Phụ trách: ........</a:t>
            </a:r>
            <a:endParaRPr lang="en-US" sz="14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KPI: 1.500 hồ sơ, ba kênh đã có chỉ tiêu lead</a:t>
            </a:r>
            <a:endParaRPr lang="en-US" sz="2800" dirty="0"/>
          </a:p>
        </p:txBody>
      </p:sp>
      <p:graphicFrame>
        <p:nvGraphicFramePr>
          <p:cNvPr id="8" name="bang"/>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4754880"/>
                <a:gridCol w="3291840"/>
              </a:tblGrid>
              <a:tr h="502920">
                <a:tc>
                  <a:txBody>
                    <a:bodyPr/>
                    <a:lstStyle/>
                    <a:p>
                      <a:pPr indent="0" marL="0">
                        <a:buNone/>
                      </a:pPr>
                      <a:r>
                        <a:rPr lang="en-US" sz="1800" b="1" dirty="0">
                          <a:solidFill>
                            <a:srgbClr val="FFFFFF"/>
                          </a:solidFill>
                        </a:rPr>
                        <a:t>Kênh</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B2A4A"/>
                    </a:solidFill>
                  </a:tcPr>
                </a:tc>
                <a:tc>
                  <a:txBody>
                    <a:bodyPr/>
                    <a:lstStyle/>
                    <a:p>
                      <a:pPr indent="0" marL="0">
                        <a:buNone/>
                      </a:pPr>
                      <a:r>
                        <a:rPr lang="en-US" sz="1800" b="1" dirty="0">
                          <a:solidFill>
                            <a:srgbClr val="FFFFFF"/>
                          </a:solidFill>
                        </a:rPr>
                        <a:t>KPI</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0B2A4A"/>
                    </a:solidFill>
                  </a:tcPr>
                </a:tc>
              </a:tr>
              <a:tr h="502920">
                <a:tc>
                  <a:txBody>
                    <a:bodyPr/>
                    <a:lstStyle/>
                    <a:p>
                      <a:pPr indent="0" marL="0">
                        <a:buNone/>
                      </a:pPr>
                      <a:r>
                        <a:rPr lang="en-US" sz="1800" b="1" dirty="0">
                          <a:solidFill>
                            <a:srgbClr val="1A2433"/>
                          </a:solidFill>
                        </a:rPr>
                        <a:t>Facebook Ads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800" dirty="0">
                          <a:solidFill>
                            <a:srgbClr val="1A2433"/>
                          </a:solidFill>
                        </a:rPr>
                        <a:t>600 lead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800" b="1" dirty="0">
                          <a:solidFill>
                            <a:srgbClr val="1A2433"/>
                          </a:solidFill>
                        </a:rPr>
                        <a:t>Tư vấn tại trường THPT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800" dirty="0">
                          <a:solidFill>
                            <a:srgbClr val="1A2433"/>
                          </a:solidFill>
                        </a:rPr>
                        <a:t>400 lead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1F4F8"/>
                    </a:solidFill>
                  </a:tcPr>
                </a:tc>
              </a:tr>
              <a:tr h="502920">
                <a:tc>
                  <a:txBody>
                    <a:bodyPr/>
                    <a:lstStyle/>
                    <a:p>
                      <a:pPr indent="0" marL="0">
                        <a:buNone/>
                      </a:pPr>
                      <a:r>
                        <a:rPr lang="en-US" sz="1800" b="1" dirty="0">
                          <a:solidFill>
                            <a:srgbClr val="1A2433"/>
                          </a:solidFill>
                        </a:rPr>
                        <a:t>Website và SEO</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800" dirty="0">
                          <a:solidFill>
                            <a:srgbClr val="1A2433"/>
                          </a:solidFill>
                        </a:rPr>
                        <a:t>300 lead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800" b="1" dirty="0">
                          <a:solidFill>
                            <a:srgbClr val="1A2433"/>
                          </a:solidFill>
                        </a:rPr>
                        <a:t>Zalo OA</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800" dirty="0">
                          <a:solidFill>
                            <a:srgbClr val="1A2433"/>
                          </a:solidFill>
                        </a:rPr>
                        <a:t>Chưa có KPI</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1F4F8"/>
                    </a:solidFill>
                  </a:tcPr>
                </a:tc>
              </a:tr>
              <a:tr h="502920">
                <a:tc>
                  <a:txBody>
                    <a:bodyPr/>
                    <a:lstStyle/>
                    <a:p>
                      <a:pPr indent="0" marL="0">
                        <a:buNone/>
                      </a:pPr>
                      <a:r>
                        <a:rPr lang="en-US" sz="1800" b="1" dirty="0">
                          <a:solidFill>
                            <a:srgbClr val="1A2433"/>
                          </a:solidFill>
                        </a:rPr>
                        <a:t>Tổng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800" dirty="0">
                          <a:solidFill>
                            <a:srgbClr val="1A2433"/>
                          </a:solidFill>
                        </a:rPr>
                        <a:t>1.500 hồ sơ</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Năm điều cần bổ sung trước khi duyệt chiến dịch</a:t>
            </a:r>
            <a:endParaRPr lang="en-US" sz="2800" dirty="0"/>
          </a:p>
        </p:txBody>
      </p:sp>
      <p:sp>
        <p:nvSpPr>
          <p:cNvPr id="4" name="the"/>
          <p:cNvSpPr/>
          <p:nvPr/>
        </p:nvSpPr>
        <p:spPr>
          <a:xfrm>
            <a:off x="548640" y="1234440"/>
            <a:ext cx="8046720" cy="548640"/>
          </a:xfrm>
          <a:prstGeom prst="roundRect">
            <a:avLst>
              <a:gd name="adj" fmla="val 13333"/>
            </a:avLst>
          </a:prstGeom>
          <a:solidFill>
            <a:srgbClr val="F1F4F8"/>
          </a:solidFill>
          <a:ln w="12700">
            <a:solidFill>
              <a:srgbClr val="F1F4F8"/>
            </a:solidFill>
            <a:prstDash val="solid"/>
          </a:ln>
        </p:spPr>
      </p:sp>
      <p:sp>
        <p:nvSpPr>
          <p:cNvPr id="5" name="so-thu-tu"/>
          <p:cNvSpPr/>
          <p:nvPr/>
        </p:nvSpPr>
        <p:spPr>
          <a:xfrm>
            <a:off x="777240" y="1211580"/>
            <a:ext cx="594360" cy="594360"/>
          </a:xfrm>
          <a:prstGeom prst="ellipse">
            <a:avLst/>
          </a:prstGeom>
          <a:solidFill>
            <a:srgbClr val="B8902B"/>
          </a:solidFill>
          <a:ln w="12700">
            <a:solidFill>
              <a:srgbClr val="B8902B"/>
            </a:solidFill>
            <a:prstDash val="solid"/>
          </a:ln>
        </p:spPr>
      </p:sp>
      <p:sp>
        <p:nvSpPr>
          <p:cNvPr id="6" name="so-thu-tu-chu"/>
          <p:cNvSpPr txBox="1"/>
          <p:nvPr/>
        </p:nvSpPr>
        <p:spPr>
          <a:xfrm>
            <a:off x="777240" y="12115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he-chu"/>
          <p:cNvSpPr txBox="1"/>
          <p:nvPr/>
        </p:nvSpPr>
        <p:spPr>
          <a:xfrm>
            <a:off x="1600200" y="1307592"/>
            <a:ext cx="6766560" cy="402336"/>
          </a:xfrm>
          <a:prstGeom prst="rect">
            <a:avLst/>
          </a:prstGeom>
          <a:noFill/>
          <a:ln/>
        </p:spPr>
        <p:txBody>
          <a:bodyPr wrap="square" lIns="0" tIns="0" rIns="0" bIns="0" rtlCol="0" anchor="ctr"/>
          <a:lstStyle/>
          <a:p>
            <a:pPr indent="0" marL="0">
              <a:buNone/>
            </a:pPr>
            <a:r>
              <a:rPr lang="en-US" sz="1800" b="1" dirty="0">
                <a:solidFill>
                  <a:srgbClr val="0B2A4A"/>
                </a:solidFill>
              </a:rPr>
              <a:t>Chỉ số, thời hạn cho mục tiêu nhận diện</a:t>
            </a:r>
            <a:endParaRPr lang="en-US" sz="1800" dirty="0"/>
          </a:p>
        </p:txBody>
      </p:sp>
      <p:sp>
        <p:nvSpPr>
          <p:cNvPr id="8" name="the"/>
          <p:cNvSpPr/>
          <p:nvPr/>
        </p:nvSpPr>
        <p:spPr>
          <a:xfrm>
            <a:off x="548640" y="1874520"/>
            <a:ext cx="8046720" cy="548640"/>
          </a:xfrm>
          <a:prstGeom prst="roundRect">
            <a:avLst>
              <a:gd name="adj" fmla="val 13333"/>
            </a:avLst>
          </a:prstGeom>
          <a:solidFill>
            <a:srgbClr val="F1F4F8"/>
          </a:solidFill>
          <a:ln w="12700">
            <a:solidFill>
              <a:srgbClr val="F1F4F8"/>
            </a:solidFill>
            <a:prstDash val="solid"/>
          </a:ln>
        </p:spPr>
      </p:sp>
      <p:sp>
        <p:nvSpPr>
          <p:cNvPr id="9" name="so-thu-tu"/>
          <p:cNvSpPr/>
          <p:nvPr/>
        </p:nvSpPr>
        <p:spPr>
          <a:xfrm>
            <a:off x="777240" y="1851660"/>
            <a:ext cx="594360" cy="594360"/>
          </a:xfrm>
          <a:prstGeom prst="ellipse">
            <a:avLst/>
          </a:prstGeom>
          <a:solidFill>
            <a:srgbClr val="B8902B"/>
          </a:solidFill>
          <a:ln w="12700">
            <a:solidFill>
              <a:srgbClr val="B8902B"/>
            </a:solidFill>
            <a:prstDash val="solid"/>
          </a:ln>
        </p:spPr>
      </p:sp>
      <p:sp>
        <p:nvSpPr>
          <p:cNvPr id="10" name="so-thu-tu-chu"/>
          <p:cNvSpPr txBox="1"/>
          <p:nvPr/>
        </p:nvSpPr>
        <p:spPr>
          <a:xfrm>
            <a:off x="777240" y="18516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he-chu"/>
          <p:cNvSpPr txBox="1"/>
          <p:nvPr/>
        </p:nvSpPr>
        <p:spPr>
          <a:xfrm>
            <a:off x="1600200" y="1947672"/>
            <a:ext cx="6766560" cy="402336"/>
          </a:xfrm>
          <a:prstGeom prst="rect">
            <a:avLst/>
          </a:prstGeom>
          <a:noFill/>
          <a:ln/>
        </p:spPr>
        <p:txBody>
          <a:bodyPr wrap="square" lIns="0" tIns="0" rIns="0" bIns="0" rtlCol="0" anchor="ctr"/>
          <a:lstStyle/>
          <a:p>
            <a:pPr indent="0" marL="0">
              <a:buNone/>
            </a:pPr>
            <a:r>
              <a:rPr lang="en-US" sz="1800" b="1" dirty="0">
                <a:solidFill>
                  <a:srgbClr val="0B2A4A"/>
                </a:solidFill>
              </a:rPr>
              <a:t>Số liệu bằng chứng cho thông điệp chính</a:t>
            </a:r>
            <a:endParaRPr lang="en-US" sz="1800" dirty="0"/>
          </a:p>
        </p:txBody>
      </p:sp>
      <p:sp>
        <p:nvSpPr>
          <p:cNvPr id="12" name="the"/>
          <p:cNvSpPr/>
          <p:nvPr/>
        </p:nvSpPr>
        <p:spPr>
          <a:xfrm>
            <a:off x="548640" y="2514600"/>
            <a:ext cx="8046720" cy="548640"/>
          </a:xfrm>
          <a:prstGeom prst="roundRect">
            <a:avLst>
              <a:gd name="adj" fmla="val 13333"/>
            </a:avLst>
          </a:prstGeom>
          <a:solidFill>
            <a:srgbClr val="F1F4F8"/>
          </a:solidFill>
          <a:ln w="12700">
            <a:solidFill>
              <a:srgbClr val="F1F4F8"/>
            </a:solidFill>
            <a:prstDash val="solid"/>
          </a:ln>
        </p:spPr>
      </p:sp>
      <p:sp>
        <p:nvSpPr>
          <p:cNvPr id="13" name="so-thu-tu"/>
          <p:cNvSpPr/>
          <p:nvPr/>
        </p:nvSpPr>
        <p:spPr>
          <a:xfrm>
            <a:off x="777240" y="2491740"/>
            <a:ext cx="594360" cy="594360"/>
          </a:xfrm>
          <a:prstGeom prst="ellipse">
            <a:avLst/>
          </a:prstGeom>
          <a:solidFill>
            <a:srgbClr val="B8902B"/>
          </a:solidFill>
          <a:ln w="12700">
            <a:solidFill>
              <a:srgbClr val="B8902B"/>
            </a:solidFill>
            <a:prstDash val="solid"/>
          </a:ln>
        </p:spPr>
      </p:sp>
      <p:sp>
        <p:nvSpPr>
          <p:cNvPr id="14" name="so-thu-tu-chu"/>
          <p:cNvSpPr txBox="1"/>
          <p:nvPr/>
        </p:nvSpPr>
        <p:spPr>
          <a:xfrm>
            <a:off x="777240" y="24917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he-chu"/>
          <p:cNvSpPr txBox="1"/>
          <p:nvPr/>
        </p:nvSpPr>
        <p:spPr>
          <a:xfrm>
            <a:off x="1600200" y="2587752"/>
            <a:ext cx="6766560" cy="402336"/>
          </a:xfrm>
          <a:prstGeom prst="rect">
            <a:avLst/>
          </a:prstGeom>
          <a:noFill/>
          <a:ln/>
        </p:spPr>
        <p:txBody>
          <a:bodyPr wrap="square" lIns="0" tIns="0" rIns="0" bIns="0" rtlCol="0" anchor="ctr"/>
          <a:lstStyle/>
          <a:p>
            <a:pPr indent="0" marL="0">
              <a:buNone/>
            </a:pPr>
            <a:r>
              <a:rPr lang="en-US" sz="1800" b="1" dirty="0">
                <a:solidFill>
                  <a:srgbClr val="0B2A4A"/>
                </a:solidFill>
              </a:rPr>
              <a:t>Mốc, người phụ trách của bốn pha</a:t>
            </a:r>
            <a:endParaRPr lang="en-US" sz="1800" dirty="0"/>
          </a:p>
        </p:txBody>
      </p:sp>
      <p:sp>
        <p:nvSpPr>
          <p:cNvPr id="16" name="the"/>
          <p:cNvSpPr/>
          <p:nvPr/>
        </p:nvSpPr>
        <p:spPr>
          <a:xfrm>
            <a:off x="548640" y="3154680"/>
            <a:ext cx="8046720" cy="548640"/>
          </a:xfrm>
          <a:prstGeom prst="roundRect">
            <a:avLst>
              <a:gd name="adj" fmla="val 13333"/>
            </a:avLst>
          </a:prstGeom>
          <a:solidFill>
            <a:srgbClr val="F1F4F8"/>
          </a:solidFill>
          <a:ln w="12700">
            <a:solidFill>
              <a:srgbClr val="F1F4F8"/>
            </a:solidFill>
            <a:prstDash val="solid"/>
          </a:ln>
        </p:spPr>
      </p:sp>
      <p:sp>
        <p:nvSpPr>
          <p:cNvPr id="17" name="so-thu-tu"/>
          <p:cNvSpPr/>
          <p:nvPr/>
        </p:nvSpPr>
        <p:spPr>
          <a:xfrm>
            <a:off x="777240" y="3131820"/>
            <a:ext cx="594360" cy="594360"/>
          </a:xfrm>
          <a:prstGeom prst="ellipse">
            <a:avLst/>
          </a:prstGeom>
          <a:solidFill>
            <a:srgbClr val="B8902B"/>
          </a:solidFill>
          <a:ln w="12700">
            <a:solidFill>
              <a:srgbClr val="B8902B"/>
            </a:solidFill>
            <a:prstDash val="solid"/>
          </a:ln>
        </p:spPr>
      </p:sp>
      <p:sp>
        <p:nvSpPr>
          <p:cNvPr id="18" name="so-thu-tu-chu"/>
          <p:cNvSpPr txBox="1"/>
          <p:nvPr/>
        </p:nvSpPr>
        <p:spPr>
          <a:xfrm>
            <a:off x="777240" y="313182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9" name="the-chu"/>
          <p:cNvSpPr txBox="1"/>
          <p:nvPr/>
        </p:nvSpPr>
        <p:spPr>
          <a:xfrm>
            <a:off x="1600200" y="3227832"/>
            <a:ext cx="6766560" cy="402336"/>
          </a:xfrm>
          <a:prstGeom prst="rect">
            <a:avLst/>
          </a:prstGeom>
          <a:noFill/>
          <a:ln/>
        </p:spPr>
        <p:txBody>
          <a:bodyPr wrap="square" lIns="0" tIns="0" rIns="0" bIns="0" rtlCol="0" anchor="ctr"/>
          <a:lstStyle/>
          <a:p>
            <a:pPr indent="0" marL="0">
              <a:buNone/>
            </a:pPr>
            <a:r>
              <a:rPr lang="en-US" sz="1800" b="1" dirty="0">
                <a:solidFill>
                  <a:srgbClr val="0B2A4A"/>
                </a:solidFill>
              </a:rPr>
              <a:t>KPI của kênh Zalo OA</a:t>
            </a:r>
            <a:endParaRPr lang="en-US" sz="1800" dirty="0"/>
          </a:p>
        </p:txBody>
      </p:sp>
      <p:sp>
        <p:nvSpPr>
          <p:cNvPr id="20" name="the"/>
          <p:cNvSpPr/>
          <p:nvPr/>
        </p:nvSpPr>
        <p:spPr>
          <a:xfrm>
            <a:off x="548640" y="3794760"/>
            <a:ext cx="8046720" cy="548640"/>
          </a:xfrm>
          <a:prstGeom prst="roundRect">
            <a:avLst>
              <a:gd name="adj" fmla="val 13333"/>
            </a:avLst>
          </a:prstGeom>
          <a:solidFill>
            <a:srgbClr val="F1F4F8"/>
          </a:solidFill>
          <a:ln w="12700">
            <a:solidFill>
              <a:srgbClr val="F1F4F8"/>
            </a:solidFill>
            <a:prstDash val="solid"/>
          </a:ln>
        </p:spPr>
      </p:sp>
      <p:sp>
        <p:nvSpPr>
          <p:cNvPr id="21" name="so-thu-tu"/>
          <p:cNvSpPr/>
          <p:nvPr/>
        </p:nvSpPr>
        <p:spPr>
          <a:xfrm>
            <a:off x="777240" y="3771900"/>
            <a:ext cx="594360" cy="594360"/>
          </a:xfrm>
          <a:prstGeom prst="ellipse">
            <a:avLst/>
          </a:prstGeom>
          <a:solidFill>
            <a:srgbClr val="B8902B"/>
          </a:solidFill>
          <a:ln w="12700">
            <a:solidFill>
              <a:srgbClr val="B8902B"/>
            </a:solidFill>
            <a:prstDash val="solid"/>
          </a:ln>
        </p:spPr>
      </p:sp>
      <p:sp>
        <p:nvSpPr>
          <p:cNvPr id="22" name="so-thu-tu-chu"/>
          <p:cNvSpPr txBox="1"/>
          <p:nvPr/>
        </p:nvSpPr>
        <p:spPr>
          <a:xfrm>
            <a:off x="777240" y="37719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3" name="the-chu"/>
          <p:cNvSpPr txBox="1"/>
          <p:nvPr/>
        </p:nvSpPr>
        <p:spPr>
          <a:xfrm>
            <a:off x="1600200" y="3867912"/>
            <a:ext cx="6766560" cy="402336"/>
          </a:xfrm>
          <a:prstGeom prst="rect">
            <a:avLst/>
          </a:prstGeom>
          <a:noFill/>
          <a:ln/>
        </p:spPr>
        <p:txBody>
          <a:bodyPr wrap="square" lIns="0" tIns="0" rIns="0" bIns="0" rtlCol="0" anchor="ctr"/>
          <a:lstStyle/>
          <a:p>
            <a:pPr indent="0" marL="0">
              <a:buNone/>
            </a:pPr>
            <a:r>
              <a:rPr lang="en-US" sz="1800" b="1" dirty="0">
                <a:solidFill>
                  <a:srgbClr val="0B2A4A"/>
                </a:solidFill>
              </a:rPr>
              <a:t>Giải thích chênh 20 triệu đồng ở tổng ngân sách</a:t>
            </a:r>
            <a:endParaRPr lang="en-US" sz="18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ai hoc">
  <a:themeElements>
    <a:clrScheme name="Dai hoc">
      <a:dk1>
        <a:srgbClr val="1A2433"/>
      </a:dk1>
      <a:lt1>
        <a:srgbClr val="FFFFFF"/>
      </a:lt1>
      <a:dk2>
        <a:srgbClr val="0B2A4A"/>
      </a:dk2>
      <a:lt2>
        <a:srgbClr val="F1F4F8"/>
      </a:lt2>
      <a:accent1>
        <a:srgbClr val="1F4E8C"/>
      </a:accent1>
      <a:accent2>
        <a:srgbClr val="B8902B"/>
      </a:accent2>
      <a:accent3>
        <a:srgbClr val="2E7D6B"/>
      </a:accent3>
      <a:accent4>
        <a:srgbClr val="6B7A90"/>
      </a:accent4>
      <a:accent5>
        <a:srgbClr val="A23B3B"/>
      </a:accent5>
      <a:accent6>
        <a:srgbClr val="5B8DB8"/>
      </a:accent6>
      <a:hlink>
        <a:srgbClr val="1F4E8C"/>
      </a:hlink>
      <a:folHlink>
        <a:srgbClr val="6B7A90"/>
      </a:folHlink>
    </a:clrScheme>
    <a:fontScheme name="Dai ho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brief tuyển sinh 2027</dc:title>
  <dc:subject>PptxGenJS Presentation</dc:subject>
  <dc:creator>Trường Đại học Mẫu A (tên mẫu)</dc:creator>
  <cp:lastModifiedBy>Trường Đại học Mẫu A (tên mẫu)</cp:lastModifiedBy>
  <cp:revision>1</cp:revision>
  <dcterms:created xsi:type="dcterms:W3CDTF">2026-10-10T11:36:14Z</dcterms:created>
  <dcterms:modified xsi:type="dcterms:W3CDTF">2026-10-10T11:36:14Z</dcterms:modified>
</cp:coreProperties>
</file>