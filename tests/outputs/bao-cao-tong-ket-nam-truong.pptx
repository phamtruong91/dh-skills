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214f276-581f-5334-8764-978f1b43d756}">
          <p14:sldIdLst>
            <p14:sldId id="256"/>
            <p14:sldId id="257"/>
          </p14:sldIdLst>
        </p14:section>
        <p14:section name="Kết quả" id="{accaeae4-1173-37be-7ad1-ed65a2a64a87}">
          <p14:sldIdLst>
            <p14:sldId id="258"/>
          </p14:sldIdLst>
        </p14:section>
        <p14:section name="Đào tạo" id="{3e92d090-bf84-dce8-8f25-b71f555c1192}">
          <p14:sldIdLst>
            <p14:sldId id="259"/>
            <p14:sldId id="260"/>
          </p14:sldIdLst>
        </p14:section>
        <p14:section name="Tài chính" id="{0cf71c01-6c01-4f19-6309-a142de3c6ced}">
          <p14:sldIdLst>
            <p14:sldId id="261"/>
            <p14:sldId id="262"/>
          </p14:sldIdLst>
        </p14:section>
        <p14:section name="Tồn tại và phương hướng" id="{2749ee25-b8ba-0329-b38f-b58d09c4d5bb}">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Chỉ tiêu</c:v>
                </c:pt>
              </c:strCache>
            </c:strRef>
          </c:tx>
          <c:spPr>
            <a:solidFill>
              <a:srgbClr val="B7C3D4"/>
            </a:solidFill>
            <a:effectLst/>
          </c:spPr>
          <c:invertIfNegative val="0"/>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cat>
            <c:multiLvlStrRef>
              <c:f>Sheet1!$A$2:$A$5</c:f>
              <c:multiLvlStrCache>
                <c:ptCount val="4"/>
                <c:lvl>
                  <c:pt idx="0">
                    <c:v>Công nghệ thông tin</c:v>
                  </c:pt>
                  <c:pt idx="1">
                    <c:v>Kinh tế</c:v>
                  </c:pt>
                  <c:pt idx="2">
                    <c:v>Ngoại ngữ</c:v>
                  </c:pt>
                  <c:pt idx="3">
                    <c:v>Luật</c:v>
                  </c:pt>
                </c:lvl>
              </c:multiLvlStrCache>
            </c:multiLvlStrRef>
          </c:cat>
          <c:val>
            <c:numRef>
              <c:f>Sheet1!$B$2:$B$5</c:f>
              <c:numCache>
                <c:formatCode>General</c:formatCode>
                <c:ptCount val="4"/>
                <c:pt idx="0">
                  <c:v>600</c:v>
                </c:pt>
                <c:pt idx="1">
                  <c:v>500</c:v>
                </c:pt>
                <c:pt idx="2">
                  <c:v>400</c:v>
                </c:pt>
                <c:pt idx="3">
                  <c:v>300</c:v>
                </c:pt>
              </c:numCache>
            </c:numRef>
          </c:val>
        </c:ser>
        <c:ser>
          <c:idx val="1"/>
          <c:order val="1"/>
          <c:tx>
            <c:strRef>
              <c:f>Sheet1!$C$1</c:f>
              <c:strCache>
                <c:ptCount val="1"/>
                <c:pt idx="0">
                  <c:v>Nhập học</c:v>
                </c:pt>
              </c:strCache>
            </c:strRef>
          </c:tx>
          <c:spPr>
            <a:solidFill>
              <a:srgbClr val="1F4E8C"/>
            </a:solidFill>
            <a:effectLst/>
          </c:spPr>
          <c:invertIfNegative val="0"/>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cat>
            <c:multiLvlStrRef>
              <c:f>Sheet1!$A$2:$A$5</c:f>
              <c:multiLvlStrCache>
                <c:ptCount val="4"/>
                <c:lvl>
                  <c:pt idx="0">
                    <c:v>Công nghệ thông tin</c:v>
                  </c:pt>
                  <c:pt idx="1">
                    <c:v>Kinh tế</c:v>
                  </c:pt>
                  <c:pt idx="2">
                    <c:v>Ngoại ngữ</c:v>
                  </c:pt>
                  <c:pt idx="3">
                    <c:v>Luật</c:v>
                  </c:pt>
                </c:lvl>
              </c:multiLvlStrCache>
            </c:multiLvlStrRef>
          </c:cat>
          <c:val>
            <c:numRef>
              <c:f>Sheet1!$C$2:$C$5</c:f>
              <c:numCache>
                <c:formatCode>General</c:formatCode>
                <c:ptCount val="4"/>
                <c:pt idx="0">
                  <c:v>571</c:v>
                </c:pt>
                <c:pt idx="1">
                  <c:v>462</c:v>
                </c:pt>
                <c:pt idx="2">
                  <c:v>352</c:v>
                </c:pt>
                <c:pt idx="3">
                  <c:v>257</c:v>
                </c:pt>
              </c:numCache>
            </c:numRef>
          </c:val>
        </c:ser>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433"/>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8EF"/>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Số sinh viên</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1A243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Tốt nghiệp đúng hạn</c:v>
                </c:pt>
              </c:strCache>
            </c:strRef>
          </c:tx>
          <c:spPr>
            <a:solidFill>
              <a:srgbClr val="1F4E8C"/>
            </a:solidFill>
            <a:ln w="38100" cap="flat">
              <a:solidFill>
                <a:srgbClr val="1F4E8C"/>
              </a:solidFill>
              <a:prstDash val="solid"/>
              <a:round/>
            </a:ln>
            <a:effectLst/>
          </c:spPr>
          <c:invertIfNegative val="0"/>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marker>
            <c:symbol val="circle"/>
            <c:size val="9"/>
            <c:spPr>
              <a:solidFill>
                <a:srgbClr val="1F4E8C"/>
              </a:solidFill>
              <a:ln w="9525" cap="flat">
                <a:solidFill>
                  <a:srgbClr val="1F4E8C"/>
                </a:solidFill>
                <a:prstDash val="solid"/>
                <a:round/>
              </a:ln>
              <a:effectLst/>
            </c:spPr>
          </c:marker>
          <c:cat>
            <c:multiLvlStrRef>
              <c:f>Sheet1!$A$2:$A$4</c:f>
              <c:multiLvlStrCache>
                <c:ptCount val="3"/>
                <c:lvl>
                  <c:pt idx="0">
                    <c:v>2022–2023</c:v>
                  </c:pt>
                  <c:pt idx="1">
                    <c:v>2023–2024</c:v>
                  </c:pt>
                  <c:pt idx="2">
                    <c:v>2024–2025</c:v>
                  </c:pt>
                </c:lvl>
              </c:multiLvlStrCache>
            </c:multiLvlStrRef>
          </c:cat>
          <c:val>
            <c:numRef>
              <c:f>Sheet1!$B$2:$B$4</c:f>
              <c:numCache>
                <c:formatCode>General</c:formatCode>
                <c:ptCount val="3"/>
                <c:pt idx="0">
                  <c:v>78</c:v>
                </c:pt>
                <c:pt idx="1">
                  <c:v>81</c:v>
                </c:pt>
                <c:pt idx="2">
                  <c:v>84</c:v>
                </c:pt>
              </c:numCache>
            </c:numRef>
          </c:val>
          <c:smooth val="0"/>
        </c:ser>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433"/>
                </a:solidFill>
                <a:latin typeface="Arial"/>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6350" cap="flat">
              <a:solidFill>
                <a:srgbClr val="E3E8EF"/>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 sinh viên</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1A243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Chi</c:v>
                </c:pt>
              </c:strCache>
            </c:strRef>
          </c:tx>
          <c:spPr>
            <a:solidFill>
              <a:srgbClr val="1F4E8C"/>
            </a:solidFill>
            <a:effectLst/>
          </c:spPr>
          <c:invertIfNegative val="0"/>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cat>
            <c:multiLvlStrRef>
              <c:f>Sheet1!$A$2:$A$5</c:f>
              <c:multiLvlStrCache>
                <c:ptCount val="4"/>
                <c:lvl>
                  <c:pt idx="0">
                    <c:v>Lương và phụ cấp</c:v>
                  </c:pt>
                  <c:pt idx="1">
                    <c:v>Đào tạo</c:v>
                  </c:pt>
                  <c:pt idx="2">
                    <c:v>Cơ sở vật chất</c:v>
                  </c:pt>
                  <c:pt idx="3">
                    <c:v>Khác</c:v>
                  </c:pt>
                </c:lvl>
              </c:multiLvlStrCache>
            </c:multiLvlStrRef>
          </c:cat>
          <c:val>
            <c:numRef>
              <c:f>Sheet1!$B$2:$B$5</c:f>
              <c:numCache>
                <c:formatCode>General</c:formatCode>
                <c:ptCount val="4"/>
                <c:pt idx="0">
                  <c:v>210000</c:v>
                </c:pt>
                <c:pt idx="1">
                  <c:v>98500</c:v>
                </c:pt>
                <c:pt idx="2">
                  <c:v>60000</c:v>
                </c:pt>
                <c:pt idx="3">
                  <c:v>30000</c:v>
                </c:pt>
              </c:numCache>
            </c:numRef>
          </c:val>
        </c:ser>
        <c:dLbls>
          <c:numFmt formatCode="#,##0" sourceLinked="0"/>
          <c:txPr>
            <a:bodyPr/>
            <a:lstStyle/>
            <a:p>
              <a:pPr>
                <a:defRPr b="0" i="0" strike="noStrike" sz="1200" u="none">
                  <a:solidFill>
                    <a:srgbClr val="1A24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2433"/>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6350" cap="flat">
              <a:solidFill>
                <a:srgbClr val="E3E8EF"/>
              </a:solidFill>
              <a:prstDash val="solid"/>
              <a:round/>
            </a:ln>
          </c:spPr>
        </c:majorGridlines>
        <c:title>
          <c:tx>
            <c:rich>
              <a:bodyPr/>
              <a:lstStyle/>
              <a:p>
                <a:pPr>
                  <a:defRPr sz="1200" b="0" i="0" u="none" strike="noStrike">
                    <a:solidFill>
                      <a:srgbClr val="000000"/>
                    </a:solidFill>
                    <a:latin typeface="Arial"/>
                  </a:defRPr>
                </a:pPr>
                <a:r>
                  <a:rPr sz="1200" b="0" i="0" u="none" strike="noStrike">
                    <a:solidFill>
                      <a:srgbClr val="000000"/>
                    </a:solidFill>
                    <a:latin typeface="Arial"/>
                  </a:rPr>
                  <a:t>Triệu đồng</a:t>
                </a:r>
              </a:p>
            </c:rich>
          </c:tx>
          <c:layout/>
          <c:overlay val="0"/>
        </c:title>
        <c:numFmt formatCode="General" sourceLinked="0"/>
        <c:majorTickMark val="out"/>
        <c:minorTickMark val="none"/>
        <c:tickLblPos val="low"/>
        <c:spPr>
          <a:ln w="12700" cap="flat">
            <a:noFill/>
            <a:prstDash val="solid"/>
            <a:round/>
          </a:ln>
        </c:spPr>
        <c:txPr>
          <a:bodyPr/>
          <a:lstStyle/>
          <a:p>
            <a:pPr>
              <a:defRPr sz="1200" b="0" i="0" u="none" strike="noStrike">
                <a:solidFill>
                  <a:srgbClr val="1A243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nêu phạm vi báo cáo gồm đào tạo, tài chính, tồn tại và phương hướng. Báo cáo của Phòng Công tác sinh viên chưa nhận được nên phần này chưa trình bày số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phần: kết quả chính, đào tạo, tài chính, tồn tại và phương hướng. Công tác sinh viên sẽ bổ sung khi có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cần nhớ: tỷ lệ nhập học theo chỉ tiêu, tỷ lệ tốt nghiệp đúng hạn năm gần nhất có số liệu, và tổng thu. Mọi số lấy từ báo cáo các đơn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chỉ tiêu và nhập học theo ngành. Luật đạt 85,7%, Ngoại ngữ 88,0%, Kinh tế 92,4%, Công nghệ thông tin 95,2%.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78% lên 84%. Lưu ý: nhận xét trong đầu vào nêu chênh lệch 8 điểm, nhưng tính lại 84 trừ 78 là 6 điểm; slide dùng số tính lại. Năm học 2025–2026 chưa xét tốt nghiệp nên chưa có số liệu, không ghi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cấu chi theo nhóm, đơn vị triệu đồng. Tổng các nhóm là 398.500 triệu đồng, trong khi báo cáo khai tổng chi 400.000 triệu đồng; chênh 1.500 triệu đồng chưa giải thích, đề nghị Phòng Kế hoạch – Tài chính rà lại trước hội nghị.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Phòng Công tác sinh viên chưa gửi báo cáo, nên slide này chưa có nội dung. Không điền số liệu thay đơn vị; cập nhật khi nhận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tồn tại đi kèm nguyên nhân do đơn vị nêu. Trình bày thẳng, không giảm nhẹ.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vào không có định hướng chung của Ban Giám hiệu, nên chưa nêu chỉ tiêu hay giải pháp mới. Chỉ ghi các việc hiển nhiên từ tồn tại; cập nhật khi có chỉ đạo.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trình bày. Dành thời gian cho các đơn vị góp ý, ghi nhận các ý kiến để bổ sung báo cáo công tác sinh viên và rà lại số liệu 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uy hiệu mẫu (thay bằng logo của trường)">    </p:cNvPr>
          <p:cNvPicPr>
            <a:picLocks noChangeAspect="1"/>
          </p:cNvPicPr>
          <p:nvPr/>
        </p:nvPicPr>
        <p:blipFill>
          <a:blip r:embed="rId1"/>
          <a:stretch>
            <a:fillRect/>
          </a:stretch>
        </p:blipFill>
        <p:spPr>
          <a:xfrm>
            <a:off x="548640" y="411480"/>
            <a:ext cx="502920" cy="502920"/>
          </a:xfrm>
          <a:prstGeom prst="rect">
            <a:avLst/>
          </a:prstGeom>
        </p:spPr>
      </p:pic>
      <p:sp>
        <p:nvSpPr>
          <p:cNvPr id="3" name="Text 0"/>
          <p:cNvSpPr/>
          <p:nvPr/>
        </p:nvSpPr>
        <p:spPr>
          <a:xfrm>
            <a:off x="1188720" y="411480"/>
            <a:ext cx="5486400" cy="502920"/>
          </a:xfrm>
          <a:prstGeom prst="rect">
            <a:avLst/>
          </a:prstGeom>
          <a:noFill/>
          <a:ln/>
        </p:spPr>
        <p:txBody>
          <a:bodyPr wrap="square" lIns="0" tIns="0" rIns="0" bIns="0" rtlCol="0" anchor="ctr"/>
          <a:lstStyle/>
          <a:p>
            <a:pPr indent="0" marL="0">
              <a:buNone/>
            </a:pPr>
            <a:r>
              <a:rPr lang="en-US" sz="1400" b="1" dirty="0">
                <a:solidFill>
                  <a:srgbClr val="FFFFFF"/>
                </a:solidFill>
              </a:rPr>
              <a:t>Trường Đại học Mẫu A (tên mẫu)</a:t>
            </a:r>
            <a:endParaRPr lang="en-US" sz="1400" dirty="0"/>
          </a:p>
        </p:txBody>
      </p:sp>
      <p:sp>
        <p:nvSpPr>
          <p:cNvPr id="4" name="Text 1"/>
          <p:cNvSpPr/>
          <p:nvPr>
            <p:ph idx="102" type="title" hasCustomPrompt="1"/>
          </p:nvPr>
        </p:nvSpPr>
        <p:spPr>
          <a:xfrm>
            <a:off x="548640" y="1417320"/>
            <a:ext cx="6035040" cy="15544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5" name="Text 1"/>
          <p:cNvSpPr/>
          <p:nvPr>
            <p:ph idx="103" type="body" hasCustomPrompt="1"/>
          </p:nvPr>
        </p:nvSpPr>
        <p:spPr>
          <a:xfrm>
            <a:off x="548640" y="3154680"/>
            <a:ext cx="6035040" cy="1097280"/>
          </a:xfrm>
          <a:prstGeom prst="rect">
            <a:avLst/>
          </a:prstGeom>
          <a:noFill/>
          <a:ln/>
        </p:spPr>
        <p:txBody>
          <a:bodyPr wrap="square" rtlCol="0"/>
          <a:lstStyle>
            <a:lvl1pPr algn="l" indent="0" marL="0">
              <a:buNone/>
              <a:defRPr lang="en-US" sz="1800" dirty="0">
                <a:solidFill>
                  <a:srgbClr val="D6E2F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uy hiệu mẫu (thay bằng logo của trường)">    </p:cNvPr>
          <p:cNvPicPr>
            <a:picLocks noChangeAspect="1"/>
          </p:cNvPicPr>
          <p:nvPr/>
        </p:nvPicPr>
        <p:blipFill>
          <a:blip r:embed="rId1"/>
          <a:stretch>
            <a:fillRect/>
          </a:stretch>
        </p:blipFill>
        <p:spPr>
          <a:xfrm>
            <a:off x="548640" y="411480"/>
            <a:ext cx="502920" cy="502920"/>
          </a:xfrm>
          <a:prstGeom prst="rect">
            <a:avLst/>
          </a:prstGeom>
        </p:spPr>
      </p:pic>
      <p:sp>
        <p:nvSpPr>
          <p:cNvPr id="3" name="Text 0"/>
          <p:cNvSpPr/>
          <p:nvPr/>
        </p:nvSpPr>
        <p:spPr>
          <a:xfrm>
            <a:off x="1188720" y="411480"/>
            <a:ext cx="5486400" cy="502920"/>
          </a:xfrm>
          <a:prstGeom prst="rect">
            <a:avLst/>
          </a:prstGeom>
          <a:noFill/>
          <a:ln/>
        </p:spPr>
        <p:txBody>
          <a:bodyPr wrap="square" lIns="0" tIns="0" rIns="0" bIns="0" rtlCol="0" anchor="ctr"/>
          <a:lstStyle/>
          <a:p>
            <a:pPr indent="0" marL="0">
              <a:buNone/>
            </a:pPr>
            <a:r>
              <a:rPr lang="en-US" sz="1400" b="1" dirty="0">
                <a:solidFill>
                  <a:srgbClr val="FFFFFF"/>
                </a:solidFill>
              </a:rPr>
              <a:t>Trường Đại học Mẫu A (tên mẫu)</a:t>
            </a:r>
            <a:endParaRPr lang="en-US" sz="1400" dirty="0"/>
          </a:p>
        </p:txBody>
      </p:sp>
      <p:sp>
        <p:nvSpPr>
          <p:cNvPr id="4" name="Text 1"/>
          <p:cNvSpPr/>
          <p:nvPr>
            <p:ph idx="102" type="title" hasCustomPrompt="1"/>
          </p:nvPr>
        </p:nvSpPr>
        <p:spPr>
          <a:xfrm>
            <a:off x="548640" y="1417320"/>
            <a:ext cx="6035040" cy="15544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5" name="Text 1"/>
          <p:cNvSpPr/>
          <p:nvPr>
            <p:ph idx="103" type="body" hasCustomPrompt="1"/>
          </p:nvPr>
        </p:nvSpPr>
        <p:spPr>
          <a:xfrm>
            <a:off x="548640" y="3154680"/>
            <a:ext cx="6035040" cy="1097280"/>
          </a:xfrm>
          <a:prstGeom prst="rect">
            <a:avLst/>
          </a:prstGeom>
          <a:noFill/>
          <a:ln/>
        </p:spPr>
        <p:txBody>
          <a:bodyPr wrap="square" rtlCol="0"/>
          <a:lstStyle>
            <a:lvl1pPr algn="l" indent="0" marL="0">
              <a:buNone/>
              <a:defRPr lang="en-US" sz="1800" dirty="0">
                <a:solidFill>
                  <a:srgbClr val="D6E2F0"/>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A4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2286000" cy="1463040"/>
          </a:xfrm>
          <a:prstGeom prst="rect">
            <a:avLst/>
          </a:prstGeom>
          <a:noFill/>
          <a:ln/>
        </p:spPr>
        <p:txBody>
          <a:bodyPr wrap="square" rtlCol="0"/>
          <a:lstStyle>
            <a:lvl1pPr algn="l" indent="0" marL="0">
              <a:buNone/>
              <a:defRPr lang="en-US" sz="8000" b="1" dirty="0">
                <a:solidFill>
                  <a:srgbClr val="B8902B"/>
                </a:solidFill>
                <a:latin typeface="Cambria" pitchFamily="34" charset="0"/>
                <a:ea typeface="Cambria" pitchFamily="34" charset="-122"/>
                <a:cs typeface="Cambria" pitchFamily="34" charset="-120"/>
              </a:defRPr>
            </a:lvl1pPr>
          </a:lstStyle>
          <a:p>
            <a:pPr algn="l" indent="0" marL="0">
              <a:buNone/>
            </a:pPr>
            <a:endParaRPr lang="en-US" sz="8000" dirty="0"/>
          </a:p>
        </p:txBody>
      </p:sp>
      <p:sp>
        <p:nvSpPr>
          <p:cNvPr id="3" name="Text 0"/>
          <p:cNvSpPr/>
          <p:nvPr>
            <p:ph idx="101" type="title" hasCustomPrompt="1"/>
          </p:nvPr>
        </p:nvSpPr>
        <p:spPr>
          <a:xfrm>
            <a:off x="2926080" y="1097280"/>
            <a:ext cx="5669280" cy="146304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rtlCol="0"/>
          <a:lstStyle>
            <a:lvl1pPr algn="l" indent="0" marL="0">
              <a:buNone/>
              <a:defRPr lang="en-US" sz="2800" b="1" dirty="0">
                <a:solidFill>
                  <a:srgbClr val="0B2A4A"/>
                </a:solidFill>
              </a:defRPr>
            </a:lvl1pPr>
          </a:lstStyle>
          <a:p>
            <a:pPr algn="l" indent="0" marL="0">
              <a:buNone/>
            </a:pPr>
            <a:endParaRPr lang="en-US" sz="2800" dirty="0"/>
          </a:p>
        </p:txBody>
      </p:sp>
      <p:sp>
        <p:nvSpPr>
          <p:cNvPr id="3" name="Text 0"/>
          <p:cNvSpPr/>
          <p:nvPr/>
        </p:nvSpPr>
        <p:spPr>
          <a:xfrm>
            <a:off x="548640" y="4727448"/>
            <a:ext cx="5943600" cy="274320"/>
          </a:xfrm>
          <a:prstGeom prst="rect">
            <a:avLst/>
          </a:prstGeom>
          <a:noFill/>
          <a:ln/>
        </p:spPr>
        <p:txBody>
          <a:bodyPr wrap="square" lIns="0" tIns="0" rIns="0" bIns="0" rtlCol="0" anchor="ctr"/>
          <a:lstStyle/>
          <a:p>
            <a:pPr indent="0" marL="0">
              <a:buNone/>
            </a:pPr>
            <a:r>
              <a:rPr lang="en-US" sz="1100" dirty="0">
                <a:solidFill>
                  <a:srgbClr val="6B7A90"/>
                </a:solidFill>
              </a:rPr>
              <a:t>Hội nghị tổng kết năm học 2025–2026</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5.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1417320"/>
            <a:ext cx="6035040" cy="1554480"/>
          </a:xfrm>
          <a:prstGeom prst="rect">
            <a:avLst/>
          </a:prstGeom>
          <a:noFill/>
          <a:ln/>
        </p:spPr>
        <p:txBody>
          <a:bodyPr wrap="square" lIns="0" tIns="0" rIns="0" bIns="0" rtlCol="0" anchor="b"/>
          <a:lstStyle/>
          <a:p>
            <a:pPr algn="l" indent="0" marL="0">
              <a:buNone/>
            </a:pPr>
            <a:r>
              <a:rPr lang="en-US" sz="3600" b="1" dirty="0">
                <a:solidFill>
                  <a:srgbClr val="FFFFFF"/>
                </a:solidFill>
              </a:rPr>
              <a:t>Tổng kết năm học 2025–2026</a:t>
            </a:r>
            <a:endParaRPr lang="en-US" sz="3600" dirty="0"/>
          </a:p>
        </p:txBody>
      </p:sp>
      <p:sp>
        <p:nvSpPr>
          <p:cNvPr id="3" name="Text 1"/>
          <p:cNvSpPr/>
          <p:nvPr>
            <p:ph idx="103" type="body" hasCustomPrompt="1"/>
          </p:nvPr>
        </p:nvSpPr>
        <p:spPr>
          <a:xfrm>
            <a:off x="548640" y="3154680"/>
            <a:ext cx="6035040" cy="1097280"/>
          </a:xfrm>
          <a:prstGeom prst="rect">
            <a:avLst/>
          </a:prstGeom>
          <a:noFill/>
          <a:ln/>
        </p:spPr>
        <p:txBody>
          <a:bodyPr wrap="square" lIns="0" tIns="0" rIns="0" bIns="0" rtlCol="0" anchor="t"/>
          <a:lstStyle/>
          <a:p>
            <a:pPr algn="l" indent="0" marL="0">
              <a:buNone/>
            </a:pPr>
            <a:r>
              <a:rPr lang="en-US" sz="1800" dirty="0">
                <a:solidFill>
                  <a:srgbClr val="D6E2F0"/>
                </a:solidFill>
              </a:rPr>
              <a:t>Hội nghị tổng kết toàn trường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Nội dung chính của hội nghị</a:t>
            </a:r>
            <a:endParaRPr lang="en-US" sz="2800" dirty="0"/>
          </a:p>
        </p:txBody>
      </p:sp>
      <p:sp>
        <p:nvSpPr>
          <p:cNvPr id="4" name="the"/>
          <p:cNvSpPr/>
          <p:nvPr/>
        </p:nvSpPr>
        <p:spPr>
          <a:xfrm>
            <a:off x="548640" y="1325880"/>
            <a:ext cx="8046720" cy="658368"/>
          </a:xfrm>
          <a:prstGeom prst="roundRect">
            <a:avLst>
              <a:gd name="adj" fmla="val 11111"/>
            </a:avLst>
          </a:prstGeom>
          <a:solidFill>
            <a:srgbClr val="F1F4F8"/>
          </a:solidFill>
          <a:ln w="12700">
            <a:solidFill>
              <a:srgbClr val="F1F4F8"/>
            </a:solidFill>
            <a:prstDash val="solid"/>
          </a:ln>
        </p:spPr>
      </p:sp>
      <p:sp>
        <p:nvSpPr>
          <p:cNvPr id="5" name="so-thu-tu"/>
          <p:cNvSpPr/>
          <p:nvPr/>
        </p:nvSpPr>
        <p:spPr>
          <a:xfrm>
            <a:off x="777240" y="1357884"/>
            <a:ext cx="594360" cy="594360"/>
          </a:xfrm>
          <a:prstGeom prst="ellipse">
            <a:avLst/>
          </a:prstGeom>
          <a:solidFill>
            <a:srgbClr val="1F4E8C"/>
          </a:solidFill>
          <a:ln w="12700">
            <a:solidFill>
              <a:srgbClr val="1F4E8C"/>
            </a:solidFill>
            <a:prstDash val="solid"/>
          </a:ln>
        </p:spPr>
      </p:sp>
      <p:sp>
        <p:nvSpPr>
          <p:cNvPr id="6" name="so-thu-tu-chu"/>
          <p:cNvSpPr txBox="1"/>
          <p:nvPr/>
        </p:nvSpPr>
        <p:spPr>
          <a:xfrm>
            <a:off x="777240" y="1357884"/>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he-chu"/>
          <p:cNvSpPr txBox="1"/>
          <p:nvPr/>
        </p:nvSpPr>
        <p:spPr>
          <a:xfrm>
            <a:off x="1600200" y="1399032"/>
            <a:ext cx="6766560" cy="512064"/>
          </a:xfrm>
          <a:prstGeom prst="rect">
            <a:avLst/>
          </a:prstGeom>
          <a:noFill/>
          <a:ln/>
        </p:spPr>
        <p:txBody>
          <a:bodyPr wrap="square" lIns="0" tIns="0" rIns="0" bIns="0" rtlCol="0" anchor="ctr"/>
          <a:lstStyle/>
          <a:p>
            <a:pPr indent="0" marL="0">
              <a:buNone/>
            </a:pPr>
            <a:r>
              <a:rPr lang="en-US" sz="1800" b="1" dirty="0">
                <a:solidFill>
                  <a:srgbClr val="0B2A4A"/>
                </a:solidFill>
              </a:rPr>
              <a:t>Kết quả chính của năm học</a:t>
            </a:r>
            <a:endParaRPr lang="en-US" sz="1800" dirty="0"/>
          </a:p>
        </p:txBody>
      </p:sp>
      <p:sp>
        <p:nvSpPr>
          <p:cNvPr id="8" name="the"/>
          <p:cNvSpPr/>
          <p:nvPr/>
        </p:nvSpPr>
        <p:spPr>
          <a:xfrm>
            <a:off x="548640" y="2103120"/>
            <a:ext cx="8046720" cy="658368"/>
          </a:xfrm>
          <a:prstGeom prst="roundRect">
            <a:avLst>
              <a:gd name="adj" fmla="val 11111"/>
            </a:avLst>
          </a:prstGeom>
          <a:solidFill>
            <a:srgbClr val="F1F4F8"/>
          </a:solidFill>
          <a:ln w="12700">
            <a:solidFill>
              <a:srgbClr val="F1F4F8"/>
            </a:solidFill>
            <a:prstDash val="solid"/>
          </a:ln>
        </p:spPr>
      </p:sp>
      <p:sp>
        <p:nvSpPr>
          <p:cNvPr id="9" name="so-thu-tu"/>
          <p:cNvSpPr/>
          <p:nvPr/>
        </p:nvSpPr>
        <p:spPr>
          <a:xfrm>
            <a:off x="777240" y="2135124"/>
            <a:ext cx="594360" cy="594360"/>
          </a:xfrm>
          <a:prstGeom prst="ellipse">
            <a:avLst/>
          </a:prstGeom>
          <a:solidFill>
            <a:srgbClr val="1F4E8C"/>
          </a:solidFill>
          <a:ln w="12700">
            <a:solidFill>
              <a:srgbClr val="1F4E8C"/>
            </a:solidFill>
            <a:prstDash val="solid"/>
          </a:ln>
        </p:spPr>
      </p:sp>
      <p:sp>
        <p:nvSpPr>
          <p:cNvPr id="10" name="so-thu-tu-chu"/>
          <p:cNvSpPr txBox="1"/>
          <p:nvPr/>
        </p:nvSpPr>
        <p:spPr>
          <a:xfrm>
            <a:off x="777240" y="2135124"/>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he-chu"/>
          <p:cNvSpPr txBox="1"/>
          <p:nvPr/>
        </p:nvSpPr>
        <p:spPr>
          <a:xfrm>
            <a:off x="1600200" y="2176272"/>
            <a:ext cx="6766560" cy="512064"/>
          </a:xfrm>
          <a:prstGeom prst="rect">
            <a:avLst/>
          </a:prstGeom>
          <a:noFill/>
          <a:ln/>
        </p:spPr>
        <p:txBody>
          <a:bodyPr wrap="square" lIns="0" tIns="0" rIns="0" bIns="0" rtlCol="0" anchor="ctr"/>
          <a:lstStyle/>
          <a:p>
            <a:pPr indent="0" marL="0">
              <a:buNone/>
            </a:pPr>
            <a:r>
              <a:rPr lang="en-US" sz="1800" b="1" dirty="0">
                <a:solidFill>
                  <a:srgbClr val="0B2A4A"/>
                </a:solidFill>
              </a:rPr>
              <a:t>Đào tạo: tuyển sinh và tốt nghiệp</a:t>
            </a:r>
            <a:endParaRPr lang="en-US" sz="1800" dirty="0"/>
          </a:p>
        </p:txBody>
      </p:sp>
      <p:sp>
        <p:nvSpPr>
          <p:cNvPr id="12" name="the"/>
          <p:cNvSpPr/>
          <p:nvPr/>
        </p:nvSpPr>
        <p:spPr>
          <a:xfrm>
            <a:off x="548640" y="2880360"/>
            <a:ext cx="8046720" cy="658368"/>
          </a:xfrm>
          <a:prstGeom prst="roundRect">
            <a:avLst>
              <a:gd name="adj" fmla="val 11111"/>
            </a:avLst>
          </a:prstGeom>
          <a:solidFill>
            <a:srgbClr val="F1F4F8"/>
          </a:solidFill>
          <a:ln w="12700">
            <a:solidFill>
              <a:srgbClr val="F1F4F8"/>
            </a:solidFill>
            <a:prstDash val="solid"/>
          </a:ln>
        </p:spPr>
      </p:sp>
      <p:sp>
        <p:nvSpPr>
          <p:cNvPr id="13" name="so-thu-tu"/>
          <p:cNvSpPr/>
          <p:nvPr/>
        </p:nvSpPr>
        <p:spPr>
          <a:xfrm>
            <a:off x="777240" y="2912364"/>
            <a:ext cx="594360" cy="594360"/>
          </a:xfrm>
          <a:prstGeom prst="ellipse">
            <a:avLst/>
          </a:prstGeom>
          <a:solidFill>
            <a:srgbClr val="1F4E8C"/>
          </a:solidFill>
          <a:ln w="12700">
            <a:solidFill>
              <a:srgbClr val="1F4E8C"/>
            </a:solidFill>
            <a:prstDash val="solid"/>
          </a:ln>
        </p:spPr>
      </p:sp>
      <p:sp>
        <p:nvSpPr>
          <p:cNvPr id="14" name="so-thu-tu-chu"/>
          <p:cNvSpPr txBox="1"/>
          <p:nvPr/>
        </p:nvSpPr>
        <p:spPr>
          <a:xfrm>
            <a:off x="777240" y="2912364"/>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he-chu"/>
          <p:cNvSpPr txBox="1"/>
          <p:nvPr/>
        </p:nvSpPr>
        <p:spPr>
          <a:xfrm>
            <a:off x="1600200" y="2953512"/>
            <a:ext cx="6766560" cy="512064"/>
          </a:xfrm>
          <a:prstGeom prst="rect">
            <a:avLst/>
          </a:prstGeom>
          <a:noFill/>
          <a:ln/>
        </p:spPr>
        <p:txBody>
          <a:bodyPr wrap="square" lIns="0" tIns="0" rIns="0" bIns="0" rtlCol="0" anchor="ctr"/>
          <a:lstStyle/>
          <a:p>
            <a:pPr indent="0" marL="0">
              <a:buNone/>
            </a:pPr>
            <a:r>
              <a:rPr lang="en-US" sz="1800" b="1" dirty="0">
                <a:solidFill>
                  <a:srgbClr val="0B2A4A"/>
                </a:solidFill>
              </a:rPr>
              <a:t>Tài chính và công tác sinh viên</a:t>
            </a:r>
            <a:endParaRPr lang="en-US" sz="1800" dirty="0"/>
          </a:p>
        </p:txBody>
      </p:sp>
      <p:sp>
        <p:nvSpPr>
          <p:cNvPr id="16" name="the"/>
          <p:cNvSpPr/>
          <p:nvPr/>
        </p:nvSpPr>
        <p:spPr>
          <a:xfrm>
            <a:off x="548640" y="3657600"/>
            <a:ext cx="8046720" cy="658368"/>
          </a:xfrm>
          <a:prstGeom prst="roundRect">
            <a:avLst>
              <a:gd name="adj" fmla="val 11111"/>
            </a:avLst>
          </a:prstGeom>
          <a:solidFill>
            <a:srgbClr val="F1F4F8"/>
          </a:solidFill>
          <a:ln w="12700">
            <a:solidFill>
              <a:srgbClr val="F1F4F8"/>
            </a:solidFill>
            <a:prstDash val="solid"/>
          </a:ln>
        </p:spPr>
      </p:sp>
      <p:sp>
        <p:nvSpPr>
          <p:cNvPr id="17" name="so-thu-tu"/>
          <p:cNvSpPr/>
          <p:nvPr/>
        </p:nvSpPr>
        <p:spPr>
          <a:xfrm>
            <a:off x="777240" y="3689604"/>
            <a:ext cx="594360" cy="594360"/>
          </a:xfrm>
          <a:prstGeom prst="ellipse">
            <a:avLst/>
          </a:prstGeom>
          <a:solidFill>
            <a:srgbClr val="1F4E8C"/>
          </a:solidFill>
          <a:ln w="12700">
            <a:solidFill>
              <a:srgbClr val="1F4E8C"/>
            </a:solidFill>
            <a:prstDash val="solid"/>
          </a:ln>
        </p:spPr>
      </p:sp>
      <p:sp>
        <p:nvSpPr>
          <p:cNvPr id="18" name="so-thu-tu-chu"/>
          <p:cNvSpPr txBox="1"/>
          <p:nvPr/>
        </p:nvSpPr>
        <p:spPr>
          <a:xfrm>
            <a:off x="777240" y="3689604"/>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19" name="the-chu"/>
          <p:cNvSpPr txBox="1"/>
          <p:nvPr/>
        </p:nvSpPr>
        <p:spPr>
          <a:xfrm>
            <a:off x="1600200" y="3730752"/>
            <a:ext cx="6766560" cy="512064"/>
          </a:xfrm>
          <a:prstGeom prst="rect">
            <a:avLst/>
          </a:prstGeom>
          <a:noFill/>
          <a:ln/>
        </p:spPr>
        <p:txBody>
          <a:bodyPr wrap="square" lIns="0" tIns="0" rIns="0" bIns="0" rtlCol="0" anchor="ctr"/>
          <a:lstStyle/>
          <a:p>
            <a:pPr indent="0" marL="0">
              <a:buNone/>
            </a:pPr>
            <a:r>
              <a:rPr lang="en-US" sz="1800" b="1" dirty="0">
                <a:solidFill>
                  <a:srgbClr val="0B2A4A"/>
                </a:solidFill>
              </a:rPr>
              <a:t>Tồn tại và phương hướng</a:t>
            </a:r>
            <a:endParaRPr lang="en-US" sz="18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Nhập học đạt 91,2% chỉ tiêu, tổng thu 412.000 triệu đồng</a:t>
            </a:r>
            <a:endParaRPr lang="en-US" sz="2800" dirty="0"/>
          </a:p>
        </p:txBody>
      </p:sp>
      <p:sp>
        <p:nvSpPr>
          <p:cNvPr id="4" name="the"/>
          <p:cNvSpPr/>
          <p:nvPr/>
        </p:nvSpPr>
        <p:spPr>
          <a:xfrm>
            <a:off x="548640" y="1325880"/>
            <a:ext cx="2560320" cy="2926080"/>
          </a:xfrm>
          <a:prstGeom prst="roundRect">
            <a:avLst>
              <a:gd name="adj" fmla="val 2857"/>
            </a:avLst>
          </a:prstGeom>
          <a:solidFill>
            <a:srgbClr val="F1F4F8"/>
          </a:solidFill>
          <a:ln w="12700">
            <a:solidFill>
              <a:srgbClr val="F1F4F8"/>
            </a:solidFill>
            <a:prstDash val="solid"/>
          </a:ln>
        </p:spPr>
      </p:sp>
      <p:sp>
        <p:nvSpPr>
          <p:cNvPr id="5" name="o-bieu-tuong"/>
          <p:cNvSpPr/>
          <p:nvPr/>
        </p:nvSpPr>
        <p:spPr>
          <a:xfrm>
            <a:off x="777240" y="1554480"/>
            <a:ext cx="548640" cy="548640"/>
          </a:xfrm>
          <a:prstGeom prst="ellipse">
            <a:avLst/>
          </a:prstGeom>
          <a:solidFill>
            <a:srgbClr val="1F4E8C"/>
          </a:solidFill>
          <a:ln w="12700">
            <a:solidFill>
              <a:srgbClr val="1F4E8C"/>
            </a:solidFill>
            <a:prstDash val="solid"/>
          </a:ln>
        </p:spPr>
      </p:sp>
      <p:pic>
        <p:nvPicPr>
          <p:cNvPr id="6" name="bieu-tuong" descr="Biểu tượng minh họa">    </p:cNvPr>
          <p:cNvPicPr>
            <a:picLocks noChangeAspect="1"/>
          </p:cNvPicPr>
          <p:nvPr/>
        </p:nvPicPr>
        <p:blipFill>
          <a:blip r:embed="rId1"/>
          <a:stretch>
            <a:fillRect/>
          </a:stretch>
        </p:blipFill>
        <p:spPr>
          <a:xfrm>
            <a:off x="914400" y="1691640"/>
            <a:ext cx="274320" cy="274320"/>
          </a:xfrm>
          <a:prstGeom prst="rect">
            <a:avLst/>
          </a:prstGeom>
        </p:spPr>
      </p:pic>
      <p:sp>
        <p:nvSpPr>
          <p:cNvPr id="7" name="so-lieu"/>
          <p:cNvSpPr txBox="1"/>
          <p:nvPr/>
        </p:nvSpPr>
        <p:spPr>
          <a:xfrm>
            <a:off x="777240" y="2240280"/>
            <a:ext cx="2103120" cy="777240"/>
          </a:xfrm>
          <a:prstGeom prst="rect">
            <a:avLst/>
          </a:prstGeom>
          <a:noFill/>
          <a:ln/>
        </p:spPr>
        <p:txBody>
          <a:bodyPr wrap="square" lIns="0" tIns="0" rIns="0" bIns="0" rtlCol="0" anchor="ctr"/>
          <a:lstStyle/>
          <a:p>
            <a:pPr indent="0" marL="0">
              <a:buNone/>
            </a:pPr>
            <a:r>
              <a:rPr lang="en-US" sz="4000" b="1" dirty="0">
                <a:solidFill>
                  <a:srgbClr val="1F4E8C"/>
                </a:solidFill>
                <a:latin typeface="Cambria" pitchFamily="34" charset="0"/>
                <a:ea typeface="Cambria" pitchFamily="34" charset="-122"/>
                <a:cs typeface="Cambria" pitchFamily="34" charset="-120"/>
              </a:rPr>
              <a:t>91,2%</a:t>
            </a:r>
            <a:endParaRPr lang="en-US" sz="4000" dirty="0"/>
          </a:p>
        </p:txBody>
      </p:sp>
      <p:sp>
        <p:nvSpPr>
          <p:cNvPr id="8" name="nhan"/>
          <p:cNvSpPr txBox="1"/>
          <p:nvPr/>
        </p:nvSpPr>
        <p:spPr>
          <a:xfrm>
            <a:off x="777240" y="3063240"/>
            <a:ext cx="2103120" cy="1051560"/>
          </a:xfrm>
          <a:prstGeom prst="rect">
            <a:avLst/>
          </a:prstGeom>
          <a:noFill/>
          <a:ln/>
        </p:spPr>
        <p:txBody>
          <a:bodyPr wrap="square" lIns="0" tIns="0" rIns="0" bIns="0" rtlCol="0" anchor="t"/>
          <a:lstStyle/>
          <a:p>
            <a:pPr indent="0" marL="0">
              <a:buNone/>
            </a:pPr>
            <a:r>
              <a:rPr lang="en-US" sz="1600" dirty="0">
                <a:solidFill>
                  <a:srgbClr val="1A2433"/>
                </a:solidFill>
              </a:rPr>
              <a:t>nhập học 1.642 trên chỉ tiêu 1.800</a:t>
            </a:r>
            <a:endParaRPr lang="en-US" sz="1600" dirty="0"/>
          </a:p>
        </p:txBody>
      </p:sp>
      <p:sp>
        <p:nvSpPr>
          <p:cNvPr id="9" name="the"/>
          <p:cNvSpPr/>
          <p:nvPr/>
        </p:nvSpPr>
        <p:spPr>
          <a:xfrm>
            <a:off x="3291840" y="1325880"/>
            <a:ext cx="2560320" cy="2926080"/>
          </a:xfrm>
          <a:prstGeom prst="roundRect">
            <a:avLst>
              <a:gd name="adj" fmla="val 2857"/>
            </a:avLst>
          </a:prstGeom>
          <a:solidFill>
            <a:srgbClr val="F1F4F8"/>
          </a:solidFill>
          <a:ln w="12700">
            <a:solidFill>
              <a:srgbClr val="F1F4F8"/>
            </a:solidFill>
            <a:prstDash val="solid"/>
          </a:ln>
        </p:spPr>
      </p:sp>
      <p:sp>
        <p:nvSpPr>
          <p:cNvPr id="10" name="o-bieu-tuong"/>
          <p:cNvSpPr/>
          <p:nvPr/>
        </p:nvSpPr>
        <p:spPr>
          <a:xfrm>
            <a:off x="3520440" y="1554480"/>
            <a:ext cx="548640" cy="548640"/>
          </a:xfrm>
          <a:prstGeom prst="ellipse">
            <a:avLst/>
          </a:prstGeom>
          <a:solidFill>
            <a:srgbClr val="2E7D6B"/>
          </a:solidFill>
          <a:ln w="12700">
            <a:solidFill>
              <a:srgbClr val="2E7D6B"/>
            </a:solidFill>
            <a:prstDash val="solid"/>
          </a:ln>
        </p:spPr>
      </p:sp>
      <p:pic>
        <p:nvPicPr>
          <p:cNvPr id="11" name="bieu-tuong" descr="Biểu tượng minh họa">    </p:cNvPr>
          <p:cNvPicPr>
            <a:picLocks noChangeAspect="1"/>
          </p:cNvPicPr>
          <p:nvPr/>
        </p:nvPicPr>
        <p:blipFill>
          <a:blip r:embed="rId2"/>
          <a:stretch>
            <a:fillRect/>
          </a:stretch>
        </p:blipFill>
        <p:spPr>
          <a:xfrm>
            <a:off x="3657600" y="1691640"/>
            <a:ext cx="274320" cy="274320"/>
          </a:xfrm>
          <a:prstGeom prst="rect">
            <a:avLst/>
          </a:prstGeom>
        </p:spPr>
      </p:pic>
      <p:sp>
        <p:nvSpPr>
          <p:cNvPr id="12" name="so-lieu"/>
          <p:cNvSpPr txBox="1"/>
          <p:nvPr/>
        </p:nvSpPr>
        <p:spPr>
          <a:xfrm>
            <a:off x="3520440" y="2240280"/>
            <a:ext cx="2103120" cy="777240"/>
          </a:xfrm>
          <a:prstGeom prst="rect">
            <a:avLst/>
          </a:prstGeom>
          <a:noFill/>
          <a:ln/>
        </p:spPr>
        <p:txBody>
          <a:bodyPr wrap="square" lIns="0" tIns="0" rIns="0" bIns="0" rtlCol="0" anchor="ctr"/>
          <a:lstStyle/>
          <a:p>
            <a:pPr indent="0" marL="0">
              <a:buNone/>
            </a:pPr>
            <a:r>
              <a:rPr lang="en-US" sz="4000" b="1" dirty="0">
                <a:solidFill>
                  <a:srgbClr val="2E7D6B"/>
                </a:solidFill>
                <a:latin typeface="Cambria" pitchFamily="34" charset="0"/>
                <a:ea typeface="Cambria" pitchFamily="34" charset="-122"/>
                <a:cs typeface="Cambria" pitchFamily="34" charset="-120"/>
              </a:rPr>
              <a:t>84%</a:t>
            </a:r>
            <a:endParaRPr lang="en-US" sz="4000" dirty="0"/>
          </a:p>
        </p:txBody>
      </p:sp>
      <p:sp>
        <p:nvSpPr>
          <p:cNvPr id="13" name="nhan"/>
          <p:cNvSpPr txBox="1"/>
          <p:nvPr/>
        </p:nvSpPr>
        <p:spPr>
          <a:xfrm>
            <a:off x="3520440" y="3063240"/>
            <a:ext cx="2103120" cy="1051560"/>
          </a:xfrm>
          <a:prstGeom prst="rect">
            <a:avLst/>
          </a:prstGeom>
          <a:noFill/>
          <a:ln/>
        </p:spPr>
        <p:txBody>
          <a:bodyPr wrap="square" lIns="0" tIns="0" rIns="0" bIns="0" rtlCol="0" anchor="t"/>
          <a:lstStyle/>
          <a:p>
            <a:pPr indent="0" marL="0">
              <a:buNone/>
            </a:pPr>
            <a:r>
              <a:rPr lang="en-US" sz="1600" dirty="0">
                <a:solidFill>
                  <a:srgbClr val="1A2433"/>
                </a:solidFill>
              </a:rPr>
              <a:t>tốt nghiệp đúng hạn, năm học 2024–2025 (năm gần nhất có số liệu)</a:t>
            </a:r>
            <a:endParaRPr lang="en-US" sz="1600" dirty="0"/>
          </a:p>
        </p:txBody>
      </p:sp>
      <p:sp>
        <p:nvSpPr>
          <p:cNvPr id="14" name="the"/>
          <p:cNvSpPr/>
          <p:nvPr/>
        </p:nvSpPr>
        <p:spPr>
          <a:xfrm>
            <a:off x="6035040" y="1325880"/>
            <a:ext cx="2560320" cy="2926080"/>
          </a:xfrm>
          <a:prstGeom prst="roundRect">
            <a:avLst>
              <a:gd name="adj" fmla="val 2857"/>
            </a:avLst>
          </a:prstGeom>
          <a:solidFill>
            <a:srgbClr val="F1F4F8"/>
          </a:solidFill>
          <a:ln w="12700">
            <a:solidFill>
              <a:srgbClr val="F1F4F8"/>
            </a:solidFill>
            <a:prstDash val="solid"/>
          </a:ln>
        </p:spPr>
      </p:sp>
      <p:sp>
        <p:nvSpPr>
          <p:cNvPr id="15" name="o-bieu-tuong"/>
          <p:cNvSpPr/>
          <p:nvPr/>
        </p:nvSpPr>
        <p:spPr>
          <a:xfrm>
            <a:off x="6263640" y="1554480"/>
            <a:ext cx="548640" cy="548640"/>
          </a:xfrm>
          <a:prstGeom prst="ellipse">
            <a:avLst/>
          </a:prstGeom>
          <a:solidFill>
            <a:srgbClr val="B8902B"/>
          </a:solidFill>
          <a:ln w="12700">
            <a:solidFill>
              <a:srgbClr val="B8902B"/>
            </a:solidFill>
            <a:prstDash val="solid"/>
          </a:ln>
        </p:spPr>
      </p:sp>
      <p:pic>
        <p:nvPicPr>
          <p:cNvPr id="16" name="bieu-tuong" descr="Biểu tượng minh họa">    </p:cNvPr>
          <p:cNvPicPr>
            <a:picLocks noChangeAspect="1"/>
          </p:cNvPicPr>
          <p:nvPr/>
        </p:nvPicPr>
        <p:blipFill>
          <a:blip r:embed="rId3"/>
          <a:stretch>
            <a:fillRect/>
          </a:stretch>
        </p:blipFill>
        <p:spPr>
          <a:xfrm>
            <a:off x="6400800" y="1691640"/>
            <a:ext cx="274320" cy="274320"/>
          </a:xfrm>
          <a:prstGeom prst="rect">
            <a:avLst/>
          </a:prstGeom>
        </p:spPr>
      </p:pic>
      <p:sp>
        <p:nvSpPr>
          <p:cNvPr id="17" name="so-lieu"/>
          <p:cNvSpPr txBox="1"/>
          <p:nvPr/>
        </p:nvSpPr>
        <p:spPr>
          <a:xfrm>
            <a:off x="6263640" y="2240280"/>
            <a:ext cx="2103120" cy="777240"/>
          </a:xfrm>
          <a:prstGeom prst="rect">
            <a:avLst/>
          </a:prstGeom>
          <a:noFill/>
          <a:ln/>
        </p:spPr>
        <p:txBody>
          <a:bodyPr wrap="square" lIns="0" tIns="0" rIns="0" bIns="0" rtlCol="0" anchor="ctr"/>
          <a:lstStyle/>
          <a:p>
            <a:pPr indent="0" marL="0">
              <a:buNone/>
            </a:pPr>
            <a:r>
              <a:rPr lang="en-US" sz="4000" b="1" dirty="0">
                <a:solidFill>
                  <a:srgbClr val="B8902B"/>
                </a:solidFill>
                <a:latin typeface="Cambria" pitchFamily="34" charset="0"/>
                <a:ea typeface="Cambria" pitchFamily="34" charset="-122"/>
                <a:cs typeface="Cambria" pitchFamily="34" charset="-120"/>
              </a:rPr>
              <a:t>412.000</a:t>
            </a:r>
            <a:endParaRPr lang="en-US" sz="4000" dirty="0"/>
          </a:p>
        </p:txBody>
      </p:sp>
      <p:sp>
        <p:nvSpPr>
          <p:cNvPr id="18" name="nhan"/>
          <p:cNvSpPr txBox="1"/>
          <p:nvPr/>
        </p:nvSpPr>
        <p:spPr>
          <a:xfrm>
            <a:off x="6263640" y="3063240"/>
            <a:ext cx="2103120" cy="1051560"/>
          </a:xfrm>
          <a:prstGeom prst="rect">
            <a:avLst/>
          </a:prstGeom>
          <a:noFill/>
          <a:ln/>
        </p:spPr>
        <p:txBody>
          <a:bodyPr wrap="square" lIns="0" tIns="0" rIns="0" bIns="0" rtlCol="0" anchor="t"/>
          <a:lstStyle/>
          <a:p>
            <a:pPr indent="0" marL="0">
              <a:buNone/>
            </a:pPr>
            <a:r>
              <a:rPr lang="en-US" sz="1600" dirty="0">
                <a:solidFill>
                  <a:srgbClr val="1A2433"/>
                </a:solidFill>
              </a:rPr>
              <a:t>triệu đồng tổng thu năm học</a:t>
            </a:r>
            <a:endParaRPr lang="en-US" sz="1600" dirty="0"/>
          </a:p>
        </p:txBody>
      </p:sp>
      <p:sp>
        <p:nvSpPr>
          <p:cNvPr id="19" name="nguon"/>
          <p:cNvSpPr txBox="1"/>
          <p:nvPr/>
        </p:nvSpPr>
        <p:spPr>
          <a:xfrm>
            <a:off x="548640" y="4416552"/>
            <a:ext cx="8046720" cy="274320"/>
          </a:xfrm>
          <a:prstGeom prst="rect">
            <a:avLst/>
          </a:prstGeom>
          <a:noFill/>
          <a:ln/>
        </p:spPr>
        <p:txBody>
          <a:bodyPr wrap="square" lIns="0" tIns="0" rIns="0" bIns="0" rtlCol="0" anchor="ctr"/>
          <a:lstStyle/>
          <a:p>
            <a:pPr indent="0" marL="0">
              <a:buNone/>
            </a:pPr>
            <a:r>
              <a:rPr lang="en-US" sz="1100" i="1" dirty="0">
                <a:solidFill>
                  <a:srgbClr val="6B7A90"/>
                </a:solidFill>
              </a:rPr>
              <a:t>Nguồn: báo cáo Phòng Đào tạo và Phòng Kế hoạch – Tài chính, năm học 2025–2026</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Luật có tỷ lệ nhập học thấp nhất trong bốn ngành</a:t>
            </a:r>
            <a:endParaRPr lang="en-US" sz="2800" dirty="0"/>
          </a:p>
        </p:txBody>
      </p:sp>
      <p:graphicFrame>
        <p:nvGraphicFramePr>
          <p:cNvPr id="4" name="bieu-do" descr=""/>
          <p:cNvGraphicFramePr/>
          <p:nvPr/>
        </p:nvGraphicFramePr>
        <p:xfrm>
          <a:off x="548640" y="123444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5" name="nhan-xet"/>
          <p:cNvSpPr/>
          <p:nvPr/>
        </p:nvSpPr>
        <p:spPr>
          <a:xfrm>
            <a:off x="6172200" y="1325880"/>
            <a:ext cx="2423160" cy="3017520"/>
          </a:xfrm>
          <a:prstGeom prst="roundRect">
            <a:avLst>
              <a:gd name="adj" fmla="val 3019"/>
            </a:avLst>
          </a:prstGeom>
          <a:solidFill>
            <a:srgbClr val="F1F4F8"/>
          </a:solidFill>
          <a:ln w="12700">
            <a:solidFill>
              <a:srgbClr val="F1F4F8"/>
            </a:solidFill>
            <a:prstDash val="solid"/>
          </a:ln>
        </p:spPr>
      </p:sp>
      <p:pic>
        <p:nvPicPr>
          <p:cNvPr id="6" name="bieu-tuong" descr="Biểu tượng">    </p:cNvPr>
          <p:cNvPicPr>
            <a:picLocks noChangeAspect="1"/>
          </p:cNvPicPr>
          <p:nvPr/>
        </p:nvPicPr>
        <p:blipFill>
          <a:blip r:embed="rId2"/>
          <a:stretch>
            <a:fillRect/>
          </a:stretch>
        </p:blipFill>
        <p:spPr>
          <a:xfrm>
            <a:off x="6355080" y="1527048"/>
            <a:ext cx="274320" cy="274320"/>
          </a:xfrm>
          <a:prstGeom prst="rect">
            <a:avLst/>
          </a:prstGeom>
        </p:spPr>
      </p:pic>
      <p:sp>
        <p:nvSpPr>
          <p:cNvPr id="7" name="nhan-xet-tieu-de"/>
          <p:cNvSpPr txBox="1"/>
          <p:nvPr/>
        </p:nvSpPr>
        <p:spPr>
          <a:xfrm>
            <a:off x="6720840" y="1508760"/>
            <a:ext cx="1691640" cy="329184"/>
          </a:xfrm>
          <a:prstGeom prst="rect">
            <a:avLst/>
          </a:prstGeom>
          <a:noFill/>
          <a:ln/>
        </p:spPr>
        <p:txBody>
          <a:bodyPr wrap="square" lIns="0" tIns="0" rIns="0" bIns="0" rtlCol="0" anchor="ctr"/>
          <a:lstStyle/>
          <a:p>
            <a:pPr indent="0" marL="0">
              <a:buNone/>
            </a:pPr>
            <a:r>
              <a:rPr lang="en-US" sz="1800" b="1" dirty="0">
                <a:solidFill>
                  <a:srgbClr val="0B2A4A"/>
                </a:solidFill>
              </a:rPr>
              <a:t>Nhận xét</a:t>
            </a:r>
            <a:endParaRPr lang="en-US" sz="1800" dirty="0"/>
          </a:p>
        </p:txBody>
      </p:sp>
      <p:sp>
        <p:nvSpPr>
          <p:cNvPr id="8" name="nhan-xet-chu"/>
          <p:cNvSpPr txBox="1"/>
          <p:nvPr/>
        </p:nvSpPr>
        <p:spPr>
          <a:xfrm>
            <a:off x="6355080" y="1965960"/>
            <a:ext cx="205740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Luật đạt 85,7% chỉ tiêu, thấp nhất</a:t>
            </a:r>
            <a:endParaRPr lang="en-US" sz="1600" dirty="0"/>
          </a:p>
          <a:p>
            <a:pPr marL="342900" indent="-342900">
              <a:spcAft>
                <a:spcPts val="800"/>
              </a:spcAft>
              <a:buSzPct val="100000"/>
              <a:buChar char="•"/>
            </a:pPr>
            <a:r>
              <a:rPr lang="en-US" sz="1600" dirty="0">
                <a:solidFill>
                  <a:srgbClr val="1A2433"/>
                </a:solidFill>
              </a:rPr>
              <a:t>Công nghệ thông tin đạt 95,2%, cao nhất</a:t>
            </a:r>
            <a:endParaRPr lang="en-US" sz="1600" dirty="0"/>
          </a:p>
        </p:txBody>
      </p:sp>
      <p:sp>
        <p:nvSpPr>
          <p:cNvPr id="9" name="nguon"/>
          <p:cNvSpPr txBox="1"/>
          <p:nvPr/>
        </p:nvSpPr>
        <p:spPr>
          <a:xfrm>
            <a:off x="548640" y="4416552"/>
            <a:ext cx="8046720" cy="274320"/>
          </a:xfrm>
          <a:prstGeom prst="rect">
            <a:avLst/>
          </a:prstGeom>
          <a:noFill/>
          <a:ln/>
        </p:spPr>
        <p:txBody>
          <a:bodyPr wrap="square" lIns="0" tIns="0" rIns="0" bIns="0" rtlCol="0" anchor="ctr"/>
          <a:lstStyle/>
          <a:p>
            <a:pPr indent="0" marL="0">
              <a:buNone/>
            </a:pPr>
            <a:r>
              <a:rPr lang="en-US" sz="1100" i="1" dirty="0">
                <a:solidFill>
                  <a:srgbClr val="6B7A90"/>
                </a:solidFill>
              </a:rPr>
              <a:t>Nguồn: báo cáo Phòng Đào tạo, năm học 2025–2026</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Tốt nghiệp đúng hạn tăng 6 điểm phần trăm sau hai năm</a:t>
            </a:r>
            <a:endParaRPr lang="en-US" sz="2800" dirty="0"/>
          </a:p>
        </p:txBody>
      </p:sp>
      <p:graphicFrame>
        <p:nvGraphicFramePr>
          <p:cNvPr id="4" name="bieu-do" descr=""/>
          <p:cNvGraphicFramePr/>
          <p:nvPr/>
        </p:nvGraphicFramePr>
        <p:xfrm>
          <a:off x="548640" y="123444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5" name="nhan-xet"/>
          <p:cNvSpPr/>
          <p:nvPr/>
        </p:nvSpPr>
        <p:spPr>
          <a:xfrm>
            <a:off x="6172200" y="1325880"/>
            <a:ext cx="2423160" cy="3017520"/>
          </a:xfrm>
          <a:prstGeom prst="roundRect">
            <a:avLst>
              <a:gd name="adj" fmla="val 3019"/>
            </a:avLst>
          </a:prstGeom>
          <a:solidFill>
            <a:srgbClr val="F1F4F8"/>
          </a:solidFill>
          <a:ln w="12700">
            <a:solidFill>
              <a:srgbClr val="F1F4F8"/>
            </a:solidFill>
            <a:prstDash val="solid"/>
          </a:ln>
        </p:spPr>
      </p:sp>
      <p:pic>
        <p:nvPicPr>
          <p:cNvPr id="6" name="bieu-tuong" descr="Biểu tượng">    </p:cNvPr>
          <p:cNvPicPr>
            <a:picLocks noChangeAspect="1"/>
          </p:cNvPicPr>
          <p:nvPr/>
        </p:nvPicPr>
        <p:blipFill>
          <a:blip r:embed="rId2"/>
          <a:stretch>
            <a:fillRect/>
          </a:stretch>
        </p:blipFill>
        <p:spPr>
          <a:xfrm>
            <a:off x="6355080" y="1527048"/>
            <a:ext cx="274320" cy="274320"/>
          </a:xfrm>
          <a:prstGeom prst="rect">
            <a:avLst/>
          </a:prstGeom>
        </p:spPr>
      </p:pic>
      <p:sp>
        <p:nvSpPr>
          <p:cNvPr id="7" name="nhan-xet-tieu-de"/>
          <p:cNvSpPr txBox="1"/>
          <p:nvPr/>
        </p:nvSpPr>
        <p:spPr>
          <a:xfrm>
            <a:off x="6720840" y="1508760"/>
            <a:ext cx="1691640" cy="329184"/>
          </a:xfrm>
          <a:prstGeom prst="rect">
            <a:avLst/>
          </a:prstGeom>
          <a:noFill/>
          <a:ln/>
        </p:spPr>
        <p:txBody>
          <a:bodyPr wrap="square" lIns="0" tIns="0" rIns="0" bIns="0" rtlCol="0" anchor="ctr"/>
          <a:lstStyle/>
          <a:p>
            <a:pPr indent="0" marL="0">
              <a:buNone/>
            </a:pPr>
            <a:r>
              <a:rPr lang="en-US" sz="1800" b="1" dirty="0">
                <a:solidFill>
                  <a:srgbClr val="0B2A4A"/>
                </a:solidFill>
              </a:rPr>
              <a:t>Lưu ý</a:t>
            </a:r>
            <a:endParaRPr lang="en-US" sz="1800" dirty="0"/>
          </a:p>
        </p:txBody>
      </p:sp>
      <p:sp>
        <p:nvSpPr>
          <p:cNvPr id="8" name="nhan-xet-chu"/>
          <p:cNvSpPr txBox="1"/>
          <p:nvPr/>
        </p:nvSpPr>
        <p:spPr>
          <a:xfrm>
            <a:off x="6355080" y="1965960"/>
            <a:ext cx="205740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Tăng 6 điểm phần trăm so với 2022–2023</a:t>
            </a:r>
            <a:endParaRPr lang="en-US" sz="1600" dirty="0"/>
          </a:p>
          <a:p>
            <a:pPr marL="342900" indent="-342900">
              <a:spcAft>
                <a:spcPts val="800"/>
              </a:spcAft>
              <a:buSzPct val="100000"/>
              <a:buChar char="•"/>
            </a:pPr>
            <a:r>
              <a:rPr lang="en-US" sz="1600" dirty="0">
                <a:solidFill>
                  <a:srgbClr val="1A2433"/>
                </a:solidFill>
              </a:rPr>
              <a:t>2025–2026: chưa có số liệu vì chưa xét tốt nghiệp</a:t>
            </a:r>
            <a:endParaRPr lang="en-US" sz="1600" dirty="0"/>
          </a:p>
        </p:txBody>
      </p:sp>
      <p:sp>
        <p:nvSpPr>
          <p:cNvPr id="9" name="nguon"/>
          <p:cNvSpPr txBox="1"/>
          <p:nvPr/>
        </p:nvSpPr>
        <p:spPr>
          <a:xfrm>
            <a:off x="548640" y="4416552"/>
            <a:ext cx="8046720" cy="274320"/>
          </a:xfrm>
          <a:prstGeom prst="rect">
            <a:avLst/>
          </a:prstGeom>
          <a:noFill/>
          <a:ln/>
        </p:spPr>
        <p:txBody>
          <a:bodyPr wrap="square" lIns="0" tIns="0" rIns="0" bIns="0" rtlCol="0" anchor="ctr"/>
          <a:lstStyle/>
          <a:p>
            <a:pPr indent="0" marL="0">
              <a:buNone/>
            </a:pPr>
            <a:r>
              <a:rPr lang="en-US" sz="1100" i="1" dirty="0">
                <a:solidFill>
                  <a:srgbClr val="6B7A90"/>
                </a:solidFill>
              </a:rPr>
              <a:t>Nguồn: báo cáo Phòng Đào tạo. Năm học 2025–2026 chưa có số liệu</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Lương và phụ cấp chiếm hơn một nửa tổng chi</a:t>
            </a:r>
            <a:endParaRPr lang="en-US" sz="2800" dirty="0"/>
          </a:p>
        </p:txBody>
      </p:sp>
      <p:graphicFrame>
        <p:nvGraphicFramePr>
          <p:cNvPr id="4" name="bieu-do" descr=""/>
          <p:cNvGraphicFramePr/>
          <p:nvPr/>
        </p:nvGraphicFramePr>
        <p:xfrm>
          <a:off x="548640" y="123444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5" name="luu-y"/>
          <p:cNvSpPr/>
          <p:nvPr/>
        </p:nvSpPr>
        <p:spPr>
          <a:xfrm>
            <a:off x="6172200" y="1325880"/>
            <a:ext cx="2423160" cy="3017520"/>
          </a:xfrm>
          <a:prstGeom prst="roundRect">
            <a:avLst>
              <a:gd name="adj" fmla="val 3019"/>
            </a:avLst>
          </a:prstGeom>
          <a:solidFill>
            <a:srgbClr val="FBF1E1"/>
          </a:solidFill>
          <a:ln w="12700">
            <a:solidFill>
              <a:srgbClr val="B8902B"/>
            </a:solidFill>
            <a:prstDash val="solid"/>
          </a:ln>
        </p:spPr>
      </p:sp>
      <p:pic>
        <p:nvPicPr>
          <p:cNvPr id="6" name="bieu-tuong" descr="Biểu tượng">    </p:cNvPr>
          <p:cNvPicPr>
            <a:picLocks noChangeAspect="1"/>
          </p:cNvPicPr>
          <p:nvPr/>
        </p:nvPicPr>
        <p:blipFill>
          <a:blip r:embed="rId2"/>
          <a:stretch>
            <a:fillRect/>
          </a:stretch>
        </p:blipFill>
        <p:spPr>
          <a:xfrm>
            <a:off x="6355080" y="1527048"/>
            <a:ext cx="274320" cy="274320"/>
          </a:xfrm>
          <a:prstGeom prst="rect">
            <a:avLst/>
          </a:prstGeom>
        </p:spPr>
      </p:pic>
      <p:sp>
        <p:nvSpPr>
          <p:cNvPr id="7" name="nhan-xet-tieu-de"/>
          <p:cNvSpPr txBox="1"/>
          <p:nvPr/>
        </p:nvSpPr>
        <p:spPr>
          <a:xfrm>
            <a:off x="6720840" y="1508760"/>
            <a:ext cx="1691640" cy="329184"/>
          </a:xfrm>
          <a:prstGeom prst="rect">
            <a:avLst/>
          </a:prstGeom>
          <a:noFill/>
          <a:ln/>
        </p:spPr>
        <p:txBody>
          <a:bodyPr wrap="square" lIns="0" tIns="0" rIns="0" bIns="0" rtlCol="0" anchor="ctr"/>
          <a:lstStyle/>
          <a:p>
            <a:pPr indent="0" marL="0">
              <a:buNone/>
            </a:pPr>
            <a:r>
              <a:rPr lang="en-US" sz="1800" b="1" dirty="0">
                <a:solidFill>
                  <a:srgbClr val="A23B3B"/>
                </a:solidFill>
              </a:rPr>
              <a:t>Cần rà lại</a:t>
            </a:r>
            <a:endParaRPr lang="en-US" sz="1800" dirty="0"/>
          </a:p>
        </p:txBody>
      </p:sp>
      <p:sp>
        <p:nvSpPr>
          <p:cNvPr id="8" name="nhan-xet-chu"/>
          <p:cNvSpPr txBox="1"/>
          <p:nvPr/>
        </p:nvSpPr>
        <p:spPr>
          <a:xfrm>
            <a:off x="6355080" y="1965960"/>
            <a:ext cx="205740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Cộng các nhóm: 398.500</a:t>
            </a:r>
            <a:endParaRPr lang="en-US" sz="1600" dirty="0"/>
          </a:p>
          <a:p>
            <a:pPr marL="342900" indent="-342900">
              <a:spcAft>
                <a:spcPts val="800"/>
              </a:spcAft>
              <a:buSzPct val="100000"/>
              <a:buChar char="•"/>
            </a:pPr>
            <a:r>
              <a:rPr lang="en-US" sz="1600" dirty="0">
                <a:solidFill>
                  <a:srgbClr val="1A2433"/>
                </a:solidFill>
              </a:rPr>
              <a:t>Báo cáo khai: 400.000</a:t>
            </a:r>
            <a:endParaRPr lang="en-US" sz="1600" dirty="0"/>
          </a:p>
          <a:p>
            <a:pPr marL="342900" indent="-342900">
              <a:spcAft>
                <a:spcPts val="800"/>
              </a:spcAft>
              <a:buSzPct val="100000"/>
              <a:buChar char="•"/>
            </a:pPr>
            <a:r>
              <a:rPr lang="en-US" sz="1600" dirty="0">
                <a:solidFill>
                  <a:srgbClr val="1A2433"/>
                </a:solidFill>
              </a:rPr>
              <a:t>Chênh 1.500 triệu đồng chưa giải thích</a:t>
            </a:r>
            <a:endParaRPr lang="en-US" sz="1600" dirty="0"/>
          </a:p>
        </p:txBody>
      </p:sp>
      <p:sp>
        <p:nvSpPr>
          <p:cNvPr id="9" name="nguon"/>
          <p:cNvSpPr txBox="1"/>
          <p:nvPr/>
        </p:nvSpPr>
        <p:spPr>
          <a:xfrm>
            <a:off x="548640" y="4416552"/>
            <a:ext cx="8046720" cy="274320"/>
          </a:xfrm>
          <a:prstGeom prst="rect">
            <a:avLst/>
          </a:prstGeom>
          <a:noFill/>
          <a:ln/>
        </p:spPr>
        <p:txBody>
          <a:bodyPr wrap="square" lIns="0" tIns="0" rIns="0" bIns="0" rtlCol="0" anchor="ctr"/>
          <a:lstStyle/>
          <a:p>
            <a:pPr indent="0" marL="0">
              <a:buNone/>
            </a:pPr>
            <a:r>
              <a:rPr lang="en-US" sz="1100" i="1" dirty="0">
                <a:solidFill>
                  <a:srgbClr val="6B7A90"/>
                </a:solidFill>
              </a:rPr>
              <a:t>Nguồn: báo cáo Phòng Kế hoạch – Tài chính, năm học 2025–2026 (đơn vị: triệu đồng)</a:t>
            </a:r>
            <a:endParaRPr lang="en-US" sz="11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Công tác sinh viên: đang chờ báo cáo của đơn vị</a:t>
            </a:r>
            <a:endParaRPr lang="en-US" sz="2800" dirty="0"/>
          </a:p>
        </p:txBody>
      </p:sp>
      <p:sp>
        <p:nvSpPr>
          <p:cNvPr id="4" name="cho-bao-cao"/>
          <p:cNvSpPr/>
          <p:nvPr/>
        </p:nvSpPr>
        <p:spPr>
          <a:xfrm>
            <a:off x="1097280" y="1463040"/>
            <a:ext cx="6949440" cy="2377440"/>
          </a:xfrm>
          <a:prstGeom prst="roundRect">
            <a:avLst>
              <a:gd name="adj" fmla="val 3846"/>
            </a:avLst>
          </a:prstGeom>
          <a:solidFill>
            <a:srgbClr val="F1F4F8"/>
          </a:solidFill>
          <a:ln w="12700">
            <a:solidFill>
              <a:srgbClr val="D5DCE6"/>
            </a:solidFill>
            <a:prstDash val="solid"/>
          </a:ln>
        </p:spPr>
      </p:sp>
      <p:pic>
        <p:nvPicPr>
          <p:cNvPr id="5" name="bieu-tuong" descr="Biểu tượng chờ">    </p:cNvPr>
          <p:cNvPicPr>
            <a:picLocks noChangeAspect="1"/>
          </p:cNvPicPr>
          <p:nvPr/>
        </p:nvPicPr>
        <p:blipFill>
          <a:blip r:embed="rId1"/>
          <a:stretch>
            <a:fillRect/>
          </a:stretch>
        </p:blipFill>
        <p:spPr>
          <a:xfrm>
            <a:off x="1463040" y="2331720"/>
            <a:ext cx="640080" cy="640080"/>
          </a:xfrm>
          <a:prstGeom prst="rect">
            <a:avLst/>
          </a:prstGeom>
        </p:spPr>
      </p:pic>
      <p:sp>
        <p:nvSpPr>
          <p:cNvPr id="6" name="cho-bao-cao-chu"/>
          <p:cNvSpPr txBox="1"/>
          <p:nvPr/>
        </p:nvSpPr>
        <p:spPr>
          <a:xfrm>
            <a:off x="2377440" y="1737360"/>
            <a:ext cx="5394960" cy="1828800"/>
          </a:xfrm>
          <a:prstGeom prst="rect">
            <a:avLst/>
          </a:prstGeom>
          <a:noFill/>
          <a:ln/>
        </p:spPr>
        <p:txBody>
          <a:bodyPr wrap="square" lIns="0" tIns="0" rIns="0" bIns="0" rtlCol="0" anchor="ctr"/>
          <a:lstStyle/>
          <a:p>
            <a:pPr indent="0" marL="0">
              <a:buNone/>
            </a:pPr>
            <a:r>
              <a:rPr lang="en-US" sz="2000" dirty="0">
                <a:solidFill>
                  <a:srgbClr val="1A2433"/>
                </a:solidFill>
              </a:rPr>
              <a:t>Chưa nhận được báo cáo của Phòng Công tác sinh viên. Nội dung sẽ được bổ sung khi có số liệu.</a:t>
            </a:r>
            <a:endParaRPr lang="en-US" sz="20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Ba tồn tại chính cần xử lý trong năm học tới</a:t>
            </a:r>
            <a:endParaRPr lang="en-US" sz="2800" dirty="0"/>
          </a:p>
        </p:txBody>
      </p:sp>
      <p:sp>
        <p:nvSpPr>
          <p:cNvPr id="4" name="the"/>
          <p:cNvSpPr/>
          <p:nvPr/>
        </p:nvSpPr>
        <p:spPr>
          <a:xfrm>
            <a:off x="548640" y="1325880"/>
            <a:ext cx="8046720" cy="868680"/>
          </a:xfrm>
          <a:prstGeom prst="roundRect">
            <a:avLst>
              <a:gd name="adj" fmla="val 8421"/>
            </a:avLst>
          </a:prstGeom>
          <a:solidFill>
            <a:srgbClr val="F1F4F8"/>
          </a:solidFill>
          <a:ln w="12700">
            <a:solidFill>
              <a:srgbClr val="F1F4F8"/>
            </a:solidFill>
            <a:prstDash val="solid"/>
          </a:ln>
        </p:spPr>
      </p:sp>
      <p:sp>
        <p:nvSpPr>
          <p:cNvPr id="5" name="so-thu-tu"/>
          <p:cNvSpPr/>
          <p:nvPr/>
        </p:nvSpPr>
        <p:spPr>
          <a:xfrm>
            <a:off x="777240" y="1463040"/>
            <a:ext cx="594360" cy="594360"/>
          </a:xfrm>
          <a:prstGeom prst="ellipse">
            <a:avLst/>
          </a:prstGeom>
          <a:solidFill>
            <a:srgbClr val="A23B3B"/>
          </a:solidFill>
          <a:ln w="12700">
            <a:solidFill>
              <a:srgbClr val="A23B3B"/>
            </a:solidFill>
            <a:prstDash val="solid"/>
          </a:ln>
        </p:spPr>
      </p:sp>
      <p:sp>
        <p:nvSpPr>
          <p:cNvPr id="6" name="so-thu-tu-chu"/>
          <p:cNvSpPr txBox="1"/>
          <p:nvPr/>
        </p:nvSpPr>
        <p:spPr>
          <a:xfrm>
            <a:off x="777240" y="14630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he-chu"/>
          <p:cNvSpPr txBox="1"/>
          <p:nvPr/>
        </p:nvSpPr>
        <p:spPr>
          <a:xfrm>
            <a:off x="1600200" y="1399032"/>
            <a:ext cx="6766560" cy="722376"/>
          </a:xfrm>
          <a:prstGeom prst="rect">
            <a:avLst/>
          </a:prstGeom>
          <a:noFill/>
          <a:ln/>
        </p:spPr>
        <p:txBody>
          <a:bodyPr wrap="square" lIns="0" tIns="0" rIns="0" bIns="0" rtlCol="0" anchor="ctr"/>
          <a:lstStyle/>
          <a:p>
            <a:pPr indent="0" marL="0">
              <a:buNone/>
            </a:pPr>
            <a:r>
              <a:rPr lang="en-US" sz="1800" b="1" dirty="0">
                <a:solidFill>
                  <a:srgbClr val="0B2A4A"/>
                </a:solidFill>
              </a:rPr>
              <a:t>Cơ sở vật chất giảng đường chưa đáp ứng giờ cao điểm</a:t>
            </a:r>
            <a:endParaRPr lang="en-US" sz="1800" dirty="0"/>
          </a:p>
          <a:p>
            <a:pPr indent="0" marL="0">
              <a:buNone/>
            </a:pPr>
            <a:r>
              <a:rPr lang="en-US" sz="1400" dirty="0">
                <a:solidFill>
                  <a:srgbClr val="46536A"/>
                </a:solidFill>
              </a:rPr>
              <a:t>Nguyên nhân: Số phòng học không tăng trong khi quy mô tăng</a:t>
            </a:r>
            <a:endParaRPr lang="en-US" sz="1800" dirty="0"/>
          </a:p>
        </p:txBody>
      </p:sp>
      <p:sp>
        <p:nvSpPr>
          <p:cNvPr id="8" name="the"/>
          <p:cNvSpPr/>
          <p:nvPr/>
        </p:nvSpPr>
        <p:spPr>
          <a:xfrm>
            <a:off x="548640" y="2331720"/>
            <a:ext cx="8046720" cy="868680"/>
          </a:xfrm>
          <a:prstGeom prst="roundRect">
            <a:avLst>
              <a:gd name="adj" fmla="val 8421"/>
            </a:avLst>
          </a:prstGeom>
          <a:solidFill>
            <a:srgbClr val="F1F4F8"/>
          </a:solidFill>
          <a:ln w="12700">
            <a:solidFill>
              <a:srgbClr val="F1F4F8"/>
            </a:solidFill>
            <a:prstDash val="solid"/>
          </a:ln>
        </p:spPr>
      </p:sp>
      <p:sp>
        <p:nvSpPr>
          <p:cNvPr id="9" name="so-thu-tu"/>
          <p:cNvSpPr/>
          <p:nvPr/>
        </p:nvSpPr>
        <p:spPr>
          <a:xfrm>
            <a:off x="777240" y="2468880"/>
            <a:ext cx="594360" cy="594360"/>
          </a:xfrm>
          <a:prstGeom prst="ellipse">
            <a:avLst/>
          </a:prstGeom>
          <a:solidFill>
            <a:srgbClr val="A23B3B"/>
          </a:solidFill>
          <a:ln w="12700">
            <a:solidFill>
              <a:srgbClr val="A23B3B"/>
            </a:solidFill>
            <a:prstDash val="solid"/>
          </a:ln>
        </p:spPr>
      </p:sp>
      <p:sp>
        <p:nvSpPr>
          <p:cNvPr id="10" name="so-thu-tu-chu"/>
          <p:cNvSpPr txBox="1"/>
          <p:nvPr/>
        </p:nvSpPr>
        <p:spPr>
          <a:xfrm>
            <a:off x="777240" y="246888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he-chu"/>
          <p:cNvSpPr txBox="1"/>
          <p:nvPr/>
        </p:nvSpPr>
        <p:spPr>
          <a:xfrm>
            <a:off x="1600200" y="2404872"/>
            <a:ext cx="6766560" cy="722376"/>
          </a:xfrm>
          <a:prstGeom prst="rect">
            <a:avLst/>
          </a:prstGeom>
          <a:noFill/>
          <a:ln/>
        </p:spPr>
        <p:txBody>
          <a:bodyPr wrap="square" lIns="0" tIns="0" rIns="0" bIns="0" rtlCol="0" anchor="ctr"/>
          <a:lstStyle/>
          <a:p>
            <a:pPr indent="0" marL="0">
              <a:buNone/>
            </a:pPr>
            <a:r>
              <a:rPr lang="en-US" sz="1800" b="1" dirty="0">
                <a:solidFill>
                  <a:srgbClr val="0B2A4A"/>
                </a:solidFill>
              </a:rPr>
              <a:t>Tỷ lệ nhập học Luật còn thấp</a:t>
            </a:r>
            <a:endParaRPr lang="en-US" sz="1800" dirty="0"/>
          </a:p>
          <a:p>
            <a:pPr indent="0" marL="0">
              <a:buNone/>
            </a:pPr>
            <a:r>
              <a:rPr lang="en-US" sz="1400" dirty="0">
                <a:solidFill>
                  <a:srgbClr val="46536A"/>
                </a:solidFill>
              </a:rPr>
              <a:t>Nguyên nhân: Chưa có kênh tư vấn riêng cho ngành</a:t>
            </a:r>
            <a:endParaRPr lang="en-US" sz="1800" dirty="0"/>
          </a:p>
        </p:txBody>
      </p:sp>
      <p:sp>
        <p:nvSpPr>
          <p:cNvPr id="12" name="the"/>
          <p:cNvSpPr/>
          <p:nvPr/>
        </p:nvSpPr>
        <p:spPr>
          <a:xfrm>
            <a:off x="548640" y="3337560"/>
            <a:ext cx="8046720" cy="868680"/>
          </a:xfrm>
          <a:prstGeom prst="roundRect">
            <a:avLst>
              <a:gd name="adj" fmla="val 8421"/>
            </a:avLst>
          </a:prstGeom>
          <a:solidFill>
            <a:srgbClr val="F1F4F8"/>
          </a:solidFill>
          <a:ln w="12700">
            <a:solidFill>
              <a:srgbClr val="F1F4F8"/>
            </a:solidFill>
            <a:prstDash val="solid"/>
          </a:ln>
        </p:spPr>
      </p:sp>
      <p:sp>
        <p:nvSpPr>
          <p:cNvPr id="13" name="so-thu-tu"/>
          <p:cNvSpPr/>
          <p:nvPr/>
        </p:nvSpPr>
        <p:spPr>
          <a:xfrm>
            <a:off x="777240" y="3474720"/>
            <a:ext cx="594360" cy="594360"/>
          </a:xfrm>
          <a:prstGeom prst="ellipse">
            <a:avLst/>
          </a:prstGeom>
          <a:solidFill>
            <a:srgbClr val="A23B3B"/>
          </a:solidFill>
          <a:ln w="12700">
            <a:solidFill>
              <a:srgbClr val="A23B3B"/>
            </a:solidFill>
            <a:prstDash val="solid"/>
          </a:ln>
        </p:spPr>
      </p:sp>
      <p:sp>
        <p:nvSpPr>
          <p:cNvPr id="14" name="so-thu-tu-chu"/>
          <p:cNvSpPr txBox="1"/>
          <p:nvPr/>
        </p:nvSpPr>
        <p:spPr>
          <a:xfrm>
            <a:off x="777240" y="347472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he-chu"/>
          <p:cNvSpPr txBox="1"/>
          <p:nvPr/>
        </p:nvSpPr>
        <p:spPr>
          <a:xfrm>
            <a:off x="1600200" y="3410712"/>
            <a:ext cx="6766560" cy="722376"/>
          </a:xfrm>
          <a:prstGeom prst="rect">
            <a:avLst/>
          </a:prstGeom>
          <a:noFill/>
          <a:ln/>
        </p:spPr>
        <p:txBody>
          <a:bodyPr wrap="square" lIns="0" tIns="0" rIns="0" bIns="0" rtlCol="0" anchor="ctr"/>
          <a:lstStyle/>
          <a:p>
            <a:pPr indent="0" marL="0">
              <a:buNone/>
            </a:pPr>
            <a:r>
              <a:rPr lang="en-US" sz="1800" b="1" dirty="0">
                <a:solidFill>
                  <a:srgbClr val="0B2A4A"/>
                </a:solidFill>
              </a:rPr>
              <a:t>Báo cáo đơn vị nộp chậm</a:t>
            </a:r>
            <a:endParaRPr lang="en-US" sz="1800" dirty="0"/>
          </a:p>
          <a:p>
            <a:pPr indent="0" marL="0">
              <a:buNone/>
            </a:pPr>
            <a:r>
              <a:rPr lang="en-US" sz="1400" dirty="0">
                <a:solidFill>
                  <a:srgbClr val="46536A"/>
                </a:solidFill>
              </a:rPr>
              <a:t>Nguyên nhân: Chưa có mốc nộp thống nhất</a:t>
            </a:r>
            <a:endParaRPr lang="en-US" sz="18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868680"/>
          </a:xfrm>
          <a:prstGeom prst="rect">
            <a:avLst/>
          </a:prstGeom>
          <a:noFill/>
          <a:ln/>
        </p:spPr>
        <p:txBody>
          <a:bodyPr wrap="square" lIns="0" tIns="0" rIns="0" bIns="0" rtlCol="0" anchor="ctr"/>
          <a:lstStyle/>
          <a:p>
            <a:pPr algn="l" indent="0" marL="0">
              <a:buNone/>
            </a:pPr>
            <a:r>
              <a:rPr lang="en-US" sz="2800" b="1" dirty="0">
                <a:solidFill>
                  <a:srgbClr val="0B2A4A"/>
                </a:solidFill>
              </a:rPr>
              <a:t>Phương hướng năm học tới: chờ định hướng của Ban Giám hiệu</a:t>
            </a:r>
            <a:endParaRPr lang="en-US" sz="2800" dirty="0"/>
          </a:p>
        </p:txBody>
      </p:sp>
      <p:sp>
        <p:nvSpPr>
          <p:cNvPr id="4" name="nhan-xet"/>
          <p:cNvSpPr/>
          <p:nvPr/>
        </p:nvSpPr>
        <p:spPr>
          <a:xfrm>
            <a:off x="548640" y="1463040"/>
            <a:ext cx="3840480" cy="2377440"/>
          </a:xfrm>
          <a:prstGeom prst="roundRect">
            <a:avLst>
              <a:gd name="adj" fmla="val 3077"/>
            </a:avLst>
          </a:prstGeom>
          <a:solidFill>
            <a:srgbClr val="F1F4F8"/>
          </a:solidFill>
          <a:ln w="12700">
            <a:solidFill>
              <a:srgbClr val="F1F4F8"/>
            </a:solidFill>
            <a:prstDash val="solid"/>
          </a:ln>
        </p:spPr>
      </p:sp>
      <p:pic>
        <p:nvPicPr>
          <p:cNvPr id="5" name="bieu-tuong" descr="Biểu tượng">    </p:cNvPr>
          <p:cNvPicPr>
            <a:picLocks noChangeAspect="1"/>
          </p:cNvPicPr>
          <p:nvPr/>
        </p:nvPicPr>
        <p:blipFill>
          <a:blip r:embed="rId1"/>
          <a:stretch>
            <a:fillRect/>
          </a:stretch>
        </p:blipFill>
        <p:spPr>
          <a:xfrm>
            <a:off x="731520" y="1664208"/>
            <a:ext cx="274320" cy="274320"/>
          </a:xfrm>
          <a:prstGeom prst="rect">
            <a:avLst/>
          </a:prstGeom>
        </p:spPr>
      </p:pic>
      <p:sp>
        <p:nvSpPr>
          <p:cNvPr id="6" name="nhan-xet-tieu-de"/>
          <p:cNvSpPr txBox="1"/>
          <p:nvPr/>
        </p:nvSpPr>
        <p:spPr>
          <a:xfrm>
            <a:off x="1097280" y="1645920"/>
            <a:ext cx="3108960" cy="329184"/>
          </a:xfrm>
          <a:prstGeom prst="rect">
            <a:avLst/>
          </a:prstGeom>
          <a:noFill/>
          <a:ln/>
        </p:spPr>
        <p:txBody>
          <a:bodyPr wrap="square" lIns="0" tIns="0" rIns="0" bIns="0" rtlCol="0" anchor="ctr"/>
          <a:lstStyle/>
          <a:p>
            <a:pPr indent="0" marL="0">
              <a:buNone/>
            </a:pPr>
            <a:r>
              <a:rPr lang="en-US" sz="1800" b="1" dirty="0">
                <a:solidFill>
                  <a:srgbClr val="0B2A4A"/>
                </a:solidFill>
              </a:rPr>
              <a:t>Đã rõ</a:t>
            </a:r>
            <a:endParaRPr lang="en-US" sz="1800" dirty="0"/>
          </a:p>
        </p:txBody>
      </p:sp>
      <p:sp>
        <p:nvSpPr>
          <p:cNvPr id="7" name="nhan-xet-chu"/>
          <p:cNvSpPr txBox="1"/>
          <p:nvPr/>
        </p:nvSpPr>
        <p:spPr>
          <a:xfrm>
            <a:off x="731520" y="2103120"/>
            <a:ext cx="347472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Xử lý ba tồn tại ở slide trước</a:t>
            </a:r>
            <a:endParaRPr lang="en-US" sz="1600" dirty="0"/>
          </a:p>
          <a:p>
            <a:pPr marL="342900" indent="-342900">
              <a:spcAft>
                <a:spcPts val="800"/>
              </a:spcAft>
              <a:buSzPct val="100000"/>
              <a:buChar char="•"/>
            </a:pPr>
            <a:r>
              <a:rPr lang="en-US" sz="1600" dirty="0">
                <a:solidFill>
                  <a:srgbClr val="1A2433"/>
                </a:solidFill>
              </a:rPr>
              <a:t>Rà lại số liệu chi và bổ sung báo cáo công tác sinh viên</a:t>
            </a:r>
            <a:endParaRPr lang="en-US" sz="1600" dirty="0"/>
          </a:p>
        </p:txBody>
      </p:sp>
      <p:sp>
        <p:nvSpPr>
          <p:cNvPr id="8" name="luu-y"/>
          <p:cNvSpPr/>
          <p:nvPr/>
        </p:nvSpPr>
        <p:spPr>
          <a:xfrm>
            <a:off x="4754880" y="1463040"/>
            <a:ext cx="3840480" cy="2377440"/>
          </a:xfrm>
          <a:prstGeom prst="roundRect">
            <a:avLst>
              <a:gd name="adj" fmla="val 3077"/>
            </a:avLst>
          </a:prstGeom>
          <a:solidFill>
            <a:srgbClr val="FBF1E1"/>
          </a:solidFill>
          <a:ln w="12700">
            <a:solidFill>
              <a:srgbClr val="B8902B"/>
            </a:solidFill>
            <a:prstDash val="solid"/>
          </a:ln>
        </p:spPr>
      </p:sp>
      <p:pic>
        <p:nvPicPr>
          <p:cNvPr id="9" name="bieu-tuong" descr="Biểu tượng">    </p:cNvPr>
          <p:cNvPicPr>
            <a:picLocks noChangeAspect="1"/>
          </p:cNvPicPr>
          <p:nvPr/>
        </p:nvPicPr>
        <p:blipFill>
          <a:blip r:embed="rId2"/>
          <a:stretch>
            <a:fillRect/>
          </a:stretch>
        </p:blipFill>
        <p:spPr>
          <a:xfrm>
            <a:off x="4937760" y="1664208"/>
            <a:ext cx="274320" cy="274320"/>
          </a:xfrm>
          <a:prstGeom prst="rect">
            <a:avLst/>
          </a:prstGeom>
        </p:spPr>
      </p:pic>
      <p:sp>
        <p:nvSpPr>
          <p:cNvPr id="10" name="nhan-xet-tieu-de"/>
          <p:cNvSpPr txBox="1"/>
          <p:nvPr/>
        </p:nvSpPr>
        <p:spPr>
          <a:xfrm>
            <a:off x="5303520" y="1645920"/>
            <a:ext cx="3108960" cy="329184"/>
          </a:xfrm>
          <a:prstGeom prst="rect">
            <a:avLst/>
          </a:prstGeom>
          <a:noFill/>
          <a:ln/>
        </p:spPr>
        <p:txBody>
          <a:bodyPr wrap="square" lIns="0" tIns="0" rIns="0" bIns="0" rtlCol="0" anchor="ctr"/>
          <a:lstStyle/>
          <a:p>
            <a:pPr indent="0" marL="0">
              <a:buNone/>
            </a:pPr>
            <a:r>
              <a:rPr lang="en-US" sz="1800" b="1" dirty="0">
                <a:solidFill>
                  <a:srgbClr val="A23B3B"/>
                </a:solidFill>
              </a:rPr>
              <a:t>Chờ chỉ đạo</a:t>
            </a:r>
            <a:endParaRPr lang="en-US" sz="1800" dirty="0"/>
          </a:p>
        </p:txBody>
      </p:sp>
      <p:sp>
        <p:nvSpPr>
          <p:cNvPr id="11" name="nhan-xet-chu"/>
          <p:cNvSpPr txBox="1"/>
          <p:nvPr/>
        </p:nvSpPr>
        <p:spPr>
          <a:xfrm>
            <a:off x="4937760" y="2103120"/>
            <a:ext cx="347472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A2433"/>
                </a:solidFill>
              </a:rPr>
              <a:t>Chỉ tiêu năm học mới: chờ định hướng của Ban Giám hiệu</a:t>
            </a:r>
            <a:endParaRPr lang="en-US" sz="1600" dirty="0"/>
          </a:p>
          <a:p>
            <a:pPr marL="342900" indent="-342900">
              <a:spcAft>
                <a:spcPts val="800"/>
              </a:spcAft>
              <a:buSzPct val="100000"/>
              <a:buChar char="•"/>
            </a:pPr>
            <a:r>
              <a:rPr lang="en-US" sz="1600" dirty="0">
                <a:solidFill>
                  <a:srgbClr val="1A2433"/>
                </a:solidFill>
              </a:rPr>
              <a:t>Giải pháp trọng tâm: chờ định hướng của Ban Giám hiệu</a:t>
            </a:r>
            <a:endParaRPr lang="en-US" sz="1600" dirty="0"/>
          </a:p>
        </p:txBody>
      </p:sp>
      <p:sp>
        <p:nvSpPr>
          <p:cNvPr id="25" name="Slide Number Placeholder 0"/>
          <p:cNvSpPr>
            <a:spLocks noGrp="1"/>
          </p:cNvSpPr>
          <p:nvPr>
            <p:ph type="sldNum" sz="quarter" idx="4294967295"/>
          </p:nvPr>
        </p:nvSpPr>
        <p:spPr>
          <a:xfrm>
            <a:off x="8138160" y="4727448"/>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1417320"/>
            <a:ext cx="6035040" cy="1554480"/>
          </a:xfrm>
          <a:prstGeom prst="rect">
            <a:avLst/>
          </a:prstGeom>
          <a:noFill/>
          <a:ln/>
        </p:spPr>
        <p:txBody>
          <a:bodyPr wrap="square" lIns="0" tIns="0" rIns="0" bIns="0" rtlCol="0" anchor="b"/>
          <a:lstStyle/>
          <a:p>
            <a:pPr algn="l" indent="0" marL="0">
              <a:buNone/>
            </a:pPr>
            <a:r>
              <a:rPr lang="en-US" sz="3600" b="1" dirty="0">
                <a:solidFill>
                  <a:srgbClr val="FFFFFF"/>
                </a:solidFill>
              </a:rPr>
              <a:t>Trân trọng cảm ơn</a:t>
            </a:r>
            <a:endParaRPr lang="en-US" sz="3600" dirty="0"/>
          </a:p>
        </p:txBody>
      </p:sp>
      <p:sp>
        <p:nvSpPr>
          <p:cNvPr id="3" name="Text 1"/>
          <p:cNvSpPr/>
          <p:nvPr>
            <p:ph idx="103" type="body" hasCustomPrompt="1"/>
          </p:nvPr>
        </p:nvSpPr>
        <p:spPr>
          <a:xfrm>
            <a:off x="548640" y="3154680"/>
            <a:ext cx="6035040" cy="1097280"/>
          </a:xfrm>
          <a:prstGeom prst="rect">
            <a:avLst/>
          </a:prstGeom>
          <a:noFill/>
          <a:ln/>
        </p:spPr>
        <p:txBody>
          <a:bodyPr wrap="square" lIns="0" tIns="0" rIns="0" bIns="0" rtlCol="0" anchor="t"/>
          <a:lstStyle/>
          <a:p>
            <a:pPr algn="l" indent="0" marL="0">
              <a:buNone/>
            </a:pPr>
            <a:r>
              <a:rPr lang="en-US" sz="1800" dirty="0">
                <a:solidFill>
                  <a:srgbClr val="D6E2F0"/>
                </a:solidFill>
              </a:rPr>
              <a:t>Trao đổi và góp ý</a:t>
            </a:r>
            <a:endParaRPr lang="en-US" sz="1800" dirty="0"/>
          </a:p>
        </p:txBody>
      </p:sp>
    </p:spTree>
  </p:cSld>
  <p:clrMapOvr>
    <a:masterClrMapping/>
  </p:clrMapOvr>
</p:sld>
</file>

<file path=ppt/theme/theme1.xml><?xml version="1.0" encoding="utf-8"?>
<a:theme xmlns:a="http://schemas.openxmlformats.org/drawingml/2006/main" name="Dai hoc">
  <a:themeElements>
    <a:clrScheme name="Dai hoc">
      <a:dk1>
        <a:srgbClr val="1A2433"/>
      </a:dk1>
      <a:lt1>
        <a:srgbClr val="FFFFFF"/>
      </a:lt1>
      <a:dk2>
        <a:srgbClr val="0B2A4A"/>
      </a:dk2>
      <a:lt2>
        <a:srgbClr val="F1F4F8"/>
      </a:lt2>
      <a:accent1>
        <a:srgbClr val="1F4E8C"/>
      </a:accent1>
      <a:accent2>
        <a:srgbClr val="B8902B"/>
      </a:accent2>
      <a:accent3>
        <a:srgbClr val="2E7D6B"/>
      </a:accent3>
      <a:accent4>
        <a:srgbClr val="6B7A90"/>
      </a:accent4>
      <a:accent5>
        <a:srgbClr val="A23B3B"/>
      </a:accent5>
      <a:accent6>
        <a:srgbClr val="5B8DB8"/>
      </a:accent6>
      <a:hlink>
        <a:srgbClr val="1F4E8C"/>
      </a:hlink>
      <a:folHlink>
        <a:srgbClr val="6B7A90"/>
      </a:folHlink>
    </a:clrScheme>
    <a:fontScheme name="Dai ho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Tổng kết năm học 2025–2026</dc:title>
  <dc:subject>PptxGenJS Presentation</dc:subject>
  <dc:creator>Trường Đại học Mẫu A (tên mẫu)</dc:creator>
  <cp:lastModifiedBy>Trường Đại học Mẫu A (tên mẫu)</cp:lastModifiedBy>
  <cp:revision>1</cp:revision>
  <dcterms:created xsi:type="dcterms:W3CDTF">2026-10-10T11:36:13Z</dcterms:created>
  <dcterms:modified xsi:type="dcterms:W3CDTF">2026-10-10T11:36:13Z</dcterms:modified>
</cp:coreProperties>
</file>