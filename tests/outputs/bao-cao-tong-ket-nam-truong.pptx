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c029620-b5cb-c96a-cd5f-8d7ff8a97bbd}">
          <p14:sldIdLst>
            <p14:sldId id="256"/>
          </p14:sldIdLst>
        </p14:section>
        <p14:section name="Kết quả" id="{2c0d4822-922d-0e47-3795-6ecd0d3fce4d}">
          <p14:sldIdLst>
            <p14:sldId id="257"/>
            <p14:sldId id="258"/>
            <p14:sldId id="259"/>
            <p14:sldId id="260"/>
            <p14:sldId id="261"/>
          </p14:sldIdLst>
        </p14:section>
        <p14:section name="Tồn tại và phương hướng" id="{a2e38413-f463-84cd-b1de-ba9eab551203}">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Chỉ tiêu</c:v>
                </c:pt>
              </c:strCache>
            </c:strRef>
          </c:tx>
          <c:spPr>
            <a:solidFill>
              <a:srgbClr val="B8C4C3"/>
            </a:solidFill>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Công nghệ thông tin</c:v>
                  </c:pt>
                  <c:pt idx="1">
                    <c:v>Kinh tế</c:v>
                  </c:pt>
                  <c:pt idx="2">
                    <c:v>Ngoại ngữ</c:v>
                  </c:pt>
                  <c:pt idx="3">
                    <c:v>Luật</c:v>
                  </c:pt>
                </c:lvl>
              </c:multiLvlStrCache>
            </c:multiLvlStrRef>
          </c:cat>
          <c:val>
            <c:numRef>
              <c:f>Sheet1!$B$2:$B$5</c:f>
              <c:numCache>
                <c:formatCode>General</c:formatCode>
                <c:ptCount val="4"/>
                <c:pt idx="0">
                  <c:v>600</c:v>
                </c:pt>
                <c:pt idx="1">
                  <c:v>500</c:v>
                </c:pt>
                <c:pt idx="2">
                  <c:v>400</c:v>
                </c:pt>
                <c:pt idx="3">
                  <c:v>300</c:v>
                </c:pt>
              </c:numCache>
            </c:numRef>
          </c:val>
        </c:ser>
        <c:ser>
          <c:idx val="1"/>
          <c:order val="1"/>
          <c:tx>
            <c:strRef>
              <c:f>Sheet1!$C$1</c:f>
              <c:strCache>
                <c:ptCount val="1"/>
                <c:pt idx="0">
                  <c:v>Nhập học</c:v>
                </c:pt>
              </c:strCache>
            </c:strRef>
          </c:tx>
          <c:spPr>
            <a:solidFill>
              <a:srgbClr val="0F6E6E"/>
            </a:solidFill>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Công nghệ thông tin</c:v>
                  </c:pt>
                  <c:pt idx="1">
                    <c:v>Kinh tế</c:v>
                  </c:pt>
                  <c:pt idx="2">
                    <c:v>Ngoại ngữ</c:v>
                  </c:pt>
                  <c:pt idx="3">
                    <c:v>Luật</c:v>
                  </c:pt>
                </c:lvl>
              </c:multiLvlStrCache>
            </c:multiLvlStrRef>
          </c:cat>
          <c:val>
            <c:numRef>
              <c:f>Sheet1!$C$2:$C$5</c:f>
              <c:numCache>
                <c:formatCode>General</c:formatCode>
                <c:ptCount val="4"/>
                <c:pt idx="0">
                  <c:v>571</c:v>
                </c:pt>
                <c:pt idx="1">
                  <c:v>462</c:v>
                </c:pt>
                <c:pt idx="2">
                  <c:v>352</c:v>
                </c:pt>
                <c:pt idx="3">
                  <c:v>257</c:v>
                </c:pt>
              </c:numCache>
            </c:numRef>
          </c:val>
        </c:ser>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9E0DF"/>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Số sinh viên</a:t>
                </a:r>
              </a:p>
            </c:rich>
          </c:tx>
          <c:layout/>
          <c:overlay val="0"/>
        </c:title>
        <c:numFmt formatCode="General" sourceLinked="0"/>
        <c:majorTickMark val="out"/>
        <c:minorTickMark val="none"/>
        <c:tickLblPos val="nextTo"/>
        <c:spPr>
          <a:ln w="12700" cap="flat">
            <a:noFill/>
            <a:prstDash val="solid"/>
            <a:round/>
          </a:ln>
        </c:spPr>
        <c:txPr>
          <a:bodyPr/>
          <a:lstStyle/>
          <a:p>
            <a:pPr>
              <a:defRPr sz="1200" b="0" i="0" u="none" strike="noStrike">
                <a:solidFill>
                  <a:srgbClr val="1B1F2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Tốt nghiệp đúng hạn</c:v>
                </c:pt>
              </c:strCache>
            </c:strRef>
          </c:tx>
          <c:spPr>
            <a:solidFill>
              <a:srgbClr val="0F6E6E"/>
            </a:solidFill>
            <a:ln w="38100" cap="flat">
              <a:solidFill>
                <a:srgbClr val="0F6E6E"/>
              </a:solidFill>
              <a:prstDash val="solid"/>
              <a:round/>
            </a:ln>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marker>
            <c:symbol val="circle"/>
            <c:size val="9"/>
            <c:spPr>
              <a:solidFill>
                <a:srgbClr val="0F6E6E"/>
              </a:solidFill>
              <a:ln w="9525" cap="flat">
                <a:solidFill>
                  <a:srgbClr val="0F6E6E"/>
                </a:solidFill>
                <a:prstDash val="solid"/>
                <a:round/>
              </a:ln>
              <a:effectLst/>
            </c:spPr>
          </c:marker>
          <c:cat>
            <c:multiLvlStrRef>
              <c:f>Sheet1!$A$2:$A$4</c:f>
              <c:multiLvlStrCache>
                <c:ptCount val="3"/>
                <c:lvl>
                  <c:pt idx="0">
                    <c:v>2022–2023</c:v>
                  </c:pt>
                  <c:pt idx="1">
                    <c:v>2023–2024</c:v>
                  </c:pt>
                  <c:pt idx="2">
                    <c:v>2024–2025</c:v>
                  </c:pt>
                </c:lvl>
              </c:multiLvlStrCache>
            </c:multiLvlStrRef>
          </c:cat>
          <c:val>
            <c:numRef>
              <c:f>Sheet1!$B$2:$B$4</c:f>
              <c:numCache>
                <c:formatCode>General</c:formatCode>
                <c:ptCount val="3"/>
                <c:pt idx="0">
                  <c:v>78</c:v>
                </c:pt>
                <c:pt idx="1">
                  <c:v>81</c:v>
                </c:pt>
                <c:pt idx="2">
                  <c:v>84</c:v>
                </c:pt>
              </c:numCache>
            </c:numRef>
          </c:val>
          <c:smooth val="0"/>
        </c:ser>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D9E0DF"/>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 sinh viên</a:t>
                </a:r>
              </a:p>
            </c:rich>
          </c:tx>
          <c:layout/>
          <c:overlay val="0"/>
        </c:title>
        <c:numFmt formatCode="General" sourceLinked="0"/>
        <c:majorTickMark val="out"/>
        <c:minorTickMark val="none"/>
        <c:tickLblPos val="nextTo"/>
        <c:spPr>
          <a:ln w="12700" cap="flat">
            <a:noFill/>
            <a:prstDash val="solid"/>
            <a:round/>
          </a:ln>
        </c:spPr>
        <c:txPr>
          <a:bodyPr/>
          <a:lstStyle/>
          <a:p>
            <a:pPr>
              <a:defRPr sz="1200" b="0" i="0" u="none" strike="noStrike">
                <a:solidFill>
                  <a:srgbClr val="1B1F2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Chi</c:v>
                </c:pt>
              </c:strCache>
            </c:strRef>
          </c:tx>
          <c:spPr>
            <a:solidFill>
              <a:srgbClr val="0F6E6E"/>
            </a:solidFill>
            <a:effectLst/>
          </c:spPr>
          <c:invertIfNegative val="0"/>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Lương và phụ cấp</c:v>
                  </c:pt>
                  <c:pt idx="1">
                    <c:v>Đào tạo</c:v>
                  </c:pt>
                  <c:pt idx="2">
                    <c:v>Cơ sở vật chất</c:v>
                  </c:pt>
                  <c:pt idx="3">
                    <c:v>Khác</c:v>
                  </c:pt>
                </c:lvl>
              </c:multiLvlStrCache>
            </c:multiLvlStrRef>
          </c:cat>
          <c:val>
            <c:numRef>
              <c:f>Sheet1!$B$2:$B$5</c:f>
              <c:numCache>
                <c:formatCode>General</c:formatCode>
                <c:ptCount val="4"/>
                <c:pt idx="0">
                  <c:v>210000</c:v>
                </c:pt>
                <c:pt idx="1">
                  <c:v>98500</c:v>
                </c:pt>
                <c:pt idx="2">
                  <c:v>60000</c:v>
                </c:pt>
                <c:pt idx="3">
                  <c:v>30000</c:v>
                </c:pt>
              </c:numCache>
            </c:numRef>
          </c:val>
        </c:ser>
        <c:dLbls>
          <c:numFmt formatCode="#,##0" sourceLinked="0"/>
          <c:txPr>
            <a:bodyPr/>
            <a:lstStyle/>
            <a:p>
              <a:pPr>
                <a:defRPr b="0" i="0" strike="noStrike" sz="12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in val="0"/>
        </c:scaling>
        <c:delete val="0"/>
        <c:axPos val="b"/>
        <c:majorGridlines>
          <c:spPr>
            <a:ln w="6350" cap="flat">
              <a:solidFill>
                <a:srgbClr val="D9E0DF"/>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Triệu đồng</a:t>
                </a:r>
              </a:p>
            </c:rich>
          </c:tx>
          <c:layout/>
          <c:overlay val="0"/>
        </c:title>
        <c:numFmt formatCode="General" sourceLinked="0"/>
        <c:majorTickMark val="out"/>
        <c:minorTickMark val="none"/>
        <c:tickLblPos val="low"/>
        <c:spPr>
          <a:ln w="12700" cap="flat">
            <a:noFill/>
            <a:prstDash val="solid"/>
            <a:round/>
          </a:ln>
        </c:spPr>
        <c:txPr>
          <a:bodyPr/>
          <a:lstStyle/>
          <a:p>
            <a:pPr>
              <a:defRPr sz="1200" b="0" i="0" u="none" strike="noStrike">
                <a:solidFill>
                  <a:srgbClr val="1B1F2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nêu phạm vi báo cáo gồm đào tạo, tài chính, tồn tại và phương hướng. Báo cáo của Phòng Công tác sinh viên chưa nhận được nên phần này chưa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con số cần nhớ: tỷ lệ nhập học theo chỉ tiêu, tỷ lệ tốt nghiệp đúng hạn năm gần nhất có số liệu, và tổng thu. Mọi số lấy từ báo cáo các đơn vị.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chỉ tiêu và nhập học theo ngành. Luật đạt 85,7%, Ngoại ngữ 88,0%, Kinh tế 92,4%, Công nghệ thông tin 95,2%.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78% lên 84%. Lưu ý: nhận xét trong đầu vào nêu chênh lệch 8 điểm, nhưng tính lại 84 trừ 78 là 6 điểm; slide dùng số tính lại. Năm học 2025–2026 chưa xét tốt nghiệp nên chưa có số liệu, không ghi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cấu chi theo nhóm, đơn vị triệu đồng. Tổng các nhóm là 398.500 triệu đồng, trong khi báo cáo khai tổng chi 400.000 triệu đồng; chênh 1.500 triệu đồng chưa giải thích, đề nghị Phòng Kế hoạch – Tài chính rà lại trước hội nghị.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Phòng Công tác sinh viên chưa gửi báo cáo, nên slide này chưa có nội dung. Không điền số liệu thay đơn vị; cập nhật khi nhận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tồn tại đi kèm nguyên nhân do đơn vị nêu. Trình bày thẳng, không giảm nhẹ.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Đầu vào không có định hướng chung của Ban Giám hiệu, nên chưa nêu chỉ tiêu hay giải pháp mới. Chỉ ghi các việc hiển nhiên từ tồn tại; cập nhật khi có chỉ đạo.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phần trình bày. Dành thời gian cho các đơn vị góp ý, ghi nhận các ý kiến để bổ sung báo cáo công tác sinh viên và rà lại số liệu 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3D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Text 0"/>
          <p:cNvSpPr/>
          <p:nvPr>
            <p:ph idx="101" type="body" hasCustomPrompt="1"/>
          </p:nvPr>
        </p:nvSpPr>
        <p:spPr>
          <a:xfrm>
            <a:off x="548640" y="2926080"/>
            <a:ext cx="8046720" cy="914400"/>
          </a:xfrm>
          <a:prstGeom prst="rect">
            <a:avLst/>
          </a:prstGeom>
          <a:noFill/>
          <a:ln/>
        </p:spPr>
        <p:txBody>
          <a:bodyPr wrap="square" rtlCol="0"/>
          <a:lstStyle>
            <a:lvl1pPr algn="l" indent="0" marL="0">
              <a:buNone/>
              <a:defRPr lang="en-US" sz="1800" dirty="0">
                <a:solidFill>
                  <a:srgbClr val="CFE3E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rtlCol="0"/>
          <a:lstStyle>
            <a:lvl1pPr algn="l" indent="0" marL="0">
              <a:buNone/>
              <a:defRPr lang="en-US" sz="2800" b="1" dirty="0">
                <a:solidFill>
                  <a:srgbClr val="0F3D3E"/>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lIns="0" tIns="0" rIns="0" bIns="0" rtlCol="0" anchor="b"/>
          <a:lstStyle/>
          <a:p>
            <a:pPr algn="l" indent="0" marL="0">
              <a:buNone/>
            </a:pPr>
            <a:r>
              <a:rPr lang="en-US" sz="3600" b="1" dirty="0">
                <a:solidFill>
                  <a:srgbClr val="FFFFFF"/>
                </a:solidFill>
              </a:rPr>
              <a:t>Tổng kết năm học 2025–2026</a:t>
            </a:r>
            <a:endParaRPr lang="en-US" sz="3600" dirty="0"/>
          </a:p>
        </p:txBody>
      </p:sp>
      <p:sp>
        <p:nvSpPr>
          <p:cNvPr id="3" name="Text 0"/>
          <p:cNvSpPr/>
          <p:nvPr>
            <p:ph idx="101" type="body" hasCustomPrompt="1"/>
          </p:nvPr>
        </p:nvSpPr>
        <p:spPr>
          <a:xfrm>
            <a:off x="548640" y="2926080"/>
            <a:ext cx="8046720" cy="914400"/>
          </a:xfrm>
          <a:prstGeom prst="rect">
            <a:avLst/>
          </a:prstGeom>
          <a:noFill/>
          <a:ln/>
        </p:spPr>
        <p:txBody>
          <a:bodyPr wrap="square" lIns="0" tIns="0" rIns="0" bIns="0" rtlCol="0" anchor="t"/>
          <a:lstStyle/>
          <a:p>
            <a:pPr algn="l" indent="0" marL="0">
              <a:buNone/>
            </a:pPr>
            <a:r>
              <a:rPr lang="en-US" sz="1800" dirty="0">
                <a:solidFill>
                  <a:srgbClr val="CFE3E1"/>
                </a:solidFill>
              </a:rPr>
              <a:t>Hội nghị tổng kết · Trường Đại học Mẫu A (tên mẫu)</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Năm học 2025–2026 nhập học đạt 91,2% chỉ tiêu</a:t>
            </a:r>
            <a:endParaRPr lang="en-US" sz="2800" dirty="0"/>
          </a:p>
        </p:txBody>
      </p:sp>
      <p:sp>
        <p:nvSpPr>
          <p:cNvPr id="4" name="the"/>
          <p:cNvSpPr/>
          <p:nvPr/>
        </p:nvSpPr>
        <p:spPr>
          <a:xfrm>
            <a:off x="457200" y="1371600"/>
            <a:ext cx="2606040" cy="1737360"/>
          </a:xfrm>
          <a:prstGeom prst="roundRect">
            <a:avLst>
              <a:gd name="adj" fmla="val 5263"/>
            </a:avLst>
          </a:prstGeom>
          <a:solidFill>
            <a:srgbClr val="EEF3F2"/>
          </a:solidFill>
          <a:ln w="12700">
            <a:solidFill>
              <a:srgbClr val="EEF3F2"/>
            </a:solidFill>
            <a:prstDash val="solid"/>
          </a:ln>
        </p:spPr>
      </p:sp>
      <p:sp>
        <p:nvSpPr>
          <p:cNvPr id="5" name="so-lieu"/>
          <p:cNvSpPr txBox="1"/>
          <p:nvPr/>
        </p:nvSpPr>
        <p:spPr>
          <a:xfrm>
            <a:off x="594360" y="1508760"/>
            <a:ext cx="2331720" cy="822960"/>
          </a:xfrm>
          <a:prstGeom prst="rect">
            <a:avLst/>
          </a:prstGeom>
          <a:noFill/>
          <a:ln/>
        </p:spPr>
        <p:txBody>
          <a:bodyPr wrap="square" lIns="0" tIns="0" rIns="0" bIns="0" rtlCol="0" anchor="ctr"/>
          <a:lstStyle/>
          <a:p>
            <a:pPr indent="0" marL="0">
              <a:buNone/>
            </a:pPr>
            <a:r>
              <a:rPr lang="en-US" sz="4000" b="1" dirty="0">
                <a:solidFill>
                  <a:srgbClr val="0F6E6E"/>
                </a:solidFill>
                <a:latin typeface="Cambria" pitchFamily="34" charset="0"/>
                <a:ea typeface="Cambria" pitchFamily="34" charset="-122"/>
                <a:cs typeface="Cambria" pitchFamily="34" charset="-120"/>
              </a:rPr>
              <a:t>91,2%</a:t>
            </a:r>
            <a:endParaRPr lang="en-US" sz="4000" dirty="0"/>
          </a:p>
        </p:txBody>
      </p:sp>
      <p:sp>
        <p:nvSpPr>
          <p:cNvPr id="6" name="nhan"/>
          <p:cNvSpPr txBox="1"/>
          <p:nvPr/>
        </p:nvSpPr>
        <p:spPr>
          <a:xfrm>
            <a:off x="594360" y="2331720"/>
            <a:ext cx="2331720" cy="685800"/>
          </a:xfrm>
          <a:prstGeom prst="rect">
            <a:avLst/>
          </a:prstGeom>
          <a:noFill/>
          <a:ln/>
        </p:spPr>
        <p:txBody>
          <a:bodyPr wrap="square" lIns="0" tIns="0" rIns="0" bIns="0" rtlCol="0" anchor="t"/>
          <a:lstStyle/>
          <a:p>
            <a:pPr indent="0" marL="0">
              <a:buNone/>
            </a:pPr>
            <a:r>
              <a:rPr lang="en-US" sz="1400" dirty="0">
                <a:solidFill>
                  <a:srgbClr val="1B1F2A"/>
                </a:solidFill>
              </a:rPr>
              <a:t>nhập học 1.642 trên chỉ tiêu 1.800</a:t>
            </a:r>
            <a:endParaRPr lang="en-US" sz="1400" dirty="0"/>
          </a:p>
        </p:txBody>
      </p:sp>
      <p:sp>
        <p:nvSpPr>
          <p:cNvPr id="7" name="the"/>
          <p:cNvSpPr/>
          <p:nvPr/>
        </p:nvSpPr>
        <p:spPr>
          <a:xfrm>
            <a:off x="3268980" y="1371600"/>
            <a:ext cx="2606040" cy="1737360"/>
          </a:xfrm>
          <a:prstGeom prst="roundRect">
            <a:avLst>
              <a:gd name="adj" fmla="val 5263"/>
            </a:avLst>
          </a:prstGeom>
          <a:solidFill>
            <a:srgbClr val="EEF3F2"/>
          </a:solidFill>
          <a:ln w="12700">
            <a:solidFill>
              <a:srgbClr val="EEF3F2"/>
            </a:solidFill>
            <a:prstDash val="solid"/>
          </a:ln>
        </p:spPr>
      </p:sp>
      <p:sp>
        <p:nvSpPr>
          <p:cNvPr id="8" name="so-lieu"/>
          <p:cNvSpPr txBox="1"/>
          <p:nvPr/>
        </p:nvSpPr>
        <p:spPr>
          <a:xfrm>
            <a:off x="3406140" y="1508760"/>
            <a:ext cx="2331720" cy="822960"/>
          </a:xfrm>
          <a:prstGeom prst="rect">
            <a:avLst/>
          </a:prstGeom>
          <a:noFill/>
          <a:ln/>
        </p:spPr>
        <p:txBody>
          <a:bodyPr wrap="square" lIns="0" tIns="0" rIns="0" bIns="0" rtlCol="0" anchor="ctr"/>
          <a:lstStyle/>
          <a:p>
            <a:pPr indent="0" marL="0">
              <a:buNone/>
            </a:pPr>
            <a:r>
              <a:rPr lang="en-US" sz="4000" b="1" dirty="0">
                <a:solidFill>
                  <a:srgbClr val="D9822B"/>
                </a:solidFill>
                <a:latin typeface="Cambria" pitchFamily="34" charset="0"/>
                <a:ea typeface="Cambria" pitchFamily="34" charset="-122"/>
                <a:cs typeface="Cambria" pitchFamily="34" charset="-120"/>
              </a:rPr>
              <a:t>84%</a:t>
            </a:r>
            <a:endParaRPr lang="en-US" sz="4000" dirty="0"/>
          </a:p>
        </p:txBody>
      </p:sp>
      <p:sp>
        <p:nvSpPr>
          <p:cNvPr id="9" name="nhan"/>
          <p:cNvSpPr txBox="1"/>
          <p:nvPr/>
        </p:nvSpPr>
        <p:spPr>
          <a:xfrm>
            <a:off x="3406140" y="2331720"/>
            <a:ext cx="2331720" cy="685800"/>
          </a:xfrm>
          <a:prstGeom prst="rect">
            <a:avLst/>
          </a:prstGeom>
          <a:noFill/>
          <a:ln/>
        </p:spPr>
        <p:txBody>
          <a:bodyPr wrap="square" lIns="0" tIns="0" rIns="0" bIns="0" rtlCol="0" anchor="t"/>
          <a:lstStyle/>
          <a:p>
            <a:pPr indent="0" marL="0">
              <a:buNone/>
            </a:pPr>
            <a:r>
              <a:rPr lang="en-US" sz="1400" dirty="0">
                <a:solidFill>
                  <a:srgbClr val="1B1F2A"/>
                </a:solidFill>
              </a:rPr>
              <a:t>tốt nghiệp đúng hạn, năm học 2024–2025 (năm gần nhất có số liệu)</a:t>
            </a:r>
            <a:endParaRPr lang="en-US" sz="1400" dirty="0"/>
          </a:p>
        </p:txBody>
      </p:sp>
      <p:sp>
        <p:nvSpPr>
          <p:cNvPr id="10" name="the"/>
          <p:cNvSpPr/>
          <p:nvPr/>
        </p:nvSpPr>
        <p:spPr>
          <a:xfrm>
            <a:off x="6080760" y="1371600"/>
            <a:ext cx="2606040" cy="1737360"/>
          </a:xfrm>
          <a:prstGeom prst="roundRect">
            <a:avLst>
              <a:gd name="adj" fmla="val 5263"/>
            </a:avLst>
          </a:prstGeom>
          <a:solidFill>
            <a:srgbClr val="EEF3F2"/>
          </a:solidFill>
          <a:ln w="12700">
            <a:solidFill>
              <a:srgbClr val="EEF3F2"/>
            </a:solidFill>
            <a:prstDash val="solid"/>
          </a:ln>
        </p:spPr>
      </p:sp>
      <p:sp>
        <p:nvSpPr>
          <p:cNvPr id="11" name="so-lieu"/>
          <p:cNvSpPr txBox="1"/>
          <p:nvPr/>
        </p:nvSpPr>
        <p:spPr>
          <a:xfrm>
            <a:off x="6217920" y="1508760"/>
            <a:ext cx="2331720" cy="822960"/>
          </a:xfrm>
          <a:prstGeom prst="rect">
            <a:avLst/>
          </a:prstGeom>
          <a:noFill/>
          <a:ln/>
        </p:spPr>
        <p:txBody>
          <a:bodyPr wrap="square" lIns="0" tIns="0" rIns="0" bIns="0" rtlCol="0" anchor="ctr"/>
          <a:lstStyle/>
          <a:p>
            <a:pPr indent="0" marL="0">
              <a:buNone/>
            </a:pPr>
            <a:r>
              <a:rPr lang="en-US" sz="4000" b="1" dirty="0">
                <a:solidFill>
                  <a:srgbClr val="0F6E6E"/>
                </a:solidFill>
                <a:latin typeface="Cambria" pitchFamily="34" charset="0"/>
                <a:ea typeface="Cambria" pitchFamily="34" charset="-122"/>
                <a:cs typeface="Cambria" pitchFamily="34" charset="-120"/>
              </a:rPr>
              <a:t>412.000</a:t>
            </a:r>
            <a:endParaRPr lang="en-US" sz="4000" dirty="0"/>
          </a:p>
        </p:txBody>
      </p:sp>
      <p:sp>
        <p:nvSpPr>
          <p:cNvPr id="12" name="nhan"/>
          <p:cNvSpPr txBox="1"/>
          <p:nvPr/>
        </p:nvSpPr>
        <p:spPr>
          <a:xfrm>
            <a:off x="6217920" y="2331720"/>
            <a:ext cx="2331720" cy="685800"/>
          </a:xfrm>
          <a:prstGeom prst="rect">
            <a:avLst/>
          </a:prstGeom>
          <a:noFill/>
          <a:ln/>
        </p:spPr>
        <p:txBody>
          <a:bodyPr wrap="square" lIns="0" tIns="0" rIns="0" bIns="0" rtlCol="0" anchor="t"/>
          <a:lstStyle/>
          <a:p>
            <a:pPr indent="0" marL="0">
              <a:buNone/>
            </a:pPr>
            <a:r>
              <a:rPr lang="en-US" sz="1400" dirty="0">
                <a:solidFill>
                  <a:srgbClr val="1B1F2A"/>
                </a:solidFill>
              </a:rPr>
              <a:t>triệu đồng tổng thu năm học</a:t>
            </a:r>
            <a:endParaRPr lang="en-US" sz="1400" dirty="0"/>
          </a:p>
        </p:txBody>
      </p:sp>
      <p:sp>
        <p:nvSpPr>
          <p:cNvPr id="13" name="nguon"/>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i="1" dirty="0">
                <a:solidFill>
                  <a:srgbClr val="5A6666"/>
                </a:solidFill>
              </a:rPr>
              <a:t>Nguồn: báo cáo Phòng Đào tạo và Phòng Kế hoạch – Tài chính, năm học 2025–2026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Ngành Luật nhập học thấp nhất so với chỉ tiêu</a:t>
            </a:r>
            <a:endParaRPr lang="en-US" sz="2800" dirty="0"/>
          </a:p>
        </p:txBody>
      </p:sp>
      <p:graphicFrame>
        <p:nvGraphicFramePr>
          <p:cNvPr id="4" name="bieu-do" descr=""/>
          <p:cNvGraphicFramePr/>
          <p:nvPr/>
        </p:nvGraphicFramePr>
        <p:xfrm>
          <a:off x="457200" y="1234440"/>
          <a:ext cx="8229600" cy="3291840"/>
        </p:xfrm>
        <a:graphic xmlns:a="http://schemas.openxmlformats.org/drawingml/2006/main">
          <a:graphicData uri="http://schemas.openxmlformats.org/drawingml/2006/chart">
            <c:chart xmlns:c="http://schemas.openxmlformats.org/drawingml/2006/chart" r:id="rId1"/>
          </a:graphicData>
        </a:graphic>
      </p:graphicFrame>
      <p:sp>
        <p:nvSpPr>
          <p:cNvPr id="5" name="nguon"/>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i="1" dirty="0">
                <a:solidFill>
                  <a:srgbClr val="5A6666"/>
                </a:solidFill>
              </a:rPr>
              <a:t>Nguồn: báo cáo Phòng Đào tạo, năm học 2025–2026</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Tốt nghiệp đúng hạn tăng 6 điểm phần trăm sau hai năm</a:t>
            </a:r>
            <a:endParaRPr lang="en-US" sz="2800" dirty="0"/>
          </a:p>
        </p:txBody>
      </p:sp>
      <p:graphicFrame>
        <p:nvGraphicFramePr>
          <p:cNvPr id="4" name="bieu-do" descr=""/>
          <p:cNvGraphicFramePr/>
          <p:nvPr/>
        </p:nvGraphicFramePr>
        <p:xfrm>
          <a:off x="457200" y="1234440"/>
          <a:ext cx="5669280" cy="3291840"/>
        </p:xfrm>
        <a:graphic xmlns:a="http://schemas.openxmlformats.org/drawingml/2006/main">
          <a:graphicData uri="http://schemas.openxmlformats.org/drawingml/2006/chart">
            <c:chart xmlns:c="http://schemas.openxmlformats.org/drawingml/2006/chart" r:id="rId1"/>
          </a:graphicData>
        </a:graphic>
      </p:graphicFrame>
      <p:sp>
        <p:nvSpPr>
          <p:cNvPr id="5" name="ghi-chu"/>
          <p:cNvSpPr txBox="1"/>
          <p:nvPr/>
        </p:nvSpPr>
        <p:spPr>
          <a:xfrm>
            <a:off x="6400800" y="1737360"/>
            <a:ext cx="2286000" cy="1463040"/>
          </a:xfrm>
          <a:prstGeom prst="rect">
            <a:avLst/>
          </a:prstGeom>
          <a:noFill/>
          <a:ln/>
        </p:spPr>
        <p:txBody>
          <a:bodyPr wrap="square" lIns="0" tIns="0" rIns="0" bIns="0" rtlCol="0" anchor="t"/>
          <a:lstStyle/>
          <a:p>
            <a:pPr indent="0" marL="0">
              <a:buNone/>
            </a:pPr>
            <a:r>
              <a:rPr lang="en-US" sz="1800" b="1" dirty="0">
                <a:solidFill>
                  <a:srgbClr val="1B1F2A"/>
                </a:solidFill>
              </a:rPr>
              <a:t>2025–2026</a:t>
            </a:r>
            <a:endParaRPr lang="en-US" sz="1800" dirty="0"/>
          </a:p>
          <a:p>
            <a:pPr indent="0" marL="0">
              <a:buNone/>
            </a:pPr>
            <a:r>
              <a:rPr lang="en-US" sz="1600" dirty="0">
                <a:solidFill>
                  <a:srgbClr val="1B1F2A"/>
                </a:solidFill>
              </a:rPr>
              <a:t>Chưa có số liệu: năm học chưa xét tốt nghiệp</a:t>
            </a:r>
            <a:endParaRPr lang="en-US" sz="1800" dirty="0"/>
          </a:p>
        </p:txBody>
      </p:sp>
      <p:sp>
        <p:nvSpPr>
          <p:cNvPr id="6" name="nguon"/>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i="1" dirty="0">
                <a:solidFill>
                  <a:srgbClr val="5A6666"/>
                </a:solidFill>
              </a:rPr>
              <a:t>Nguồn: báo cáo Phòng Đào tạo. Năm học 2025–2026 chưa có số liệu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Lương và phụ cấp chiếm hơn một nửa chi</a:t>
            </a:r>
            <a:endParaRPr lang="en-US" sz="2800" dirty="0"/>
          </a:p>
        </p:txBody>
      </p:sp>
      <p:graphicFrame>
        <p:nvGraphicFramePr>
          <p:cNvPr id="4" name="bieu-do" descr=""/>
          <p:cNvGraphicFramePr/>
          <p:nvPr/>
        </p:nvGraphicFramePr>
        <p:xfrm>
          <a:off x="457200" y="1234440"/>
          <a:ext cx="5486400" cy="3291840"/>
        </p:xfrm>
        <a:graphic xmlns:a="http://schemas.openxmlformats.org/drawingml/2006/main">
          <a:graphicData uri="http://schemas.openxmlformats.org/drawingml/2006/chart">
            <c:chart xmlns:c="http://schemas.openxmlformats.org/drawingml/2006/chart" r:id="rId1"/>
          </a:graphicData>
        </a:graphic>
      </p:graphicFrame>
      <p:sp>
        <p:nvSpPr>
          <p:cNvPr id="5" name="luu-y"/>
          <p:cNvSpPr/>
          <p:nvPr/>
        </p:nvSpPr>
        <p:spPr>
          <a:xfrm>
            <a:off x="6217920" y="1737360"/>
            <a:ext cx="2468880" cy="1920240"/>
          </a:xfrm>
          <a:prstGeom prst="roundRect">
            <a:avLst>
              <a:gd name="adj" fmla="val 4762"/>
            </a:avLst>
          </a:prstGeom>
          <a:solidFill>
            <a:srgbClr val="FBEEDD"/>
          </a:solidFill>
          <a:ln w="12700">
            <a:solidFill>
              <a:srgbClr val="D9822B"/>
            </a:solidFill>
            <a:prstDash val="solid"/>
          </a:ln>
        </p:spPr>
      </p:sp>
      <p:sp>
        <p:nvSpPr>
          <p:cNvPr id="6" name="luu-y-chu"/>
          <p:cNvSpPr txBox="1"/>
          <p:nvPr/>
        </p:nvSpPr>
        <p:spPr>
          <a:xfrm>
            <a:off x="6355080" y="1828800"/>
            <a:ext cx="2194560" cy="1737360"/>
          </a:xfrm>
          <a:prstGeom prst="rect">
            <a:avLst/>
          </a:prstGeom>
          <a:noFill/>
          <a:ln/>
        </p:spPr>
        <p:txBody>
          <a:bodyPr wrap="square" lIns="0" tIns="0" rIns="0" bIns="0" rtlCol="0" anchor="t"/>
          <a:lstStyle/>
          <a:p>
            <a:pPr indent="0" marL="0">
              <a:buNone/>
            </a:pPr>
            <a:r>
              <a:rPr lang="en-US" sz="1600" b="1" dirty="0">
                <a:solidFill>
                  <a:srgbClr val="1B1F2A"/>
                </a:solidFill>
              </a:rPr>
              <a:t>Cần rà lại</a:t>
            </a:r>
            <a:endParaRPr lang="en-US" sz="1600" dirty="0"/>
          </a:p>
          <a:p>
            <a:pPr indent="0" marL="0">
              <a:buNone/>
            </a:pPr>
            <a:r>
              <a:rPr lang="en-US" sz="1400" dirty="0">
                <a:solidFill>
                  <a:srgbClr val="1B1F2A"/>
                </a:solidFill>
              </a:rPr>
              <a:t>Cộng các nhóm: 398.500. Báo cáo khai: 400.000.</a:t>
            </a:r>
            <a:endParaRPr lang="en-US" sz="1600" dirty="0"/>
          </a:p>
        </p:txBody>
      </p:sp>
      <p:sp>
        <p:nvSpPr>
          <p:cNvPr id="7" name="nguon"/>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i="1" dirty="0">
                <a:solidFill>
                  <a:srgbClr val="5A6666"/>
                </a:solidFill>
              </a:rPr>
              <a:t>Nguồn: báo cáo Phòng Kế hoạch – Tài chính, năm học 2025–2026 (đơn vị: triệu đồng)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Công tác sinh viên: đang chờ báo cáo của đơn vị</a:t>
            </a:r>
            <a:endParaRPr lang="en-US" sz="2800" dirty="0"/>
          </a:p>
        </p:txBody>
      </p:sp>
      <p:sp>
        <p:nvSpPr>
          <p:cNvPr id="4" name="cho-bao-cao"/>
          <p:cNvSpPr/>
          <p:nvPr/>
        </p:nvSpPr>
        <p:spPr>
          <a:xfrm>
            <a:off x="1371600" y="1737360"/>
            <a:ext cx="6400800" cy="2011680"/>
          </a:xfrm>
          <a:prstGeom prst="roundRect">
            <a:avLst>
              <a:gd name="adj" fmla="val 4545"/>
            </a:avLst>
          </a:prstGeom>
          <a:solidFill>
            <a:srgbClr val="EEF3F2"/>
          </a:solidFill>
          <a:ln w="12700">
            <a:solidFill>
              <a:srgbClr val="B8C4C3"/>
            </a:solidFill>
            <a:prstDash val="solid"/>
          </a:ln>
        </p:spPr>
      </p:sp>
      <p:sp>
        <p:nvSpPr>
          <p:cNvPr id="5" name="cho-bao-cao-chu"/>
          <p:cNvSpPr txBox="1"/>
          <p:nvPr/>
        </p:nvSpPr>
        <p:spPr>
          <a:xfrm>
            <a:off x="1645920" y="1920240"/>
            <a:ext cx="5852160" cy="1645920"/>
          </a:xfrm>
          <a:prstGeom prst="rect">
            <a:avLst/>
          </a:prstGeom>
          <a:noFill/>
          <a:ln/>
        </p:spPr>
        <p:txBody>
          <a:bodyPr wrap="square" lIns="0" tIns="0" rIns="0" bIns="0" rtlCol="0" anchor="ctr"/>
          <a:lstStyle/>
          <a:p>
            <a:pPr indent="0" marL="0">
              <a:buNone/>
            </a:pPr>
            <a:r>
              <a:rPr lang="en-US" sz="2000" dirty="0">
                <a:solidFill>
                  <a:srgbClr val="1B1F2A"/>
                </a:solidFill>
              </a:rPr>
              <a:t>Chưa nhận được báo cáo của Phòng Công tác sinh viên. Nội dung sẽ được bổ sung khi có số liệu.</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Ba tồn tại chính cần xử lý năm học tới</a:t>
            </a:r>
            <a:endParaRPr lang="en-US" sz="2800" dirty="0"/>
          </a:p>
        </p:txBody>
      </p:sp>
      <p:sp>
        <p:nvSpPr>
          <p:cNvPr id="4" name="so-thu-tu"/>
          <p:cNvSpPr/>
          <p:nvPr/>
        </p:nvSpPr>
        <p:spPr>
          <a:xfrm>
            <a:off x="457200" y="1417320"/>
            <a:ext cx="640080" cy="640080"/>
          </a:xfrm>
          <a:prstGeom prst="ellipse">
            <a:avLst/>
          </a:prstGeom>
          <a:solidFill>
            <a:srgbClr val="0F6E6E"/>
          </a:solidFill>
          <a:ln w="12700">
            <a:solidFill>
              <a:srgbClr val="0F6E6E"/>
            </a:solidFill>
            <a:prstDash val="solid"/>
          </a:ln>
        </p:spPr>
      </p:sp>
      <p:sp>
        <p:nvSpPr>
          <p:cNvPr id="5" name="so-thu-tu-chu"/>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on-tai"/>
          <p:cNvSpPr txBox="1"/>
          <p:nvPr/>
        </p:nvSpPr>
        <p:spPr>
          <a:xfrm>
            <a:off x="1325880" y="1325880"/>
            <a:ext cx="7315200" cy="914400"/>
          </a:xfrm>
          <a:prstGeom prst="rect">
            <a:avLst/>
          </a:prstGeom>
          <a:noFill/>
          <a:ln/>
        </p:spPr>
        <p:txBody>
          <a:bodyPr wrap="square" lIns="0" tIns="0" rIns="0" bIns="0" rtlCol="0" anchor="ctr"/>
          <a:lstStyle/>
          <a:p>
            <a:pPr indent="0" marL="0">
              <a:buNone/>
            </a:pPr>
            <a:r>
              <a:rPr lang="en-US" sz="1800" b="1" dirty="0">
                <a:solidFill>
                  <a:srgbClr val="1B1F2A"/>
                </a:solidFill>
              </a:rPr>
              <a:t>Cơ sở vật chất giảng đường chưa đáp ứng giờ cao điểm</a:t>
            </a:r>
            <a:endParaRPr lang="en-US" sz="1800" dirty="0"/>
          </a:p>
          <a:p>
            <a:pPr indent="0" marL="0">
              <a:buNone/>
            </a:pPr>
            <a:r>
              <a:rPr lang="en-US" sz="1400" dirty="0">
                <a:solidFill>
                  <a:srgbClr val="4A5656"/>
                </a:solidFill>
              </a:rPr>
              <a:t>Nguyên nhân: Số phòng học không tăng trong khi quy mô tăng</a:t>
            </a:r>
            <a:endParaRPr lang="en-US" sz="1800" dirty="0"/>
          </a:p>
        </p:txBody>
      </p:sp>
      <p:sp>
        <p:nvSpPr>
          <p:cNvPr id="7" name="so-thu-tu"/>
          <p:cNvSpPr/>
          <p:nvPr/>
        </p:nvSpPr>
        <p:spPr>
          <a:xfrm>
            <a:off x="457200" y="2496312"/>
            <a:ext cx="640080" cy="640080"/>
          </a:xfrm>
          <a:prstGeom prst="ellipse">
            <a:avLst/>
          </a:prstGeom>
          <a:solidFill>
            <a:srgbClr val="0F6E6E"/>
          </a:solidFill>
          <a:ln w="12700">
            <a:solidFill>
              <a:srgbClr val="0F6E6E"/>
            </a:solidFill>
            <a:prstDash val="solid"/>
          </a:ln>
        </p:spPr>
      </p:sp>
      <p:sp>
        <p:nvSpPr>
          <p:cNvPr id="8" name="so-thu-tu-chu"/>
          <p:cNvSpPr txBox="1"/>
          <p:nvPr/>
        </p:nvSpPr>
        <p:spPr>
          <a:xfrm>
            <a:off x="457200" y="24963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on-tai"/>
          <p:cNvSpPr txBox="1"/>
          <p:nvPr/>
        </p:nvSpPr>
        <p:spPr>
          <a:xfrm>
            <a:off x="1325880" y="2404872"/>
            <a:ext cx="7315200" cy="914400"/>
          </a:xfrm>
          <a:prstGeom prst="rect">
            <a:avLst/>
          </a:prstGeom>
          <a:noFill/>
          <a:ln/>
        </p:spPr>
        <p:txBody>
          <a:bodyPr wrap="square" lIns="0" tIns="0" rIns="0" bIns="0" rtlCol="0" anchor="ctr"/>
          <a:lstStyle/>
          <a:p>
            <a:pPr indent="0" marL="0">
              <a:buNone/>
            </a:pPr>
            <a:r>
              <a:rPr lang="en-US" sz="1800" b="1" dirty="0">
                <a:solidFill>
                  <a:srgbClr val="1B1F2A"/>
                </a:solidFill>
              </a:rPr>
              <a:t>Tỷ lệ nhập học Luật còn thấp</a:t>
            </a:r>
            <a:endParaRPr lang="en-US" sz="1800" dirty="0"/>
          </a:p>
          <a:p>
            <a:pPr indent="0" marL="0">
              <a:buNone/>
            </a:pPr>
            <a:r>
              <a:rPr lang="en-US" sz="1400" dirty="0">
                <a:solidFill>
                  <a:srgbClr val="4A5656"/>
                </a:solidFill>
              </a:rPr>
              <a:t>Nguyên nhân: Chưa có kênh tư vấn riêng cho ngành</a:t>
            </a:r>
            <a:endParaRPr lang="en-US" sz="1800" dirty="0"/>
          </a:p>
        </p:txBody>
      </p:sp>
      <p:sp>
        <p:nvSpPr>
          <p:cNvPr id="10" name="so-thu-tu"/>
          <p:cNvSpPr/>
          <p:nvPr/>
        </p:nvSpPr>
        <p:spPr>
          <a:xfrm>
            <a:off x="457200" y="3575304"/>
            <a:ext cx="640080" cy="640080"/>
          </a:xfrm>
          <a:prstGeom prst="ellipse">
            <a:avLst/>
          </a:prstGeom>
          <a:solidFill>
            <a:srgbClr val="0F6E6E"/>
          </a:solidFill>
          <a:ln w="12700">
            <a:solidFill>
              <a:srgbClr val="0F6E6E"/>
            </a:solidFill>
            <a:prstDash val="solid"/>
          </a:ln>
        </p:spPr>
      </p:sp>
      <p:sp>
        <p:nvSpPr>
          <p:cNvPr id="11" name="so-thu-tu-chu"/>
          <p:cNvSpPr txBox="1"/>
          <p:nvPr/>
        </p:nvSpPr>
        <p:spPr>
          <a:xfrm>
            <a:off x="457200" y="3575304"/>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on-tai"/>
          <p:cNvSpPr txBox="1"/>
          <p:nvPr/>
        </p:nvSpPr>
        <p:spPr>
          <a:xfrm>
            <a:off x="1325880" y="3483864"/>
            <a:ext cx="7315200" cy="914400"/>
          </a:xfrm>
          <a:prstGeom prst="rect">
            <a:avLst/>
          </a:prstGeom>
          <a:noFill/>
          <a:ln/>
        </p:spPr>
        <p:txBody>
          <a:bodyPr wrap="square" lIns="0" tIns="0" rIns="0" bIns="0" rtlCol="0" anchor="ctr"/>
          <a:lstStyle/>
          <a:p>
            <a:pPr indent="0" marL="0">
              <a:buNone/>
            </a:pPr>
            <a:r>
              <a:rPr lang="en-US" sz="1800" b="1" dirty="0">
                <a:solidFill>
                  <a:srgbClr val="1B1F2A"/>
                </a:solidFill>
              </a:rPr>
              <a:t>Báo cáo đơn vị nộp chậm</a:t>
            </a:r>
            <a:endParaRPr lang="en-US" sz="1800" dirty="0"/>
          </a:p>
          <a:p>
            <a:pPr indent="0" marL="0">
              <a:buNone/>
            </a:pPr>
            <a:r>
              <a:rPr lang="en-US" sz="1400" dirty="0">
                <a:solidFill>
                  <a:srgbClr val="4A5656"/>
                </a:solidFill>
              </a:rPr>
              <a:t>Nguyên nhân: Chưa có mốc nộp thống nhất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68680"/>
          </a:xfrm>
          <a:prstGeom prst="rect">
            <a:avLst/>
          </a:prstGeom>
          <a:noFill/>
          <a:ln/>
        </p:spPr>
        <p:txBody>
          <a:bodyPr wrap="square" lIns="0" tIns="0" rIns="0" bIns="0" rtlCol="0" anchor="ctr"/>
          <a:lstStyle/>
          <a:p>
            <a:pPr algn="l" indent="0" marL="0">
              <a:buNone/>
            </a:pPr>
            <a:r>
              <a:rPr lang="en-US" sz="2800" b="1" dirty="0">
                <a:solidFill>
                  <a:srgbClr val="0F3D3E"/>
                </a:solidFill>
              </a:rPr>
              <a:t>Phương hướng năm học tới: chờ định hướng của Ban Giám hiệu</a:t>
            </a:r>
            <a:endParaRPr lang="en-US" sz="2800" dirty="0"/>
          </a:p>
        </p:txBody>
      </p:sp>
      <p:sp>
        <p:nvSpPr>
          <p:cNvPr id="4" name="noi-dung"/>
          <p:cNvSpPr txBox="1"/>
          <p:nvPr/>
        </p:nvSpPr>
        <p:spPr>
          <a:xfrm>
            <a:off x="457200" y="1463040"/>
            <a:ext cx="8229600" cy="219456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1B1F2A"/>
                </a:solidFill>
              </a:rPr>
              <a:t>Giải quyết ba tồn tại ở slide trước</a:t>
            </a:r>
            <a:endParaRPr lang="en-US" sz="2000" dirty="0"/>
          </a:p>
          <a:p>
            <a:pPr marL="342900" indent="-342900">
              <a:spcAft>
                <a:spcPts val="800"/>
              </a:spcAft>
              <a:buSzPct val="100000"/>
              <a:buChar char="•"/>
            </a:pPr>
            <a:r>
              <a:rPr lang="en-US" sz="2000" dirty="0">
                <a:solidFill>
                  <a:srgbClr val="1B1F2A"/>
                </a:solidFill>
              </a:rPr>
              <a:t>Chỉ tiêu và giải pháp: chờ định hướng của Ban Giám hiệu</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lIns="0" tIns="0" rIns="0" bIns="0" rtlCol="0" anchor="b"/>
          <a:lstStyle/>
          <a:p>
            <a:pPr algn="l" indent="0" marL="0">
              <a:buNone/>
            </a:pPr>
            <a:r>
              <a:rPr lang="en-US" sz="3600" b="1" dirty="0">
                <a:solidFill>
                  <a:srgbClr val="FFFFFF"/>
                </a:solidFill>
              </a:rPr>
              <a:t>Trân trọng cảm ơn</a:t>
            </a:r>
            <a:endParaRPr lang="en-US" sz="3600" dirty="0"/>
          </a:p>
        </p:txBody>
      </p:sp>
      <p:sp>
        <p:nvSpPr>
          <p:cNvPr id="3" name="Text 0"/>
          <p:cNvSpPr/>
          <p:nvPr>
            <p:ph idx="101" type="body" hasCustomPrompt="1"/>
          </p:nvPr>
        </p:nvSpPr>
        <p:spPr>
          <a:xfrm>
            <a:off x="548640" y="2926080"/>
            <a:ext cx="8046720" cy="914400"/>
          </a:xfrm>
          <a:prstGeom prst="rect">
            <a:avLst/>
          </a:prstGeom>
          <a:noFill/>
          <a:ln/>
        </p:spPr>
        <p:txBody>
          <a:bodyPr wrap="square" lIns="0" tIns="0" rIns="0" bIns="0" rtlCol="0" anchor="t"/>
          <a:lstStyle/>
          <a:p>
            <a:pPr algn="l" indent="0" marL="0">
              <a:buNone/>
            </a:pPr>
            <a:r>
              <a:rPr lang="en-US" sz="1800" dirty="0">
                <a:solidFill>
                  <a:srgbClr val="CFE3E1"/>
                </a:solidFill>
              </a:rPr>
              <a:t>Trao đổi và góp ý</a:t>
            </a:r>
            <a:endParaRPr lang="en-US" sz="1800" dirty="0"/>
          </a:p>
        </p:txBody>
      </p:sp>
    </p:spTree>
  </p:cSld>
  <p:clrMapOvr>
    <a:masterClrMapping/>
  </p:clrMapOvr>
</p:sld>
</file>

<file path=ppt/theme/theme1.xml><?xml version="1.0" encoding="utf-8"?>
<a:theme xmlns:a="http://schemas.openxmlformats.org/drawingml/2006/main" name="Thu nghiem">
  <a:themeElements>
    <a:clrScheme name="Thu nghiem">
      <a:dk1>
        <a:srgbClr val="1B1F2A"/>
      </a:dk1>
      <a:lt1>
        <a:srgbClr val="FFFFFF"/>
      </a:lt1>
      <a:dk2>
        <a:srgbClr val="0F3D3E"/>
      </a:dk2>
      <a:lt2>
        <a:srgbClr val="EEF3F2"/>
      </a:lt2>
      <a:accent1>
        <a:srgbClr val="0F6E6E"/>
      </a:accent1>
      <a:accent2>
        <a:srgbClr val="D9822B"/>
      </a:accent2>
      <a:accent3>
        <a:srgbClr val="5B8DB8"/>
      </a:accent3>
      <a:accent4>
        <a:srgbClr val="7A8B8B"/>
      </a:accent4>
      <a:accent5>
        <a:srgbClr val="B5473A"/>
      </a:accent5>
      <a:accent6>
        <a:srgbClr val="3E7C4F"/>
      </a:accent6>
      <a:hlink>
        <a:srgbClr val="0F6E6E"/>
      </a:hlink>
      <a:folHlink>
        <a:srgbClr val="7A8B8B"/>
      </a:folHlink>
    </a:clrScheme>
    <a:fontScheme name="Thu nghie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Tổng kết năm học 2025–2026</dc:title>
  <dc:subject>PptxGenJS Presentation</dc:subject>
  <dc:creator>PptxGenJS</dc:creator>
  <cp:lastModifiedBy>PptxGenJS</cp:lastModifiedBy>
  <cp:revision>1</cp:revision>
  <dcterms:created xsi:type="dcterms:W3CDTF">2026-10-10T11:26:21Z</dcterms:created>
  <dcterms:modified xsi:type="dcterms:W3CDTF">2026-10-10T11:26:21Z</dcterms:modified>
</cp:coreProperties>
</file>