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ief" id="{3de86bd8-f004-599e-13ed-d95e752ffc85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Tài liệu dành cho lãnh đạo đọc trước cuộc họp. Vấn đề cần quyết định được nêu ở slide này; thời hạn quyết định chưa có trong đầu vào nên để trống.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Bối cảnh: khảo sát học kỳ 1 năm học 2026–2027. Wifi đạt 2,77 điểm, là mức cần cải thiện theo quy ước dưới 3,0. Trong 360 phiếu có ý kiến mở, 120 phiếu nói về wifi.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Ô để trống nghĩa là chưa có số liệu kèm nguồn. Không tự điền. Phương án C chưa có báo giá nên chưa so được chi phí; phương án B thiếu đánh giá về phù hợp chiến lược.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tin thiếu và giả định đang dùng. Chưa lượng hóa được rủi ro gián đoạn lịch học và nhu cầu ngân sách giai đoạn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Khuyến nghị giữ trung lập và nêu căn cứ. Câu đầu chưa đủ căn cứ để khuyến nghị, vì thiếu số liệu của C và tiêu chí chiến lược của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y hiệu mẫu (thay bằng logo của trườ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Trường Đại học Mẫu A (tên mẫu)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y hiệu mẫu (thay bằng logo của trườ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Trường Đại học Mẫu A (tên mẫu)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2286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B8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2926080" y="109728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2A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27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</a:rPr>
              <a:t>Executive brief · Nâng cấp wifi giảng đường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4173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Nâng cấp wifi giảng đường: cần quyết định gì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1546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Executive brief cho lãnh đạo · Thời hạn quyết định: chưa xác định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Sinh viên chấm wifi thấp nhất trong các câu hỏi khảo sát</a:t>
            </a:r>
            <a:endParaRPr lang="en-US" sz="2800" dirty="0"/>
          </a:p>
        </p:txBody>
      </p:sp>
      <p:sp>
        <p:nvSpPr>
          <p:cNvPr id="4" name="the"/>
          <p:cNvSpPr/>
          <p:nvPr/>
        </p:nvSpPr>
        <p:spPr>
          <a:xfrm>
            <a:off x="548640" y="1325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o-bieu-tuon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A23B3B"/>
          </a:solidFill>
          <a:ln w="12700">
            <a:solidFill>
              <a:srgbClr val="A23B3B"/>
            </a:solidFill>
            <a:prstDash val="solid"/>
          </a:ln>
        </p:spPr>
      </p:sp>
      <p:pic>
        <p:nvPicPr>
          <p:cNvPr id="6" name="bieu-tuong" descr="Biểu tượng minh họ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7" name="so-lieu"/>
          <p:cNvSpPr txBox="1"/>
          <p:nvPr/>
        </p:nvSpPr>
        <p:spPr>
          <a:xfrm>
            <a:off x="77724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2,77</a:t>
            </a:r>
            <a:endParaRPr lang="en-US" sz="4000" dirty="0"/>
          </a:p>
        </p:txBody>
      </p:sp>
      <p:sp>
        <p:nvSpPr>
          <p:cNvPr id="8" name="nhan"/>
          <p:cNvSpPr txBox="1"/>
          <p:nvPr/>
        </p:nvSpPr>
        <p:spPr>
          <a:xfrm>
            <a:off x="777240" y="3063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điểm trung bình câu 'Mạng wifi ổn định' (thang 1–5)</a:t>
            </a:r>
            <a:endParaRPr lang="en-US" sz="1600" dirty="0"/>
          </a:p>
        </p:txBody>
      </p:sp>
      <p:sp>
        <p:nvSpPr>
          <p:cNvPr id="9" name="the"/>
          <p:cNvSpPr/>
          <p:nvPr/>
        </p:nvSpPr>
        <p:spPr>
          <a:xfrm>
            <a:off x="3291840" y="1325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o-bieu-tuong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rgbClr val="A23B3B"/>
          </a:solidFill>
          <a:ln w="12700">
            <a:solidFill>
              <a:srgbClr val="A23B3B"/>
            </a:solidFill>
            <a:prstDash val="solid"/>
          </a:ln>
        </p:spPr>
      </p:sp>
      <p:pic>
        <p:nvPicPr>
          <p:cNvPr id="11" name="bieu-tuong" descr="Biểu tượng minh họ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1640"/>
            <a:ext cx="274320" cy="274320"/>
          </a:xfrm>
          <a:prstGeom prst="rect">
            <a:avLst/>
          </a:prstGeom>
        </p:spPr>
      </p:pic>
      <p:sp>
        <p:nvSpPr>
          <p:cNvPr id="12" name="so-lieu"/>
          <p:cNvSpPr txBox="1"/>
          <p:nvPr/>
        </p:nvSpPr>
        <p:spPr>
          <a:xfrm>
            <a:off x="352044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33,3%</a:t>
            </a:r>
            <a:endParaRPr lang="en-US" sz="4000" dirty="0"/>
          </a:p>
        </p:txBody>
      </p:sp>
      <p:sp>
        <p:nvSpPr>
          <p:cNvPr id="13" name="nhan"/>
          <p:cNvSpPr txBox="1"/>
          <p:nvPr/>
        </p:nvSpPr>
        <p:spPr>
          <a:xfrm>
            <a:off x="3520440" y="3063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ý kiến mở nói về wifi (120 trên 360 phiếu)</a:t>
            </a:r>
            <a:endParaRPr lang="en-US" sz="1600" dirty="0"/>
          </a:p>
        </p:txBody>
      </p:sp>
      <p:sp>
        <p:nvSpPr>
          <p:cNvPr id="14" name="the"/>
          <p:cNvSpPr/>
          <p:nvPr/>
        </p:nvSpPr>
        <p:spPr>
          <a:xfrm>
            <a:off x="6035040" y="1325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o-bieu-tuong"/>
          <p:cNvSpPr/>
          <p:nvPr/>
        </p:nvSpPr>
        <p:spPr>
          <a:xfrm>
            <a:off x="6263640" y="1554480"/>
            <a:ext cx="548640" cy="548640"/>
          </a:xfrm>
          <a:prstGeom prst="ellipse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pic>
        <p:nvPicPr>
          <p:cNvPr id="16" name="bieu-tuong" descr="Biểu tượng minh họ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274320" cy="274320"/>
          </a:xfrm>
          <a:prstGeom prst="rect">
            <a:avLst/>
          </a:prstGeom>
        </p:spPr>
      </p:pic>
      <p:sp>
        <p:nvSpPr>
          <p:cNvPr id="17" name="so-lieu"/>
          <p:cNvSpPr txBox="1"/>
          <p:nvPr/>
        </p:nvSpPr>
        <p:spPr>
          <a:xfrm>
            <a:off x="626364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1.200</a:t>
            </a:r>
            <a:endParaRPr lang="en-US" sz="4000" dirty="0"/>
          </a:p>
        </p:txBody>
      </p:sp>
      <p:sp>
        <p:nvSpPr>
          <p:cNvPr id="18" name="nhan"/>
          <p:cNvSpPr txBox="1"/>
          <p:nvPr/>
        </p:nvSpPr>
        <p:spPr>
          <a:xfrm>
            <a:off x="6263640" y="30632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433"/>
                </a:solidFill>
              </a:rPr>
              <a:t>triệu đồng, chi phí phương án A theo báo giá</a:t>
            </a:r>
            <a:endParaRPr lang="en-US" sz="1600" dirty="0"/>
          </a:p>
        </p:txBody>
      </p:sp>
      <p:sp>
        <p:nvSpPr>
          <p:cNvPr id="19" name="nguon"/>
          <p:cNvSpPr txBox="1"/>
          <p:nvPr/>
        </p:nvSpPr>
        <p:spPr>
          <a:xfrm>
            <a:off x="548640" y="4416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</a:rPr>
              <a:t>Nguồn: báo cáo khảo sát sinh viên học kỳ 1 năm học 2026–2027; báo giá NCC-01 (mẫu)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Ba phương án, nhưng mới đủ số liệu để so sánh hai</a:t>
            </a:r>
            <a:endParaRPr lang="en-US" sz="2800" dirty="0"/>
          </a:p>
        </p:txBody>
      </p:sp>
      <p:graphicFrame>
        <p:nvGraphicFramePr>
          <p:cNvPr id="4" name="ba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A. Toàn bộ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B. Hai giai đoạn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C. Thuê dịch vụ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Chi phí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1.200 triệu (NCC-01)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700 triệu (giai đoạn 1) (NCC-01)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Chưa có số liệu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Thời gian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4 tháng (NCC-01)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2 tháng + 3 tháng (NCC-01)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Chưa có báo giá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Rủi ro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Gián đoạn lịch học (P. Đào tạo)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Giai đoạn 2 chưa có vốn (P. Tài chính)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Phụ thuộc nhà cung cấp (P. Quản trị)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Phù hợp chiến lược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Phù hợp kế hoạch CĐS (KH chuyển đổi số)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Chưa có số liệu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Chưa có số liệu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nguon"/>
          <p:cNvSpPr txBox="1"/>
          <p:nvPr/>
        </p:nvSpPr>
        <p:spPr>
          <a:xfrm>
            <a:off x="548640" y="4416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</a:rPr>
              <a:t>Nguồn: báo giá NCC-01 (mẫu), ý kiến các phòng. 'Chưa có số liệu' nghĩa là chưa có nguồn kèm theo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Bốn điều còn chưa rõ trước khi quyết định</a:t>
            </a:r>
            <a:endParaRPr lang="en-US" sz="2800" dirty="0"/>
          </a:p>
        </p:txBody>
      </p:sp>
      <p:sp>
        <p:nvSpPr>
          <p:cNvPr id="4" name="the"/>
          <p:cNvSpPr/>
          <p:nvPr/>
        </p:nvSpPr>
        <p:spPr>
          <a:xfrm>
            <a:off x="548640" y="128016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o-thu-tu"/>
          <p:cNvSpPr/>
          <p:nvPr/>
        </p:nvSpPr>
        <p:spPr>
          <a:xfrm>
            <a:off x="777240" y="1312164"/>
            <a:ext cx="594360" cy="594360"/>
          </a:xfrm>
          <a:prstGeom prst="ellipse">
            <a:avLst/>
          </a:prstGeom>
          <a:solidFill>
            <a:srgbClr val="B8902B"/>
          </a:solidFill>
          <a:ln w="12700">
            <a:solidFill>
              <a:srgbClr val="B8902B"/>
            </a:solidFill>
            <a:prstDash val="solid"/>
          </a:ln>
        </p:spPr>
      </p:sp>
      <p:sp>
        <p:nvSpPr>
          <p:cNvPr id="6" name="so-thu-tu-chu"/>
          <p:cNvSpPr txBox="1"/>
          <p:nvPr/>
        </p:nvSpPr>
        <p:spPr>
          <a:xfrm>
            <a:off x="777240" y="13121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he-chu"/>
          <p:cNvSpPr txBox="1"/>
          <p:nvPr/>
        </p:nvSpPr>
        <p:spPr>
          <a:xfrm>
            <a:off x="1600200" y="135331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Chưa có báo giá phương án C</a:t>
            </a:r>
            <a:endParaRPr lang="en-US" sz="1800" dirty="0"/>
          </a:p>
        </p:txBody>
      </p:sp>
      <p:sp>
        <p:nvSpPr>
          <p:cNvPr id="8" name="the"/>
          <p:cNvSpPr/>
          <p:nvPr/>
        </p:nvSpPr>
        <p:spPr>
          <a:xfrm>
            <a:off x="548640" y="205740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so-thu-tu"/>
          <p:cNvSpPr/>
          <p:nvPr/>
        </p:nvSpPr>
        <p:spPr>
          <a:xfrm>
            <a:off x="777240" y="2089404"/>
            <a:ext cx="594360" cy="594360"/>
          </a:xfrm>
          <a:prstGeom prst="ellipse">
            <a:avLst/>
          </a:prstGeom>
          <a:solidFill>
            <a:srgbClr val="B8902B"/>
          </a:solidFill>
          <a:ln w="12700">
            <a:solidFill>
              <a:srgbClr val="B8902B"/>
            </a:solidFill>
            <a:prstDash val="solid"/>
          </a:ln>
        </p:spPr>
      </p:sp>
      <p:sp>
        <p:nvSpPr>
          <p:cNvPr id="10" name="so-thu-tu-chu"/>
          <p:cNvSpPr txBox="1"/>
          <p:nvPr/>
        </p:nvSpPr>
        <p:spPr>
          <a:xfrm>
            <a:off x="777240" y="20894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he-chu"/>
          <p:cNvSpPr txBox="1"/>
          <p:nvPr/>
        </p:nvSpPr>
        <p:spPr>
          <a:xfrm>
            <a:off x="1600200" y="213055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Chưa đánh giá phù hợp chiến lược của phương án B</a:t>
            </a:r>
            <a:endParaRPr lang="en-US" sz="1800" dirty="0"/>
          </a:p>
        </p:txBody>
      </p:sp>
      <p:sp>
        <p:nvSpPr>
          <p:cNvPr id="12" name="the"/>
          <p:cNvSpPr/>
          <p:nvPr/>
        </p:nvSpPr>
        <p:spPr>
          <a:xfrm>
            <a:off x="548640" y="28346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so-thu-tu"/>
          <p:cNvSpPr/>
          <p:nvPr/>
        </p:nvSpPr>
        <p:spPr>
          <a:xfrm>
            <a:off x="777240" y="2866644"/>
            <a:ext cx="594360" cy="594360"/>
          </a:xfrm>
          <a:prstGeom prst="ellipse">
            <a:avLst/>
          </a:prstGeom>
          <a:solidFill>
            <a:srgbClr val="B8902B"/>
          </a:solidFill>
          <a:ln w="12700">
            <a:solidFill>
              <a:srgbClr val="B8902B"/>
            </a:solidFill>
            <a:prstDash val="solid"/>
          </a:ln>
        </p:spPr>
      </p:sp>
      <p:sp>
        <p:nvSpPr>
          <p:cNvPr id="14" name="so-thu-tu-chu"/>
          <p:cNvSpPr txBox="1"/>
          <p:nvPr/>
        </p:nvSpPr>
        <p:spPr>
          <a:xfrm>
            <a:off x="777240" y="28666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he-chu"/>
          <p:cNvSpPr txBox="1"/>
          <p:nvPr/>
        </p:nvSpPr>
        <p:spPr>
          <a:xfrm>
            <a:off x="1600200" y="290779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Giai đoạn 2 của phương án B chưa có ngân sách</a:t>
            </a:r>
            <a:endParaRPr lang="en-US" sz="1800" dirty="0"/>
          </a:p>
        </p:txBody>
      </p:sp>
      <p:sp>
        <p:nvSpPr>
          <p:cNvPr id="16" name="the"/>
          <p:cNvSpPr/>
          <p:nvPr/>
        </p:nvSpPr>
        <p:spPr>
          <a:xfrm>
            <a:off x="548640" y="36118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7" name="so-thu-tu"/>
          <p:cNvSpPr/>
          <p:nvPr/>
        </p:nvSpPr>
        <p:spPr>
          <a:xfrm>
            <a:off x="777240" y="3643884"/>
            <a:ext cx="594360" cy="594360"/>
          </a:xfrm>
          <a:prstGeom prst="ellipse">
            <a:avLst/>
          </a:prstGeom>
          <a:solidFill>
            <a:srgbClr val="B8902B"/>
          </a:solidFill>
          <a:ln w="12700">
            <a:solidFill>
              <a:srgbClr val="B8902B"/>
            </a:solidFill>
            <a:prstDash val="solid"/>
          </a:ln>
        </p:spPr>
      </p:sp>
      <p:sp>
        <p:nvSpPr>
          <p:cNvPr id="18" name="so-thu-tu-chu"/>
          <p:cNvSpPr txBox="1"/>
          <p:nvPr/>
        </p:nvSpPr>
        <p:spPr>
          <a:xfrm>
            <a:off x="777240" y="36438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he-chu"/>
          <p:cNvSpPr txBox="1"/>
          <p:nvPr/>
        </p:nvSpPr>
        <p:spPr>
          <a:xfrm>
            <a:off x="1600200" y="3685032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</a:rPr>
              <a:t>Rủi ro gián đoạn lịch học của A chưa lượng hóa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4A"/>
                </a:solidFill>
              </a:rPr>
              <a:t>Hai câu hỏi lãnh đạo cần trả lời</a:t>
            </a:r>
            <a:endParaRPr lang="en-US" sz="2800" dirty="0"/>
          </a:p>
        </p:txBody>
      </p:sp>
      <p:graphicFrame>
        <p:nvGraphicFramePr>
          <p:cNvPr id="6" name="ba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Câu hỏi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Phương án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Khuyến nghị trung lập và căn cứ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Chọn phương án nào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A, B hoặc C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Chưa đủ căn cứ để khuyến nghị: thiếu báo giá C và đánh giá chiến lược của 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Có triển khai giai đoạn 1 của B trước không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Có / không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Khả thi về chi phí và thời gian theo báo giá NCC-01; chưa có xác nhận ngân sách giai đoạn 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nguon"/>
          <p:cNvSpPr txBox="1"/>
          <p:nvPr/>
        </p:nvSpPr>
        <p:spPr>
          <a:xfrm>
            <a:off x="548640" y="4416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</a:rPr>
              <a:t>Nguồn: báo giá NCC-01 (mẫu), ý kiến phòng Tài chính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274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i hoc">
  <a:themeElements>
    <a:clrScheme name="Dai hoc">
      <a:dk1>
        <a:srgbClr val="1A2433"/>
      </a:dk1>
      <a:lt1>
        <a:srgbClr val="FFFFFF"/>
      </a:lt1>
      <a:dk2>
        <a:srgbClr val="0B2A4A"/>
      </a:dk2>
      <a:lt2>
        <a:srgbClr val="F1F4F8"/>
      </a:lt2>
      <a:accent1>
        <a:srgbClr val="1F4E8C"/>
      </a:accent1>
      <a:accent2>
        <a:srgbClr val="B8902B"/>
      </a:accent2>
      <a:accent3>
        <a:srgbClr val="2E7D6B"/>
      </a:accent3>
      <a:accent4>
        <a:srgbClr val="6B7A90"/>
      </a:accent4>
      <a:accent5>
        <a:srgbClr val="A23B3B"/>
      </a:accent5>
      <a:accent6>
        <a:srgbClr val="5B8DB8"/>
      </a:accent6>
      <a:hlink>
        <a:srgbClr val="1F4E8C"/>
      </a:hlink>
      <a:folHlink>
        <a:srgbClr val="6B7A90"/>
      </a:folHlink>
    </a:clrScheme>
    <a:fontScheme name="Dai ho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brief: nâng cấp wifi giảng đường</dc:title>
  <dc:subject>PptxGenJS Presentation</dc:subject>
  <dc:creator>Trường Đại học Mẫu A (tên mẫu)</dc:creator>
  <cp:lastModifiedBy>Trường Đại học Mẫu A (tên mẫu)</cp:lastModifiedBy>
  <cp:revision>1</cp:revision>
  <dcterms:created xsi:type="dcterms:W3CDTF">2026-10-10T11:36:14Z</dcterms:created>
  <dcterms:modified xsi:type="dcterms:W3CDTF">2026-10-10T11:36:14Z</dcterms:modified>
</cp:coreProperties>
</file>